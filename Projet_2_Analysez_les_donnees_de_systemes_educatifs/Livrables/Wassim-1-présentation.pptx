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Average"/>
      <p:regular r:id="rId25"/>
    </p:embeddedFont>
    <p:embeddedFont>
      <p:font typeface="Oswa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swald-regular.fntdata"/><Relationship Id="rId25" Type="http://schemas.openxmlformats.org/officeDocument/2006/relationships/font" Target="fonts/Average-regular.fntdata"/><Relationship Id="rId27" Type="http://schemas.openxmlformats.org/officeDocument/2006/relationships/font" Target="fonts/Oswal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c6f980f91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c6f980f9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8d92398cb3_0_3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8d92398cb3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c6f980f91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c6f980f9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c6f980f91_0_2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c6f980f91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c6f980f91_0_3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c6f980f9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c6f980f91_0_3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c6f980f91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8bec52de61_0_1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8bec52de6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c6f980f91_0_4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c6f980f91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8bec52de61_0_5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8bec52de61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8bec52de61_0_6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8bec52de61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8bec52de61_0_2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8bec52de61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8bec52de61_0_3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8bec52de61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8bec52de61_0_3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8bec52de61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8bec52de61_0_4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8bec52de61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8bec52de61_0_9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8bec52de61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8d92398cb3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8d92398cb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8d92398cb3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8d92398cb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8dd81ab935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8dd81ab93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8d92398cb3_0_1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8d92398cb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1600"/>
              </a:spcBef>
              <a:spcAft>
                <a:spcPts val="160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557359"/>
            <a:ext cx="7801500" cy="1730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fr"/>
              <a:t>Étude de potentiel marché pour academy</a:t>
            </a:r>
            <a:endParaRPr/>
          </a:p>
        </p:txBody>
      </p:sp>
      <p:sp>
        <p:nvSpPr>
          <p:cNvPr id="60" name="Google Shape;60;p13"/>
          <p:cNvSpPr txBox="1"/>
          <p:nvPr>
            <p:ph idx="1" type="subTitle"/>
          </p:nvPr>
        </p:nvSpPr>
        <p:spPr>
          <a:xfrm>
            <a:off x="671250" y="3174876"/>
            <a:ext cx="78015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fr"/>
              <a:t>12</a:t>
            </a:r>
            <a:r>
              <a:rPr lang="fr"/>
              <a:t> octobre 2025</a:t>
            </a:r>
            <a:endParaRPr/>
          </a:p>
        </p:txBody>
      </p:sp>
      <p:sp>
        <p:nvSpPr>
          <p:cNvPr id="61" name="Google Shape;61;p13"/>
          <p:cNvSpPr txBox="1"/>
          <p:nvPr>
            <p:ph idx="1" type="subTitle"/>
          </p:nvPr>
        </p:nvSpPr>
        <p:spPr>
          <a:xfrm>
            <a:off x="6513175" y="4059302"/>
            <a:ext cx="23046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sz="1400"/>
              <a:t>Présenté par :</a:t>
            </a:r>
            <a:endParaRPr sz="1400"/>
          </a:p>
          <a:p>
            <a:pPr indent="0" lvl="0" marL="0" rtl="0" algn="l">
              <a:spcBef>
                <a:spcPts val="0"/>
              </a:spcBef>
              <a:spcAft>
                <a:spcPts val="0"/>
              </a:spcAft>
              <a:buNone/>
            </a:pPr>
            <a:r>
              <a:rPr lang="fr" sz="1400"/>
              <a:t>Wassim EL BOULAHFATI </a:t>
            </a:r>
            <a:endParaRPr sz="1400"/>
          </a:p>
          <a:p>
            <a:pPr indent="0" lvl="0" marL="0" rtl="0" algn="l">
              <a:spcBef>
                <a:spcPts val="0"/>
              </a:spcBef>
              <a:spcAft>
                <a:spcPts val="0"/>
              </a:spcAft>
              <a:buNone/>
            </a:pPr>
            <a:r>
              <a:rPr lang="fr" sz="1400"/>
              <a:t>Data Analyst</a:t>
            </a:r>
            <a:endParaRPr sz="1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Sommaire</a:t>
            </a:r>
            <a:endParaRPr/>
          </a:p>
        </p:txBody>
      </p:sp>
      <p:sp>
        <p:nvSpPr>
          <p:cNvPr id="67" name="Google Shape;67;p14"/>
          <p:cNvSpPr txBox="1"/>
          <p:nvPr>
            <p:ph idx="1" type="body"/>
          </p:nvPr>
        </p:nvSpPr>
        <p:spPr>
          <a:xfrm>
            <a:off x="311700" y="963723"/>
            <a:ext cx="8520600" cy="399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sz="1700">
                <a:solidFill>
                  <a:schemeClr val="dk1"/>
                </a:solidFill>
              </a:rPr>
              <a:t>1 -</a:t>
            </a:r>
            <a:r>
              <a:rPr lang="fr" sz="1700">
                <a:solidFill>
                  <a:schemeClr val="dk1"/>
                </a:solidFill>
              </a:rPr>
              <a:t> Compréhension des données											</a:t>
            </a:r>
            <a:r>
              <a:rPr lang="fr" sz="1700">
                <a:solidFill>
                  <a:schemeClr val="dk1"/>
                </a:solidFill>
              </a:rPr>
              <a:t>p</a:t>
            </a:r>
            <a:r>
              <a:rPr lang="fr" sz="1700">
                <a:solidFill>
                  <a:schemeClr val="dk1"/>
                </a:solidFill>
              </a:rPr>
              <a:t>5</a:t>
            </a:r>
            <a:endParaRPr sz="1700">
              <a:solidFill>
                <a:schemeClr val="dk1"/>
              </a:solidFill>
            </a:endParaRPr>
          </a:p>
          <a:p>
            <a:pPr indent="457200" lvl="0" marL="0" rtl="0" algn="l">
              <a:spcBef>
                <a:spcPts val="0"/>
              </a:spcBef>
              <a:spcAft>
                <a:spcPts val="0"/>
              </a:spcAft>
              <a:buNone/>
            </a:pPr>
            <a:r>
              <a:rPr lang="fr" sz="1500">
                <a:solidFill>
                  <a:schemeClr val="dk1"/>
                </a:solidFill>
              </a:rPr>
              <a:t>1.1 - Sources des Données												p6</a:t>
            </a:r>
            <a:endParaRPr sz="1100">
              <a:solidFill>
                <a:schemeClr val="dk1"/>
              </a:solidFill>
            </a:endParaRPr>
          </a:p>
          <a:p>
            <a:pPr indent="0" lvl="0" marL="0" rtl="0" algn="l">
              <a:spcBef>
                <a:spcPts val="1600"/>
              </a:spcBef>
              <a:spcAft>
                <a:spcPts val="0"/>
              </a:spcAft>
              <a:buNone/>
            </a:pPr>
            <a:r>
              <a:rPr lang="fr" sz="1700">
                <a:solidFill>
                  <a:schemeClr val="dk1"/>
                </a:solidFill>
              </a:rPr>
              <a:t>2 - Etude statistique des données											</a:t>
            </a:r>
            <a:r>
              <a:rPr lang="fr" sz="1700">
                <a:solidFill>
                  <a:schemeClr val="dk1"/>
                </a:solidFill>
              </a:rPr>
              <a:t>p</a:t>
            </a:r>
            <a:r>
              <a:rPr lang="fr" sz="1700">
                <a:solidFill>
                  <a:schemeClr val="dk1"/>
                </a:solidFill>
              </a:rPr>
              <a:t>7</a:t>
            </a:r>
            <a:endParaRPr sz="1700">
              <a:solidFill>
                <a:schemeClr val="dk1"/>
              </a:solidFill>
            </a:endParaRPr>
          </a:p>
          <a:p>
            <a:pPr indent="457200" lvl="0" marL="0" rtl="0" algn="l">
              <a:spcBef>
                <a:spcPts val="0"/>
              </a:spcBef>
              <a:spcAft>
                <a:spcPts val="0"/>
              </a:spcAft>
              <a:buNone/>
            </a:pPr>
            <a:r>
              <a:rPr lang="fr" sz="1500">
                <a:solidFill>
                  <a:schemeClr val="dk1"/>
                </a:solidFill>
              </a:rPr>
              <a:t>2.1 - Statistiques descriptive des indicateurs									p8</a:t>
            </a:r>
            <a:endParaRPr sz="1500">
              <a:solidFill>
                <a:schemeClr val="dk1"/>
              </a:solidFill>
            </a:endParaRPr>
          </a:p>
          <a:p>
            <a:pPr indent="457200" lvl="0" marL="0" rtl="0" algn="l">
              <a:spcBef>
                <a:spcPts val="1600"/>
              </a:spcBef>
              <a:spcAft>
                <a:spcPts val="0"/>
              </a:spcAft>
              <a:buNone/>
            </a:pPr>
            <a:r>
              <a:rPr lang="fr" sz="1500">
                <a:solidFill>
                  <a:schemeClr val="dk1"/>
                </a:solidFill>
              </a:rPr>
              <a:t>2.2 - Analyse par indicateur												p9</a:t>
            </a:r>
            <a:endParaRPr sz="1500">
              <a:solidFill>
                <a:schemeClr val="dk1"/>
              </a:solidFill>
            </a:endParaRPr>
          </a:p>
          <a:p>
            <a:pPr indent="457200" lvl="0" marL="0" rtl="0" algn="l">
              <a:spcBef>
                <a:spcPts val="1600"/>
              </a:spcBef>
              <a:spcAft>
                <a:spcPts val="0"/>
              </a:spcAft>
              <a:buNone/>
            </a:pPr>
            <a:r>
              <a:rPr lang="fr" sz="1500">
                <a:solidFill>
                  <a:schemeClr val="dk1"/>
                </a:solidFill>
              </a:rPr>
              <a:t>2.3 - Les 10 pays les plus prometteur										p15</a:t>
            </a:r>
            <a:endParaRPr sz="1500">
              <a:solidFill>
                <a:schemeClr val="dk1"/>
              </a:solidFill>
            </a:endParaRPr>
          </a:p>
          <a:p>
            <a:pPr indent="0" lvl="0" marL="0" rtl="0" algn="l">
              <a:spcBef>
                <a:spcPts val="1600"/>
              </a:spcBef>
              <a:spcAft>
                <a:spcPts val="0"/>
              </a:spcAft>
              <a:buNone/>
            </a:pPr>
            <a:r>
              <a:rPr lang="fr" sz="1700">
                <a:solidFill>
                  <a:schemeClr val="dk1"/>
                </a:solidFill>
              </a:rPr>
              <a:t>3 - Mes recommandations												p16</a:t>
            </a:r>
            <a:endParaRPr sz="1700">
              <a:solidFill>
                <a:schemeClr val="dk1"/>
              </a:solidFill>
            </a:endParaRPr>
          </a:p>
          <a:p>
            <a:pPr indent="457200" lvl="0" marL="0" rtl="0" algn="l">
              <a:spcBef>
                <a:spcPts val="0"/>
              </a:spcBef>
              <a:spcAft>
                <a:spcPts val="0"/>
              </a:spcAft>
              <a:buNone/>
            </a:pPr>
            <a:r>
              <a:rPr lang="fr" sz="1500">
                <a:solidFill>
                  <a:schemeClr val="dk1"/>
                </a:solidFill>
              </a:rPr>
              <a:t>3.1 - 5 marchés clés pour propulser academy à l’international						p17</a:t>
            </a:r>
            <a:endParaRPr sz="1500">
              <a:solidFill>
                <a:schemeClr val="dk1"/>
              </a:solidFill>
            </a:endParaRPr>
          </a:p>
          <a:p>
            <a:pPr indent="457200" lvl="0" marL="0" rtl="0" algn="l">
              <a:spcBef>
                <a:spcPts val="1600"/>
              </a:spcBef>
              <a:spcAft>
                <a:spcPts val="0"/>
              </a:spcAft>
              <a:buNone/>
            </a:pPr>
            <a:r>
              <a:rPr lang="fr" sz="1500">
                <a:solidFill>
                  <a:schemeClr val="dk1"/>
                </a:solidFill>
              </a:rPr>
              <a:t>3.2 - Perspectives pour la suite											p18</a:t>
            </a:r>
            <a:endParaRPr sz="1500">
              <a:solidFill>
                <a:schemeClr val="dk1"/>
              </a:solidFill>
            </a:endParaRPr>
          </a:p>
          <a:p>
            <a:pPr indent="457200" lvl="0" marL="0" rtl="0" algn="l">
              <a:spcBef>
                <a:spcPts val="1600"/>
              </a:spcBef>
              <a:spcAft>
                <a:spcPts val="1600"/>
              </a:spcAft>
              <a:buNone/>
            </a:pPr>
            <a:r>
              <a:t/>
            </a:r>
            <a:endParaRPr sz="1500"/>
          </a:p>
        </p:txBody>
      </p:sp>
      <p:sp>
        <p:nvSpPr>
          <p:cNvPr id="68" name="Google Shape;68;p14"/>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Vue d'ensemble</a:t>
            </a:r>
            <a:endParaRPr/>
          </a:p>
        </p:txBody>
      </p:sp>
      <p:sp>
        <p:nvSpPr>
          <p:cNvPr id="74" name="Google Shape;74;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1200"/>
              </a:spcBef>
              <a:spcAft>
                <a:spcPts val="0"/>
              </a:spcAft>
              <a:buNone/>
            </a:pPr>
            <a:r>
              <a:rPr lang="fr">
                <a:solidFill>
                  <a:schemeClr val="dk1"/>
                </a:solidFill>
                <a:latin typeface="Arial"/>
                <a:ea typeface="Arial"/>
                <a:cs typeface="Arial"/>
                <a:sym typeface="Arial"/>
              </a:rPr>
              <a:t>En tant que Data Analyst chez academy, j’ai été missionné pour accompagner la réflexion stratégique autour de l’expansion internationale de l’entreprise. À partir des données éducatives de la Banque mondiale, j’ai mené une analyse exploratoire visant à identifier les pays présentant un fort potentiel de développement pour nos services de formation en ligne. Cette étude préliminaire permet d’évaluer la pertinence de ces données pour orienter nos choix d’implantation à l’étranger.</a:t>
            </a:r>
            <a:endParaRPr>
              <a:solidFill>
                <a:schemeClr val="dk1"/>
              </a:solidFill>
              <a:latin typeface="Arial"/>
              <a:ea typeface="Arial"/>
              <a:cs typeface="Arial"/>
              <a:sym typeface="Arial"/>
            </a:endParaRPr>
          </a:p>
          <a:p>
            <a:pPr indent="0" lvl="0" marL="0" rtl="0" algn="l">
              <a:spcBef>
                <a:spcPts val="1200"/>
              </a:spcBef>
              <a:spcAft>
                <a:spcPts val="1600"/>
              </a:spcAft>
              <a:buNone/>
            </a:pPr>
            <a:r>
              <a:t/>
            </a:r>
            <a:endParaRPr/>
          </a:p>
        </p:txBody>
      </p:sp>
      <p:sp>
        <p:nvSpPr>
          <p:cNvPr id="75" name="Google Shape;75;p15"/>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490250" y="526350"/>
            <a:ext cx="6559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fr" sz="4000"/>
              <a:t>L’objectif du projet ? </a:t>
            </a:r>
            <a:br>
              <a:rPr b="1" lang="fr" sz="4000"/>
            </a:br>
            <a:endParaRPr b="1" sz="4000"/>
          </a:p>
          <a:p>
            <a:pPr indent="0" lvl="0" marL="0" rtl="0" algn="l">
              <a:spcBef>
                <a:spcPts val="0"/>
              </a:spcBef>
              <a:spcAft>
                <a:spcPts val="0"/>
              </a:spcAft>
              <a:buNone/>
            </a:pPr>
            <a:r>
              <a:rPr lang="fr" sz="2500">
                <a:latin typeface="Arial"/>
                <a:ea typeface="Arial"/>
                <a:cs typeface="Arial"/>
                <a:sym typeface="Arial"/>
              </a:rPr>
              <a:t>Identifier 5 pays à fort potentiel pour guider l’implantation internationale d’academy.</a:t>
            </a:r>
            <a:endParaRPr sz="2500">
              <a:latin typeface="Arial"/>
              <a:ea typeface="Arial"/>
              <a:cs typeface="Arial"/>
              <a:sym typeface="Arial"/>
            </a:endParaRPr>
          </a:p>
        </p:txBody>
      </p:sp>
      <p:sp>
        <p:nvSpPr>
          <p:cNvPr id="81" name="Google Shape;81;p16"/>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671250" y="2141250"/>
            <a:ext cx="7852200" cy="86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fr"/>
              <a:t>1 - Compréhension des données</a:t>
            </a:r>
            <a:endParaRPr/>
          </a:p>
        </p:txBody>
      </p:sp>
      <p:sp>
        <p:nvSpPr>
          <p:cNvPr id="87" name="Google Shape;87;p17"/>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265500" y="1733850"/>
            <a:ext cx="4045200" cy="167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fr" sz="3000"/>
              <a:t>1.1 - </a:t>
            </a:r>
            <a:r>
              <a:rPr lang="fr" sz="3000"/>
              <a:t>Sources de données</a:t>
            </a:r>
            <a:endParaRPr sz="3000"/>
          </a:p>
        </p:txBody>
      </p:sp>
      <p:sp>
        <p:nvSpPr>
          <p:cNvPr id="93" name="Google Shape;93;p18"/>
          <p:cNvSpPr txBox="1"/>
          <p:nvPr>
            <p:ph idx="2" type="body"/>
          </p:nvPr>
        </p:nvSpPr>
        <p:spPr>
          <a:xfrm>
            <a:off x="4902550" y="210340"/>
            <a:ext cx="3837000" cy="47967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fr" sz="1100">
                <a:latin typeface="Arial"/>
                <a:ea typeface="Arial"/>
                <a:cs typeface="Arial"/>
                <a:sym typeface="Arial"/>
              </a:rPr>
              <a:t>Pour cette étude, nous nous sommes basés sur les données mises à disposition par la Banque Mondiale, composées de 5 fichiers CSV complémentaires.</a:t>
            </a:r>
            <a:endParaRPr sz="1100">
              <a:latin typeface="Arial"/>
              <a:ea typeface="Arial"/>
              <a:cs typeface="Arial"/>
              <a:sym typeface="Arial"/>
            </a:endParaRPr>
          </a:p>
          <a:p>
            <a:pPr indent="0" lvl="0" marL="0" rtl="0" algn="just">
              <a:spcBef>
                <a:spcPts val="1000"/>
              </a:spcBef>
              <a:spcAft>
                <a:spcPts val="0"/>
              </a:spcAft>
              <a:buNone/>
            </a:pPr>
            <a:r>
              <a:rPr b="1" lang="fr" sz="1100">
                <a:latin typeface="Arial"/>
                <a:ea typeface="Arial"/>
                <a:cs typeface="Arial"/>
                <a:sym typeface="Arial"/>
              </a:rPr>
              <a:t>Dataset Ed Stats - Statistiques mondiales sur l’éducation</a:t>
            </a:r>
            <a:r>
              <a:rPr b="1" lang="fr" sz="1100">
                <a:latin typeface="Arial"/>
                <a:ea typeface="Arial"/>
                <a:cs typeface="Arial"/>
                <a:sym typeface="Arial"/>
              </a:rPr>
              <a:t> :</a:t>
            </a:r>
            <a:endParaRPr b="1" sz="1100">
              <a:latin typeface="Arial"/>
              <a:ea typeface="Arial"/>
              <a:cs typeface="Arial"/>
              <a:sym typeface="Arial"/>
            </a:endParaRPr>
          </a:p>
          <a:p>
            <a:pPr indent="-298450" lvl="0" marL="457200" rtl="0" algn="just">
              <a:spcBef>
                <a:spcPts val="1000"/>
              </a:spcBef>
              <a:spcAft>
                <a:spcPts val="0"/>
              </a:spcAft>
              <a:buSzPts val="1100"/>
              <a:buFont typeface="Arial"/>
              <a:buChar char="●"/>
            </a:pPr>
            <a:r>
              <a:rPr lang="fr" sz="1100">
                <a:latin typeface="Arial"/>
                <a:ea typeface="Arial"/>
                <a:cs typeface="Arial"/>
                <a:sym typeface="Arial"/>
              </a:rPr>
              <a:t>Couverture complète : Données pour tous les pays du monde sur la période 1970-2100 (historique et projections), incluant plus de 3700 indicateurs éducatifs </a:t>
            </a:r>
            <a:endParaRPr sz="1000">
              <a:latin typeface="Arial"/>
              <a:ea typeface="Arial"/>
              <a:cs typeface="Arial"/>
              <a:sym typeface="Arial"/>
            </a:endParaRPr>
          </a:p>
          <a:p>
            <a:pPr indent="-298450" lvl="0" marL="457200" rtl="0" algn="just">
              <a:spcBef>
                <a:spcPts val="1000"/>
              </a:spcBef>
              <a:spcAft>
                <a:spcPts val="0"/>
              </a:spcAft>
              <a:buSzPts val="1100"/>
              <a:buFont typeface="Arial"/>
              <a:buChar char="●"/>
            </a:pPr>
            <a:r>
              <a:rPr lang="fr" sz="1100">
                <a:latin typeface="Arial"/>
                <a:ea typeface="Arial"/>
                <a:cs typeface="Arial"/>
                <a:sym typeface="Arial"/>
              </a:rPr>
              <a:t>Traçabilité et qualité : Chaque donnée est documentée avec sa source (ONU, Eurostat, bureaux nationaux), sa méthodologie de collecte, et plus de 643 000 notes explicatives sur la fiabilité </a:t>
            </a:r>
            <a:endParaRPr sz="1100">
              <a:latin typeface="Arial"/>
              <a:ea typeface="Arial"/>
              <a:cs typeface="Arial"/>
              <a:sym typeface="Arial"/>
            </a:endParaRPr>
          </a:p>
          <a:p>
            <a:pPr indent="-298450" lvl="0" marL="457200" rtl="0" algn="just">
              <a:spcBef>
                <a:spcPts val="1000"/>
              </a:spcBef>
              <a:spcAft>
                <a:spcPts val="1000"/>
              </a:spcAft>
              <a:buSzPts val="1100"/>
              <a:buFont typeface="Arial"/>
              <a:buChar char="●"/>
            </a:pPr>
            <a:r>
              <a:rPr lang="fr" sz="1100">
                <a:latin typeface="Arial"/>
                <a:ea typeface="Arial"/>
                <a:cs typeface="Arial"/>
                <a:sym typeface="Arial"/>
              </a:rPr>
              <a:t>Structure relationnelle : Un fichier central contient les valeurs numériques, tandis que 4 fichiers de métadonnées permettent d'identifier les pays, comprendre les indicateurs, et garantir l'interprétation correcte des statistiques</a:t>
            </a:r>
            <a:endParaRPr sz="1100">
              <a:latin typeface="Arial"/>
              <a:ea typeface="Arial"/>
              <a:cs typeface="Arial"/>
              <a:sym typeface="Arial"/>
            </a:endParaRPr>
          </a:p>
        </p:txBody>
      </p:sp>
      <p:sp>
        <p:nvSpPr>
          <p:cNvPr id="94" name="Google Shape;94;p18"/>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671250" y="2141250"/>
            <a:ext cx="7852200" cy="86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fr"/>
              <a:t>2 - Etude </a:t>
            </a:r>
            <a:r>
              <a:rPr lang="fr"/>
              <a:t>Statistique</a:t>
            </a:r>
            <a:r>
              <a:rPr lang="fr"/>
              <a:t> des données</a:t>
            </a:r>
            <a:endParaRPr/>
          </a:p>
        </p:txBody>
      </p:sp>
      <p:sp>
        <p:nvSpPr>
          <p:cNvPr id="100" name="Google Shape;100;p19"/>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2.1 - Statistiques descriptive des indicateurs</a:t>
            </a:r>
            <a:endParaRPr/>
          </a:p>
        </p:txBody>
      </p:sp>
      <p:sp>
        <p:nvSpPr>
          <p:cNvPr id="106" name="Google Shape;106;p20"/>
          <p:cNvSpPr txBox="1"/>
          <p:nvPr>
            <p:ph idx="2" type="body"/>
          </p:nvPr>
        </p:nvSpPr>
        <p:spPr>
          <a:xfrm>
            <a:off x="4832400" y="1152475"/>
            <a:ext cx="3999900" cy="3811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fr" sz="1200">
                <a:solidFill>
                  <a:schemeClr val="dk1"/>
                </a:solidFill>
                <a:latin typeface="Arial"/>
                <a:ea typeface="Arial"/>
                <a:cs typeface="Arial"/>
                <a:sym typeface="Arial"/>
              </a:rPr>
              <a:t>Tendance globale</a:t>
            </a:r>
            <a:br>
              <a:rPr b="1" lang="fr" sz="1200">
                <a:solidFill>
                  <a:schemeClr val="dk1"/>
                </a:solidFill>
                <a:latin typeface="Arial"/>
                <a:ea typeface="Arial"/>
                <a:cs typeface="Arial"/>
                <a:sym typeface="Arial"/>
              </a:rPr>
            </a:br>
            <a:br>
              <a:rPr b="1" lang="fr" sz="1200">
                <a:solidFill>
                  <a:schemeClr val="dk1"/>
                </a:solidFill>
                <a:latin typeface="Arial"/>
                <a:ea typeface="Arial"/>
                <a:cs typeface="Arial"/>
                <a:sym typeface="Arial"/>
              </a:rPr>
            </a:br>
            <a:r>
              <a:rPr lang="fr" sz="800">
                <a:solidFill>
                  <a:schemeClr val="dk1"/>
                </a:solidFill>
                <a:latin typeface="Arial"/>
                <a:ea typeface="Arial"/>
                <a:cs typeface="Arial"/>
                <a:sym typeface="Arial"/>
              </a:rPr>
              <a:t>L’analyse statistique des indicateurs éducatifs et socio-économiques révèle des disparités marquées entre les pays, tant en termes d’accès à l’éducation que de développement numérique et économique. Ces écarts constituent une base solide pour identifier les marchés les plus prometteurs.</a:t>
            </a:r>
            <a:endParaRPr b="1" sz="700">
              <a:solidFill>
                <a:schemeClr val="dk1"/>
              </a:solidFill>
              <a:latin typeface="Arial"/>
              <a:ea typeface="Arial"/>
              <a:cs typeface="Arial"/>
              <a:sym typeface="Arial"/>
            </a:endParaRPr>
          </a:p>
          <a:p>
            <a:pPr indent="0" lvl="0" marL="0" rtl="0" algn="just">
              <a:spcBef>
                <a:spcPts val="1600"/>
              </a:spcBef>
              <a:spcAft>
                <a:spcPts val="0"/>
              </a:spcAft>
              <a:buNone/>
            </a:pPr>
            <a:r>
              <a:rPr b="1" lang="fr" sz="800">
                <a:solidFill>
                  <a:schemeClr val="lt1"/>
                </a:solidFill>
                <a:highlight>
                  <a:schemeClr val="dk1"/>
                </a:highlight>
                <a:latin typeface="Arial"/>
                <a:ea typeface="Arial"/>
                <a:cs typeface="Arial"/>
                <a:sym typeface="Arial"/>
              </a:rPr>
              <a:t>Inscriptions dans l’enseignement supérieur</a:t>
            </a:r>
            <a:r>
              <a:rPr lang="fr" sz="800">
                <a:solidFill>
                  <a:schemeClr val="lt1"/>
                </a:solidFill>
                <a:highlight>
                  <a:schemeClr val="dk1"/>
                </a:highlight>
                <a:latin typeface="Arial"/>
                <a:ea typeface="Arial"/>
                <a:cs typeface="Arial"/>
                <a:sym typeface="Arial"/>
              </a:rPr>
              <a:t> </a:t>
            </a:r>
            <a:endParaRPr sz="800">
              <a:solidFill>
                <a:schemeClr val="lt1"/>
              </a:solidFill>
              <a:highlight>
                <a:schemeClr val="dk1"/>
              </a:highlight>
              <a:latin typeface="Arial"/>
              <a:ea typeface="Arial"/>
              <a:cs typeface="Arial"/>
              <a:sym typeface="Arial"/>
            </a:endParaRPr>
          </a:p>
          <a:p>
            <a:pPr indent="0" lvl="0" marL="457200" rtl="0" algn="just">
              <a:spcBef>
                <a:spcPts val="0"/>
              </a:spcBef>
              <a:spcAft>
                <a:spcPts val="0"/>
              </a:spcAft>
              <a:buNone/>
            </a:pPr>
            <a:r>
              <a:rPr lang="fr" sz="800">
                <a:solidFill>
                  <a:schemeClr val="dk1"/>
                </a:solidFill>
                <a:latin typeface="Arial"/>
                <a:ea typeface="Arial"/>
                <a:cs typeface="Arial"/>
                <a:sym typeface="Arial"/>
              </a:rPr>
              <a:t>Forte hétérogénéité : certains pays comptent moins de 1 000 étudiants, d’autres plus de 25 millions.</a:t>
            </a:r>
            <a:endParaRPr sz="800">
              <a:solidFill>
                <a:schemeClr val="dk1"/>
              </a:solidFill>
              <a:latin typeface="Arial"/>
              <a:ea typeface="Arial"/>
              <a:cs typeface="Arial"/>
              <a:sym typeface="Arial"/>
            </a:endParaRPr>
          </a:p>
          <a:p>
            <a:pPr indent="0" lvl="0" marL="0" rtl="0" algn="just">
              <a:spcBef>
                <a:spcPts val="0"/>
              </a:spcBef>
              <a:spcAft>
                <a:spcPts val="0"/>
              </a:spcAft>
              <a:buNone/>
            </a:pPr>
            <a:r>
              <a:rPr b="1" lang="fr" sz="800">
                <a:solidFill>
                  <a:schemeClr val="lt1"/>
                </a:solidFill>
                <a:highlight>
                  <a:schemeClr val="dk1"/>
                </a:highlight>
                <a:latin typeface="Arial"/>
                <a:ea typeface="Arial"/>
                <a:cs typeface="Arial"/>
                <a:sym typeface="Arial"/>
              </a:rPr>
              <a:t>RNB par habitant</a:t>
            </a:r>
            <a:r>
              <a:rPr lang="fr" sz="800">
                <a:solidFill>
                  <a:schemeClr val="lt1"/>
                </a:solidFill>
                <a:highlight>
                  <a:schemeClr val="dk1"/>
                </a:highlight>
                <a:latin typeface="Arial"/>
                <a:ea typeface="Arial"/>
                <a:cs typeface="Arial"/>
                <a:sym typeface="Arial"/>
              </a:rPr>
              <a:t> </a:t>
            </a:r>
            <a:endParaRPr sz="800">
              <a:solidFill>
                <a:schemeClr val="lt1"/>
              </a:solidFill>
              <a:highlight>
                <a:schemeClr val="dk1"/>
              </a:highlight>
              <a:latin typeface="Arial"/>
              <a:ea typeface="Arial"/>
              <a:cs typeface="Arial"/>
              <a:sym typeface="Arial"/>
            </a:endParaRPr>
          </a:p>
          <a:p>
            <a:pPr indent="0" lvl="0" marL="457200" rtl="0" algn="just">
              <a:spcBef>
                <a:spcPts val="0"/>
              </a:spcBef>
              <a:spcAft>
                <a:spcPts val="0"/>
              </a:spcAft>
              <a:buNone/>
            </a:pPr>
            <a:r>
              <a:rPr lang="fr" sz="800">
                <a:solidFill>
                  <a:schemeClr val="dk1"/>
                </a:solidFill>
                <a:latin typeface="Arial"/>
                <a:ea typeface="Arial"/>
                <a:cs typeface="Arial"/>
                <a:sym typeface="Arial"/>
              </a:rPr>
              <a:t>Très variable : de moins de 600 $ à plus de 100 000 $, illustrant des niveaux de vie contrastés.</a:t>
            </a:r>
            <a:endParaRPr sz="800">
              <a:solidFill>
                <a:schemeClr val="dk1"/>
              </a:solidFill>
              <a:latin typeface="Arial"/>
              <a:ea typeface="Arial"/>
              <a:cs typeface="Arial"/>
              <a:sym typeface="Arial"/>
            </a:endParaRPr>
          </a:p>
          <a:p>
            <a:pPr indent="0" lvl="0" marL="0" rtl="0" algn="just">
              <a:spcBef>
                <a:spcPts val="0"/>
              </a:spcBef>
              <a:spcAft>
                <a:spcPts val="0"/>
              </a:spcAft>
              <a:buNone/>
            </a:pPr>
            <a:r>
              <a:rPr b="1" lang="fr" sz="800">
                <a:solidFill>
                  <a:schemeClr val="lt1"/>
                </a:solidFill>
                <a:highlight>
                  <a:schemeClr val="dk1"/>
                </a:highlight>
                <a:latin typeface="Arial"/>
                <a:ea typeface="Arial"/>
                <a:cs typeface="Arial"/>
                <a:sym typeface="Arial"/>
              </a:rPr>
              <a:t>Accès à Internet</a:t>
            </a:r>
            <a:r>
              <a:rPr lang="fr" sz="800">
                <a:solidFill>
                  <a:schemeClr val="lt1"/>
                </a:solidFill>
                <a:highlight>
                  <a:schemeClr val="dk1"/>
                </a:highlight>
                <a:latin typeface="Arial"/>
                <a:ea typeface="Arial"/>
                <a:cs typeface="Arial"/>
                <a:sym typeface="Arial"/>
              </a:rPr>
              <a:t> </a:t>
            </a:r>
            <a:endParaRPr sz="800">
              <a:solidFill>
                <a:schemeClr val="lt1"/>
              </a:solidFill>
              <a:highlight>
                <a:schemeClr val="dk1"/>
              </a:highlight>
              <a:latin typeface="Arial"/>
              <a:ea typeface="Arial"/>
              <a:cs typeface="Arial"/>
              <a:sym typeface="Arial"/>
            </a:endParaRPr>
          </a:p>
          <a:p>
            <a:pPr indent="0" lvl="0" marL="457200" rtl="0" algn="just">
              <a:spcBef>
                <a:spcPts val="0"/>
              </a:spcBef>
              <a:spcAft>
                <a:spcPts val="0"/>
              </a:spcAft>
              <a:buNone/>
            </a:pPr>
            <a:r>
              <a:rPr lang="fr" sz="800">
                <a:solidFill>
                  <a:schemeClr val="dk1"/>
                </a:solidFill>
                <a:latin typeface="Arial"/>
                <a:ea typeface="Arial"/>
                <a:cs typeface="Arial"/>
                <a:sym typeface="Arial"/>
              </a:rPr>
              <a:t>Inégal : certains pays sont encore largement déconnectés (0 ,59 %), d’autres dépassent les 85 % de couverture.</a:t>
            </a:r>
            <a:endParaRPr sz="800">
              <a:solidFill>
                <a:schemeClr val="dk1"/>
              </a:solidFill>
              <a:latin typeface="Arial"/>
              <a:ea typeface="Arial"/>
              <a:cs typeface="Arial"/>
              <a:sym typeface="Arial"/>
            </a:endParaRPr>
          </a:p>
          <a:p>
            <a:pPr indent="0" lvl="0" marL="0" rtl="0" algn="just">
              <a:spcBef>
                <a:spcPts val="0"/>
              </a:spcBef>
              <a:spcAft>
                <a:spcPts val="0"/>
              </a:spcAft>
              <a:buNone/>
            </a:pPr>
            <a:r>
              <a:rPr b="1" lang="fr" sz="800">
                <a:solidFill>
                  <a:schemeClr val="lt1"/>
                </a:solidFill>
                <a:highlight>
                  <a:schemeClr val="dk1"/>
                </a:highlight>
                <a:latin typeface="Arial"/>
                <a:ea typeface="Arial"/>
                <a:cs typeface="Arial"/>
                <a:sym typeface="Arial"/>
              </a:rPr>
              <a:t>Croissance démographique</a:t>
            </a:r>
            <a:r>
              <a:rPr lang="fr" sz="800">
                <a:solidFill>
                  <a:schemeClr val="lt1"/>
                </a:solidFill>
                <a:highlight>
                  <a:schemeClr val="dk1"/>
                </a:highlight>
                <a:latin typeface="Arial"/>
                <a:ea typeface="Arial"/>
                <a:cs typeface="Arial"/>
                <a:sym typeface="Arial"/>
              </a:rPr>
              <a:t> </a:t>
            </a:r>
            <a:endParaRPr sz="800">
              <a:solidFill>
                <a:schemeClr val="lt1"/>
              </a:solidFill>
              <a:highlight>
                <a:schemeClr val="dk1"/>
              </a:highlight>
              <a:latin typeface="Arial"/>
              <a:ea typeface="Arial"/>
              <a:cs typeface="Arial"/>
              <a:sym typeface="Arial"/>
            </a:endParaRPr>
          </a:p>
          <a:p>
            <a:pPr indent="0" lvl="0" marL="457200" rtl="0" algn="just">
              <a:spcBef>
                <a:spcPts val="0"/>
              </a:spcBef>
              <a:spcAft>
                <a:spcPts val="0"/>
              </a:spcAft>
              <a:buNone/>
            </a:pPr>
            <a:r>
              <a:rPr lang="fr" sz="800">
                <a:solidFill>
                  <a:schemeClr val="dk1"/>
                </a:solidFill>
                <a:latin typeface="Arial"/>
                <a:ea typeface="Arial"/>
                <a:cs typeface="Arial"/>
                <a:sym typeface="Arial"/>
              </a:rPr>
              <a:t>Très diverse certains pays en décroissance, d’autres en forte expansion (&gt;9 %).</a:t>
            </a:r>
            <a:endParaRPr sz="800">
              <a:solidFill>
                <a:schemeClr val="dk1"/>
              </a:solidFill>
              <a:latin typeface="Arial"/>
              <a:ea typeface="Arial"/>
              <a:cs typeface="Arial"/>
              <a:sym typeface="Arial"/>
            </a:endParaRPr>
          </a:p>
          <a:p>
            <a:pPr indent="0" lvl="0" marL="0" rtl="0" algn="just">
              <a:spcBef>
                <a:spcPts val="0"/>
              </a:spcBef>
              <a:spcAft>
                <a:spcPts val="0"/>
              </a:spcAft>
              <a:buNone/>
            </a:pPr>
            <a:r>
              <a:rPr b="1" lang="fr" sz="800">
                <a:solidFill>
                  <a:schemeClr val="lt1"/>
                </a:solidFill>
                <a:highlight>
                  <a:schemeClr val="dk1"/>
                </a:highlight>
                <a:latin typeface="Arial"/>
                <a:ea typeface="Arial"/>
                <a:cs typeface="Arial"/>
                <a:sym typeface="Arial"/>
              </a:rPr>
              <a:t>Population en âge du lycée</a:t>
            </a:r>
            <a:endParaRPr sz="800">
              <a:solidFill>
                <a:schemeClr val="lt1"/>
              </a:solidFill>
              <a:highlight>
                <a:schemeClr val="dk1"/>
              </a:highlight>
              <a:latin typeface="Arial"/>
              <a:ea typeface="Arial"/>
              <a:cs typeface="Arial"/>
              <a:sym typeface="Arial"/>
            </a:endParaRPr>
          </a:p>
          <a:p>
            <a:pPr indent="0" lvl="0" marL="457200" rtl="0" algn="just">
              <a:spcBef>
                <a:spcPts val="0"/>
              </a:spcBef>
              <a:spcAft>
                <a:spcPts val="0"/>
              </a:spcAft>
              <a:buNone/>
            </a:pPr>
            <a:r>
              <a:rPr lang="fr" sz="800">
                <a:solidFill>
                  <a:schemeClr val="dk1"/>
                </a:solidFill>
                <a:latin typeface="Arial"/>
                <a:ea typeface="Arial"/>
                <a:cs typeface="Arial"/>
                <a:sym typeface="Arial"/>
              </a:rPr>
              <a:t>Très dispersée : de quelques centaines à près de 100 millions d’individus.</a:t>
            </a:r>
            <a:endParaRPr sz="800">
              <a:solidFill>
                <a:schemeClr val="dk1"/>
              </a:solidFill>
              <a:latin typeface="Arial"/>
              <a:ea typeface="Arial"/>
              <a:cs typeface="Arial"/>
              <a:sym typeface="Arial"/>
            </a:endParaRPr>
          </a:p>
          <a:p>
            <a:pPr indent="0" lvl="0" marL="0" rtl="0" algn="just">
              <a:spcBef>
                <a:spcPts val="0"/>
              </a:spcBef>
              <a:spcAft>
                <a:spcPts val="0"/>
              </a:spcAft>
              <a:buNone/>
            </a:pPr>
            <a:r>
              <a:rPr b="1" lang="fr" sz="800">
                <a:solidFill>
                  <a:schemeClr val="lt1"/>
                </a:solidFill>
                <a:highlight>
                  <a:schemeClr val="dk1"/>
                </a:highlight>
                <a:latin typeface="Arial"/>
                <a:ea typeface="Arial"/>
                <a:cs typeface="Arial"/>
                <a:sym typeface="Arial"/>
              </a:rPr>
              <a:t>Durée théorique du lycée</a:t>
            </a:r>
            <a:r>
              <a:rPr lang="fr" sz="800">
                <a:solidFill>
                  <a:schemeClr val="lt1"/>
                </a:solidFill>
                <a:highlight>
                  <a:schemeClr val="dk1"/>
                </a:highlight>
                <a:latin typeface="Arial"/>
                <a:ea typeface="Arial"/>
                <a:cs typeface="Arial"/>
                <a:sym typeface="Arial"/>
              </a:rPr>
              <a:t> </a:t>
            </a:r>
            <a:endParaRPr sz="800">
              <a:solidFill>
                <a:schemeClr val="lt1"/>
              </a:solidFill>
              <a:highlight>
                <a:schemeClr val="dk1"/>
              </a:highlight>
              <a:latin typeface="Arial"/>
              <a:ea typeface="Arial"/>
              <a:cs typeface="Arial"/>
              <a:sym typeface="Arial"/>
            </a:endParaRPr>
          </a:p>
          <a:p>
            <a:pPr indent="0" lvl="0" marL="457200" rtl="0" algn="just">
              <a:spcBef>
                <a:spcPts val="0"/>
              </a:spcBef>
              <a:spcAft>
                <a:spcPts val="0"/>
              </a:spcAft>
              <a:buNone/>
            </a:pPr>
            <a:r>
              <a:rPr lang="fr" sz="800">
                <a:solidFill>
                  <a:schemeClr val="dk1"/>
                </a:solidFill>
                <a:latin typeface="Arial"/>
                <a:ea typeface="Arial"/>
                <a:cs typeface="Arial"/>
                <a:sym typeface="Arial"/>
              </a:rPr>
              <a:t>Relativement stable : centrée autour de 3 ans, avec quelques variations.</a:t>
            </a:r>
            <a:endParaRPr sz="800">
              <a:solidFill>
                <a:schemeClr val="dk1"/>
              </a:solidFill>
              <a:latin typeface="Arial"/>
              <a:ea typeface="Arial"/>
              <a:cs typeface="Arial"/>
              <a:sym typeface="Arial"/>
            </a:endParaRPr>
          </a:p>
        </p:txBody>
      </p:sp>
      <p:pic>
        <p:nvPicPr>
          <p:cNvPr id="107" name="Google Shape;107;p20"/>
          <p:cNvPicPr preferRelativeResize="0"/>
          <p:nvPr/>
        </p:nvPicPr>
        <p:blipFill>
          <a:blip r:embed="rId3">
            <a:alphaModFix/>
          </a:blip>
          <a:stretch>
            <a:fillRect/>
          </a:stretch>
        </p:blipFill>
        <p:spPr>
          <a:xfrm>
            <a:off x="647273" y="1532031"/>
            <a:ext cx="3926776" cy="2994774"/>
          </a:xfrm>
          <a:prstGeom prst="rect">
            <a:avLst/>
          </a:prstGeom>
          <a:noFill/>
          <a:ln>
            <a:noFill/>
          </a:ln>
        </p:spPr>
      </p:pic>
      <p:sp>
        <p:nvSpPr>
          <p:cNvPr id="108" name="Google Shape;108;p20"/>
          <p:cNvSpPr txBox="1"/>
          <p:nvPr/>
        </p:nvSpPr>
        <p:spPr>
          <a:xfrm>
            <a:off x="689013" y="4607975"/>
            <a:ext cx="38433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fr" sz="600">
                <a:solidFill>
                  <a:schemeClr val="accent3"/>
                </a:solidFill>
                <a:latin typeface="Average"/>
                <a:ea typeface="Average"/>
                <a:cs typeface="Average"/>
                <a:sym typeface="Average"/>
              </a:rPr>
              <a:t>*</a:t>
            </a:r>
            <a:r>
              <a:rPr i="1" lang="fr" sz="600">
                <a:solidFill>
                  <a:schemeClr val="accent3"/>
                </a:solidFill>
                <a:latin typeface="Average"/>
                <a:ea typeface="Average"/>
                <a:cs typeface="Average"/>
                <a:sym typeface="Average"/>
              </a:rPr>
              <a:t>Exemple de dispersion pour les utilisateurs d’internet</a:t>
            </a:r>
            <a:endParaRPr i="1" sz="600">
              <a:solidFill>
                <a:schemeClr val="accent3"/>
              </a:solidFill>
              <a:latin typeface="Average"/>
              <a:ea typeface="Average"/>
              <a:cs typeface="Average"/>
              <a:sym typeface="Average"/>
            </a:endParaRPr>
          </a:p>
        </p:txBody>
      </p:sp>
      <p:sp>
        <p:nvSpPr>
          <p:cNvPr id="109" name="Google Shape;109;p20"/>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2.2 - Analyse par indicateur</a:t>
            </a:r>
            <a:endParaRPr/>
          </a:p>
        </p:txBody>
      </p:sp>
      <p:sp>
        <p:nvSpPr>
          <p:cNvPr id="115" name="Google Shape;115;p21"/>
          <p:cNvSpPr txBox="1"/>
          <p:nvPr>
            <p:ph idx="2" type="body"/>
          </p:nvPr>
        </p:nvSpPr>
        <p:spPr>
          <a:xfrm>
            <a:off x="4832400" y="1152475"/>
            <a:ext cx="3999900" cy="3811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fr" sz="1200">
                <a:solidFill>
                  <a:schemeClr val="dk1"/>
                </a:solidFill>
                <a:latin typeface="Arial"/>
                <a:ea typeface="Arial"/>
                <a:cs typeface="Arial"/>
                <a:sym typeface="Arial"/>
              </a:rPr>
              <a:t>Population en </a:t>
            </a:r>
            <a:r>
              <a:rPr b="1" lang="fr" sz="1200">
                <a:solidFill>
                  <a:schemeClr val="dk1"/>
                </a:solidFill>
                <a:latin typeface="Arial"/>
                <a:ea typeface="Arial"/>
                <a:cs typeface="Arial"/>
                <a:sym typeface="Arial"/>
              </a:rPr>
              <a:t>âge</a:t>
            </a:r>
            <a:r>
              <a:rPr b="1" lang="fr" sz="1200">
                <a:solidFill>
                  <a:schemeClr val="dk1"/>
                </a:solidFill>
                <a:latin typeface="Arial"/>
                <a:ea typeface="Arial"/>
                <a:cs typeface="Arial"/>
                <a:sym typeface="Arial"/>
              </a:rPr>
              <a:t> du lycée</a:t>
            </a:r>
            <a:br>
              <a:rPr b="1" lang="fr" sz="1200">
                <a:solidFill>
                  <a:schemeClr val="dk1"/>
                </a:solidFill>
                <a:latin typeface="Arial"/>
                <a:ea typeface="Arial"/>
                <a:cs typeface="Arial"/>
                <a:sym typeface="Arial"/>
              </a:rPr>
            </a:br>
            <a:br>
              <a:rPr b="1" lang="fr" sz="800">
                <a:solidFill>
                  <a:schemeClr val="dk1"/>
                </a:solidFill>
                <a:latin typeface="Arial"/>
                <a:ea typeface="Arial"/>
                <a:cs typeface="Arial"/>
                <a:sym typeface="Arial"/>
              </a:rPr>
            </a:br>
            <a:r>
              <a:rPr lang="fr" sz="800">
                <a:solidFill>
                  <a:schemeClr val="dk1"/>
                </a:solidFill>
                <a:latin typeface="Arial"/>
                <a:ea typeface="Arial"/>
                <a:cs typeface="Arial"/>
                <a:sym typeface="Arial"/>
              </a:rPr>
              <a:t>La population en âge du lycée constitue un levier stratégique pour estimer la demande potentielle en formation, en ciblant les pays où cette tranche d’âge représente un volume significatif.</a:t>
            </a:r>
            <a:endParaRPr sz="800">
              <a:solidFill>
                <a:schemeClr val="dk1"/>
              </a:solidFill>
              <a:latin typeface="Arial"/>
              <a:ea typeface="Arial"/>
              <a:cs typeface="Arial"/>
              <a:sym typeface="Arial"/>
            </a:endParaRPr>
          </a:p>
          <a:p>
            <a:pPr indent="-279400" lvl="0" marL="457200" rtl="0" algn="just">
              <a:spcBef>
                <a:spcPts val="1600"/>
              </a:spcBef>
              <a:spcAft>
                <a:spcPts val="0"/>
              </a:spcAft>
              <a:buClr>
                <a:schemeClr val="dk1"/>
              </a:buClr>
              <a:buSzPts val="800"/>
              <a:buFont typeface="Arial"/>
              <a:buChar char="●"/>
            </a:pPr>
            <a:r>
              <a:rPr lang="fr" sz="800">
                <a:solidFill>
                  <a:schemeClr val="dk1"/>
                </a:solidFill>
                <a:latin typeface="Arial"/>
                <a:ea typeface="Arial"/>
                <a:cs typeface="Arial"/>
                <a:sym typeface="Arial"/>
              </a:rPr>
              <a:t>L’Inde et la Chine concentrent à elles seules plus de </a:t>
            </a:r>
            <a:r>
              <a:rPr b="1" lang="fr" sz="800">
                <a:solidFill>
                  <a:schemeClr val="dk1"/>
                </a:solidFill>
                <a:latin typeface="Arial"/>
                <a:ea typeface="Arial"/>
                <a:cs typeface="Arial"/>
                <a:sym typeface="Arial"/>
              </a:rPr>
              <a:t>160 millions</a:t>
            </a:r>
            <a:r>
              <a:rPr lang="fr" sz="800">
                <a:solidFill>
                  <a:schemeClr val="dk1"/>
                </a:solidFill>
                <a:latin typeface="Arial"/>
                <a:ea typeface="Arial"/>
                <a:cs typeface="Arial"/>
                <a:sym typeface="Arial"/>
              </a:rPr>
              <a:t> de jeunes en âge d’être au lycée.</a:t>
            </a:r>
            <a:endParaRPr sz="800">
              <a:solidFill>
                <a:schemeClr val="dk1"/>
              </a:solidFill>
              <a:latin typeface="Arial"/>
              <a:ea typeface="Arial"/>
              <a:cs typeface="Arial"/>
              <a:sym typeface="Arial"/>
            </a:endParaRPr>
          </a:p>
          <a:p>
            <a:pPr indent="-279400" lvl="0" marL="457200" rtl="0" algn="just">
              <a:spcBef>
                <a:spcPts val="1600"/>
              </a:spcBef>
              <a:spcAft>
                <a:spcPts val="0"/>
              </a:spcAft>
              <a:buClr>
                <a:schemeClr val="dk1"/>
              </a:buClr>
              <a:buSzPts val="800"/>
              <a:buFont typeface="Arial"/>
              <a:buChar char="●"/>
            </a:pPr>
            <a:r>
              <a:rPr lang="fr" sz="800">
                <a:solidFill>
                  <a:schemeClr val="dk1"/>
                </a:solidFill>
                <a:latin typeface="Arial"/>
                <a:ea typeface="Arial"/>
                <a:cs typeface="Arial"/>
                <a:sym typeface="Arial"/>
              </a:rPr>
              <a:t>Les pays d’Asie du Sud et d’Afrique (Pakistan, Bangladesh, Nigeria) affichent des </a:t>
            </a:r>
            <a:r>
              <a:rPr b="1" lang="fr" sz="800">
                <a:solidFill>
                  <a:schemeClr val="dk1"/>
                </a:solidFill>
                <a:latin typeface="Arial"/>
                <a:ea typeface="Arial"/>
                <a:cs typeface="Arial"/>
                <a:sym typeface="Arial"/>
              </a:rPr>
              <a:t>volumes très élevés</a:t>
            </a:r>
            <a:r>
              <a:rPr lang="fr" sz="800">
                <a:solidFill>
                  <a:schemeClr val="dk1"/>
                </a:solidFill>
                <a:latin typeface="Arial"/>
                <a:ea typeface="Arial"/>
                <a:cs typeface="Arial"/>
                <a:sym typeface="Arial"/>
              </a:rPr>
              <a:t>.</a:t>
            </a:r>
            <a:endParaRPr sz="800">
              <a:solidFill>
                <a:schemeClr val="dk1"/>
              </a:solidFill>
              <a:latin typeface="Arial"/>
              <a:ea typeface="Arial"/>
              <a:cs typeface="Arial"/>
              <a:sym typeface="Arial"/>
            </a:endParaRPr>
          </a:p>
          <a:p>
            <a:pPr indent="-279400" lvl="0" marL="457200" rtl="0" algn="just">
              <a:spcBef>
                <a:spcPts val="1000"/>
              </a:spcBef>
              <a:spcAft>
                <a:spcPts val="0"/>
              </a:spcAft>
              <a:buClr>
                <a:schemeClr val="dk1"/>
              </a:buClr>
              <a:buSzPts val="800"/>
              <a:buFont typeface="Arial"/>
              <a:buChar char="●"/>
            </a:pPr>
            <a:r>
              <a:rPr lang="fr" sz="800">
                <a:solidFill>
                  <a:schemeClr val="dk1"/>
                </a:solidFill>
                <a:latin typeface="Arial"/>
                <a:ea typeface="Arial"/>
                <a:cs typeface="Arial"/>
                <a:sym typeface="Arial"/>
              </a:rPr>
              <a:t>Cette masse critique représente </a:t>
            </a:r>
            <a:r>
              <a:rPr b="1" lang="fr" sz="800">
                <a:solidFill>
                  <a:schemeClr val="dk1"/>
                </a:solidFill>
                <a:latin typeface="Arial"/>
                <a:ea typeface="Arial"/>
                <a:cs typeface="Arial"/>
                <a:sym typeface="Arial"/>
              </a:rPr>
              <a:t>un vivier stratégique </a:t>
            </a:r>
            <a:r>
              <a:rPr lang="fr" sz="800">
                <a:solidFill>
                  <a:schemeClr val="dk1"/>
                </a:solidFill>
                <a:latin typeface="Arial"/>
                <a:ea typeface="Arial"/>
                <a:cs typeface="Arial"/>
                <a:sym typeface="Arial"/>
              </a:rPr>
              <a:t>pour academy en termes de recrutement et d’impact.</a:t>
            </a:r>
            <a:endParaRPr sz="800">
              <a:solidFill>
                <a:schemeClr val="dk1"/>
              </a:solidFill>
              <a:latin typeface="Arial"/>
              <a:ea typeface="Arial"/>
              <a:cs typeface="Arial"/>
              <a:sym typeface="Arial"/>
            </a:endParaRPr>
          </a:p>
          <a:p>
            <a:pPr indent="-279400" lvl="0" marL="457200" rtl="0" algn="just">
              <a:spcBef>
                <a:spcPts val="1000"/>
              </a:spcBef>
              <a:spcAft>
                <a:spcPts val="0"/>
              </a:spcAft>
              <a:buClr>
                <a:schemeClr val="dk1"/>
              </a:buClr>
              <a:buSzPts val="800"/>
              <a:buFont typeface="Arial"/>
              <a:buChar char="●"/>
            </a:pPr>
            <a:r>
              <a:rPr lang="fr" sz="800">
                <a:solidFill>
                  <a:schemeClr val="dk1"/>
                </a:solidFill>
                <a:latin typeface="Arial"/>
                <a:ea typeface="Arial"/>
                <a:cs typeface="Arial"/>
                <a:sym typeface="Arial"/>
              </a:rPr>
              <a:t>Les pays émergents sont particulièrement intéressants pour </a:t>
            </a:r>
            <a:r>
              <a:rPr b="1" lang="fr" sz="800">
                <a:solidFill>
                  <a:schemeClr val="dk1"/>
                </a:solidFill>
                <a:latin typeface="Arial"/>
                <a:ea typeface="Arial"/>
                <a:cs typeface="Arial"/>
                <a:sym typeface="Arial"/>
              </a:rPr>
              <a:t>des offres accessibles</a:t>
            </a:r>
            <a:r>
              <a:rPr lang="fr" sz="800">
                <a:solidFill>
                  <a:schemeClr val="dk1"/>
                </a:solidFill>
                <a:latin typeface="Arial"/>
                <a:ea typeface="Arial"/>
                <a:cs typeface="Arial"/>
                <a:sym typeface="Arial"/>
              </a:rPr>
              <a:t> et à grande échelle.</a:t>
            </a:r>
            <a:endParaRPr sz="800">
              <a:solidFill>
                <a:schemeClr val="dk1"/>
              </a:solidFill>
              <a:latin typeface="Arial"/>
              <a:ea typeface="Arial"/>
              <a:cs typeface="Arial"/>
              <a:sym typeface="Arial"/>
            </a:endParaRPr>
          </a:p>
          <a:p>
            <a:pPr indent="0" lvl="0" marL="0" rtl="0" algn="l">
              <a:spcBef>
                <a:spcPts val="1600"/>
              </a:spcBef>
              <a:spcAft>
                <a:spcPts val="1600"/>
              </a:spcAft>
              <a:buNone/>
            </a:pPr>
            <a:r>
              <a:t/>
            </a:r>
            <a:endParaRPr b="1" sz="700">
              <a:solidFill>
                <a:schemeClr val="dk1"/>
              </a:solidFill>
              <a:latin typeface="Arial"/>
              <a:ea typeface="Arial"/>
              <a:cs typeface="Arial"/>
              <a:sym typeface="Arial"/>
            </a:endParaRPr>
          </a:p>
        </p:txBody>
      </p:sp>
      <p:pic>
        <p:nvPicPr>
          <p:cNvPr id="116" name="Google Shape;116;p21"/>
          <p:cNvPicPr preferRelativeResize="0"/>
          <p:nvPr/>
        </p:nvPicPr>
        <p:blipFill>
          <a:blip r:embed="rId3">
            <a:alphaModFix/>
          </a:blip>
          <a:stretch>
            <a:fillRect/>
          </a:stretch>
        </p:blipFill>
        <p:spPr>
          <a:xfrm>
            <a:off x="152400" y="1670990"/>
            <a:ext cx="4527601" cy="2440560"/>
          </a:xfrm>
          <a:prstGeom prst="rect">
            <a:avLst/>
          </a:prstGeom>
          <a:noFill/>
          <a:ln>
            <a:noFill/>
          </a:ln>
        </p:spPr>
      </p:pic>
      <p:sp>
        <p:nvSpPr>
          <p:cNvPr id="117" name="Google Shape;117;p21"/>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2.2 - Analyse par indicateur</a:t>
            </a:r>
            <a:endParaRPr/>
          </a:p>
        </p:txBody>
      </p:sp>
      <p:sp>
        <p:nvSpPr>
          <p:cNvPr id="123" name="Google Shape;123;p22"/>
          <p:cNvSpPr txBox="1"/>
          <p:nvPr>
            <p:ph idx="2" type="body"/>
          </p:nvPr>
        </p:nvSpPr>
        <p:spPr>
          <a:xfrm>
            <a:off x="4832400" y="1152475"/>
            <a:ext cx="3999900" cy="3811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fr" sz="1200">
                <a:solidFill>
                  <a:schemeClr val="dk1"/>
                </a:solidFill>
                <a:latin typeface="Arial"/>
                <a:ea typeface="Arial"/>
                <a:cs typeface="Arial"/>
                <a:sym typeface="Arial"/>
              </a:rPr>
              <a:t>Durée théorique du lycée</a:t>
            </a:r>
            <a:br>
              <a:rPr b="1" lang="fr" sz="1200">
                <a:solidFill>
                  <a:schemeClr val="dk1"/>
                </a:solidFill>
                <a:latin typeface="Arial"/>
                <a:ea typeface="Arial"/>
                <a:cs typeface="Arial"/>
                <a:sym typeface="Arial"/>
              </a:rPr>
            </a:br>
            <a:br>
              <a:rPr b="1" lang="fr" sz="1200">
                <a:solidFill>
                  <a:schemeClr val="dk1"/>
                </a:solidFill>
                <a:latin typeface="Arial"/>
                <a:ea typeface="Arial"/>
                <a:cs typeface="Arial"/>
                <a:sym typeface="Arial"/>
              </a:rPr>
            </a:br>
            <a:r>
              <a:rPr lang="fr" sz="800">
                <a:solidFill>
                  <a:schemeClr val="dk1"/>
                </a:solidFill>
                <a:latin typeface="Arial"/>
                <a:ea typeface="Arial"/>
                <a:cs typeface="Arial"/>
                <a:sym typeface="Arial"/>
              </a:rPr>
              <a:t>Un nombre d’années de lycée plus élevé implique une durée d’engagement scolaire prolongée, ce qui peut représenter une opportunité économique plus durable pour academy dans les pays concernés.</a:t>
            </a:r>
            <a:endParaRPr sz="800">
              <a:solidFill>
                <a:schemeClr val="dk1"/>
              </a:solidFill>
              <a:latin typeface="Arial"/>
              <a:ea typeface="Arial"/>
              <a:cs typeface="Arial"/>
              <a:sym typeface="Arial"/>
            </a:endParaRPr>
          </a:p>
          <a:p>
            <a:pPr indent="-279400" lvl="0" marL="457200" rtl="0" algn="just">
              <a:spcBef>
                <a:spcPts val="1600"/>
              </a:spcBef>
              <a:spcAft>
                <a:spcPts val="0"/>
              </a:spcAft>
              <a:buClr>
                <a:schemeClr val="dk1"/>
              </a:buClr>
              <a:buSzPts val="800"/>
              <a:buFont typeface="Arial"/>
              <a:buChar char="●"/>
            </a:pPr>
            <a:r>
              <a:rPr lang="fr" sz="800">
                <a:solidFill>
                  <a:schemeClr val="dk1"/>
                </a:solidFill>
                <a:latin typeface="Arial"/>
                <a:ea typeface="Arial"/>
                <a:cs typeface="Arial"/>
                <a:sym typeface="Arial"/>
              </a:rPr>
              <a:t>San Marino, Samoa et l’Italie proposent </a:t>
            </a:r>
            <a:r>
              <a:rPr b="1" lang="fr" sz="800">
                <a:solidFill>
                  <a:schemeClr val="dk1"/>
                </a:solidFill>
                <a:latin typeface="Arial"/>
                <a:ea typeface="Arial"/>
                <a:cs typeface="Arial"/>
                <a:sym typeface="Arial"/>
              </a:rPr>
              <a:t>les durées les plus longues</a:t>
            </a:r>
            <a:r>
              <a:rPr lang="fr" sz="800">
                <a:solidFill>
                  <a:schemeClr val="dk1"/>
                </a:solidFill>
                <a:latin typeface="Arial"/>
                <a:ea typeface="Arial"/>
                <a:cs typeface="Arial"/>
                <a:sym typeface="Arial"/>
              </a:rPr>
              <a:t> (5 ans), favorisant une relation prolongée avec les élèves.</a:t>
            </a:r>
            <a:endParaRPr sz="800">
              <a:solidFill>
                <a:schemeClr val="dk1"/>
              </a:solidFill>
              <a:latin typeface="Arial"/>
              <a:ea typeface="Arial"/>
              <a:cs typeface="Arial"/>
              <a:sym typeface="Arial"/>
            </a:endParaRPr>
          </a:p>
          <a:p>
            <a:pPr indent="-279400" lvl="0" marL="457200" rtl="0" algn="just">
              <a:spcBef>
                <a:spcPts val="1600"/>
              </a:spcBef>
              <a:spcAft>
                <a:spcPts val="0"/>
              </a:spcAft>
              <a:buClr>
                <a:schemeClr val="dk1"/>
              </a:buClr>
              <a:buSzPts val="800"/>
              <a:buFont typeface="Arial"/>
              <a:buChar char="●"/>
            </a:pPr>
            <a:r>
              <a:rPr lang="fr" sz="800">
                <a:solidFill>
                  <a:schemeClr val="dk1"/>
                </a:solidFill>
                <a:latin typeface="Arial"/>
                <a:ea typeface="Arial"/>
                <a:cs typeface="Arial"/>
                <a:sym typeface="Arial"/>
              </a:rPr>
              <a:t>Plusieurs pays d’Europe de l’Est, d’Afrique et d’Amérique latine affichent </a:t>
            </a:r>
            <a:r>
              <a:rPr b="1" lang="fr" sz="800">
                <a:solidFill>
                  <a:schemeClr val="dk1"/>
                </a:solidFill>
                <a:latin typeface="Arial"/>
                <a:ea typeface="Arial"/>
                <a:cs typeface="Arial"/>
                <a:sym typeface="Arial"/>
              </a:rPr>
              <a:t>une durée de 4 ans.</a:t>
            </a:r>
            <a:endParaRPr b="1" sz="800">
              <a:solidFill>
                <a:schemeClr val="dk1"/>
              </a:solidFill>
              <a:latin typeface="Arial"/>
              <a:ea typeface="Arial"/>
              <a:cs typeface="Arial"/>
              <a:sym typeface="Arial"/>
            </a:endParaRPr>
          </a:p>
          <a:p>
            <a:pPr indent="-279400" lvl="0" marL="457200" rtl="0" algn="just">
              <a:spcBef>
                <a:spcPts val="1000"/>
              </a:spcBef>
              <a:spcAft>
                <a:spcPts val="0"/>
              </a:spcAft>
              <a:buClr>
                <a:schemeClr val="dk1"/>
              </a:buClr>
              <a:buSzPts val="800"/>
              <a:buFont typeface="Arial"/>
              <a:buChar char="●"/>
            </a:pPr>
            <a:r>
              <a:rPr lang="fr" sz="800">
                <a:solidFill>
                  <a:schemeClr val="dk1"/>
                </a:solidFill>
                <a:latin typeface="Arial"/>
                <a:ea typeface="Arial"/>
                <a:cs typeface="Arial"/>
                <a:sym typeface="Arial"/>
              </a:rPr>
              <a:t>Une durée plus longue peut signifier plus de </a:t>
            </a:r>
            <a:r>
              <a:rPr b="1" lang="fr" sz="800">
                <a:solidFill>
                  <a:schemeClr val="dk1"/>
                </a:solidFill>
                <a:latin typeface="Arial"/>
                <a:ea typeface="Arial"/>
                <a:cs typeface="Arial"/>
                <a:sym typeface="Arial"/>
              </a:rPr>
              <a:t>stabilité </a:t>
            </a:r>
            <a:r>
              <a:rPr lang="fr" sz="800">
                <a:solidFill>
                  <a:schemeClr val="dk1"/>
                </a:solidFill>
                <a:latin typeface="Arial"/>
                <a:ea typeface="Arial"/>
                <a:cs typeface="Arial"/>
                <a:sym typeface="Arial"/>
              </a:rPr>
              <a:t>et de </a:t>
            </a:r>
            <a:r>
              <a:rPr b="1" lang="fr" sz="800">
                <a:solidFill>
                  <a:schemeClr val="dk1"/>
                </a:solidFill>
                <a:latin typeface="Arial"/>
                <a:ea typeface="Arial"/>
                <a:cs typeface="Arial"/>
                <a:sym typeface="Arial"/>
              </a:rPr>
              <a:t>temps </a:t>
            </a:r>
            <a:r>
              <a:rPr lang="fr" sz="800">
                <a:solidFill>
                  <a:schemeClr val="dk1"/>
                </a:solidFill>
                <a:latin typeface="Arial"/>
                <a:ea typeface="Arial"/>
                <a:cs typeface="Arial"/>
                <a:sym typeface="Arial"/>
              </a:rPr>
              <a:t>pour développer des partenariats éducatifs.</a:t>
            </a:r>
            <a:endParaRPr sz="800">
              <a:solidFill>
                <a:schemeClr val="dk1"/>
              </a:solidFill>
              <a:latin typeface="Arial"/>
              <a:ea typeface="Arial"/>
              <a:cs typeface="Arial"/>
              <a:sym typeface="Arial"/>
            </a:endParaRPr>
          </a:p>
          <a:p>
            <a:pPr indent="-279400" lvl="0" marL="457200" rtl="0" algn="just">
              <a:spcBef>
                <a:spcPts val="1000"/>
              </a:spcBef>
              <a:spcAft>
                <a:spcPts val="0"/>
              </a:spcAft>
              <a:buClr>
                <a:schemeClr val="dk1"/>
              </a:buClr>
              <a:buSzPts val="800"/>
              <a:buFont typeface="Arial"/>
              <a:buChar char="●"/>
            </a:pPr>
            <a:r>
              <a:rPr lang="fr" sz="800">
                <a:solidFill>
                  <a:schemeClr val="dk1"/>
                </a:solidFill>
                <a:latin typeface="Arial"/>
                <a:ea typeface="Arial"/>
                <a:cs typeface="Arial"/>
                <a:sym typeface="Arial"/>
              </a:rPr>
              <a:t>Cela peut aussi représenter une </a:t>
            </a:r>
            <a:r>
              <a:rPr b="1" lang="fr" sz="800">
                <a:solidFill>
                  <a:schemeClr val="dk1"/>
                </a:solidFill>
                <a:latin typeface="Arial"/>
                <a:ea typeface="Arial"/>
                <a:cs typeface="Arial"/>
                <a:sym typeface="Arial"/>
              </a:rPr>
              <a:t>opportunité économique </a:t>
            </a:r>
            <a:r>
              <a:rPr lang="fr" sz="800">
                <a:solidFill>
                  <a:schemeClr val="dk1"/>
                </a:solidFill>
                <a:latin typeface="Arial"/>
                <a:ea typeface="Arial"/>
                <a:cs typeface="Arial"/>
                <a:sym typeface="Arial"/>
              </a:rPr>
              <a:t>plus durable pour academy dans ces pays.</a:t>
            </a:r>
            <a:endParaRPr sz="800">
              <a:solidFill>
                <a:schemeClr val="dk1"/>
              </a:solidFill>
              <a:latin typeface="Arial"/>
              <a:ea typeface="Arial"/>
              <a:cs typeface="Arial"/>
              <a:sym typeface="Arial"/>
            </a:endParaRPr>
          </a:p>
          <a:p>
            <a:pPr indent="0" lvl="0" marL="0" rtl="0" algn="l">
              <a:spcBef>
                <a:spcPts val="1600"/>
              </a:spcBef>
              <a:spcAft>
                <a:spcPts val="1600"/>
              </a:spcAft>
              <a:buNone/>
            </a:pPr>
            <a:r>
              <a:t/>
            </a:r>
            <a:endParaRPr b="1" sz="700">
              <a:solidFill>
                <a:schemeClr val="dk1"/>
              </a:solidFill>
              <a:latin typeface="Arial"/>
              <a:ea typeface="Arial"/>
              <a:cs typeface="Arial"/>
              <a:sym typeface="Arial"/>
            </a:endParaRPr>
          </a:p>
        </p:txBody>
      </p:sp>
      <p:pic>
        <p:nvPicPr>
          <p:cNvPr id="124" name="Google Shape;124;p22"/>
          <p:cNvPicPr preferRelativeResize="0"/>
          <p:nvPr/>
        </p:nvPicPr>
        <p:blipFill>
          <a:blip r:embed="rId3">
            <a:alphaModFix/>
          </a:blip>
          <a:stretch>
            <a:fillRect/>
          </a:stretch>
        </p:blipFill>
        <p:spPr>
          <a:xfrm>
            <a:off x="152400" y="1642094"/>
            <a:ext cx="4527600" cy="2509584"/>
          </a:xfrm>
          <a:prstGeom prst="rect">
            <a:avLst/>
          </a:prstGeom>
          <a:noFill/>
          <a:ln>
            <a:noFill/>
          </a:ln>
        </p:spPr>
      </p:pic>
      <p:sp>
        <p:nvSpPr>
          <p:cNvPr id="125" name="Google Shape;125;p22"/>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2.2 - Analyse par indicateur</a:t>
            </a:r>
            <a:endParaRPr/>
          </a:p>
        </p:txBody>
      </p:sp>
      <p:sp>
        <p:nvSpPr>
          <p:cNvPr id="131" name="Google Shape;131;p23"/>
          <p:cNvSpPr txBox="1"/>
          <p:nvPr>
            <p:ph idx="2" type="body"/>
          </p:nvPr>
        </p:nvSpPr>
        <p:spPr>
          <a:xfrm>
            <a:off x="4832400" y="1152475"/>
            <a:ext cx="3999900" cy="3811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fr" sz="1200">
                <a:solidFill>
                  <a:schemeClr val="dk1"/>
                </a:solidFill>
                <a:latin typeface="Arial"/>
                <a:ea typeface="Arial"/>
                <a:cs typeface="Arial"/>
                <a:sym typeface="Arial"/>
              </a:rPr>
              <a:t>Inscription dans l’enseignement </a:t>
            </a:r>
            <a:br>
              <a:rPr b="1" lang="fr" sz="1200">
                <a:solidFill>
                  <a:schemeClr val="dk1"/>
                </a:solidFill>
                <a:latin typeface="Arial"/>
                <a:ea typeface="Arial"/>
                <a:cs typeface="Arial"/>
                <a:sym typeface="Arial"/>
              </a:rPr>
            </a:br>
            <a:br>
              <a:rPr b="1" lang="fr" sz="1200">
                <a:solidFill>
                  <a:schemeClr val="dk1"/>
                </a:solidFill>
                <a:latin typeface="Arial"/>
                <a:ea typeface="Arial"/>
                <a:cs typeface="Arial"/>
                <a:sym typeface="Arial"/>
              </a:rPr>
            </a:br>
            <a:r>
              <a:rPr lang="fr" sz="800">
                <a:solidFill>
                  <a:schemeClr val="dk1"/>
                </a:solidFill>
                <a:latin typeface="Arial"/>
                <a:ea typeface="Arial"/>
                <a:cs typeface="Arial"/>
                <a:sym typeface="Arial"/>
              </a:rPr>
              <a:t>Un volume élevé d’inscriptions dans l’enseignement supérieur traduit une dynamique éducative forte et un intérêt marqué pour la poursuite d’études, ce qui peut favoriser l’adoption de solutions de formation complémentaires comme celles proposées par academy.</a:t>
            </a:r>
            <a:endParaRPr sz="800">
              <a:solidFill>
                <a:schemeClr val="dk1"/>
              </a:solidFill>
              <a:latin typeface="Arial"/>
              <a:ea typeface="Arial"/>
              <a:cs typeface="Arial"/>
              <a:sym typeface="Arial"/>
            </a:endParaRPr>
          </a:p>
          <a:p>
            <a:pPr indent="-279400" lvl="0" marL="457200" rtl="0" algn="just">
              <a:spcBef>
                <a:spcPts val="1600"/>
              </a:spcBef>
              <a:spcAft>
                <a:spcPts val="0"/>
              </a:spcAft>
              <a:buClr>
                <a:schemeClr val="dk1"/>
              </a:buClr>
              <a:buSzPts val="800"/>
              <a:buFont typeface="Arial"/>
              <a:buChar char="●"/>
            </a:pPr>
            <a:r>
              <a:rPr lang="fr" sz="800">
                <a:solidFill>
                  <a:schemeClr val="dk1"/>
                </a:solidFill>
                <a:latin typeface="Arial"/>
                <a:ea typeface="Arial"/>
                <a:cs typeface="Arial"/>
                <a:sym typeface="Arial"/>
              </a:rPr>
              <a:t>Les trois géants démographiques : Chine, Inde, États-Unis dominent largement avec</a:t>
            </a:r>
            <a:r>
              <a:rPr b="1" lang="fr" sz="800">
                <a:solidFill>
                  <a:schemeClr val="dk1"/>
                </a:solidFill>
                <a:latin typeface="Arial"/>
                <a:ea typeface="Arial"/>
                <a:cs typeface="Arial"/>
                <a:sym typeface="Arial"/>
              </a:rPr>
              <a:t> plus de 17 millions d’inscrits</a:t>
            </a:r>
            <a:r>
              <a:rPr lang="fr" sz="800">
                <a:solidFill>
                  <a:schemeClr val="dk1"/>
                </a:solidFill>
                <a:latin typeface="Arial"/>
                <a:ea typeface="Arial"/>
                <a:cs typeface="Arial"/>
                <a:sym typeface="Arial"/>
              </a:rPr>
              <a:t> chacun.</a:t>
            </a:r>
            <a:endParaRPr sz="800">
              <a:solidFill>
                <a:schemeClr val="dk1"/>
              </a:solidFill>
              <a:latin typeface="Arial"/>
              <a:ea typeface="Arial"/>
              <a:cs typeface="Arial"/>
              <a:sym typeface="Arial"/>
            </a:endParaRPr>
          </a:p>
          <a:p>
            <a:pPr indent="-279400" lvl="0" marL="457200" rtl="0" algn="just">
              <a:spcBef>
                <a:spcPts val="1600"/>
              </a:spcBef>
              <a:spcAft>
                <a:spcPts val="0"/>
              </a:spcAft>
              <a:buClr>
                <a:schemeClr val="dk1"/>
              </a:buClr>
              <a:buSzPts val="800"/>
              <a:buFont typeface="Arial"/>
              <a:buChar char="●"/>
            </a:pPr>
            <a:r>
              <a:rPr lang="fr" sz="800">
                <a:solidFill>
                  <a:schemeClr val="dk1"/>
                </a:solidFill>
                <a:latin typeface="Arial"/>
                <a:ea typeface="Arial"/>
                <a:cs typeface="Arial"/>
                <a:sym typeface="Arial"/>
              </a:rPr>
              <a:t>La présence de pays émergents comme l’Indonésie, le Brésil et l’Iran montre une </a:t>
            </a:r>
            <a:r>
              <a:rPr b="1" lang="fr" sz="800">
                <a:solidFill>
                  <a:schemeClr val="dk1"/>
                </a:solidFill>
                <a:latin typeface="Arial"/>
                <a:ea typeface="Arial"/>
                <a:cs typeface="Arial"/>
                <a:sym typeface="Arial"/>
              </a:rPr>
              <a:t>dynamique éducative croissante </a:t>
            </a:r>
            <a:r>
              <a:rPr lang="fr" sz="800">
                <a:solidFill>
                  <a:schemeClr val="dk1"/>
                </a:solidFill>
                <a:latin typeface="Arial"/>
                <a:ea typeface="Arial"/>
                <a:cs typeface="Arial"/>
                <a:sym typeface="Arial"/>
              </a:rPr>
              <a:t>dans ces régions.</a:t>
            </a:r>
            <a:endParaRPr sz="800">
              <a:solidFill>
                <a:schemeClr val="dk1"/>
              </a:solidFill>
              <a:latin typeface="Arial"/>
              <a:ea typeface="Arial"/>
              <a:cs typeface="Arial"/>
              <a:sym typeface="Arial"/>
            </a:endParaRPr>
          </a:p>
          <a:p>
            <a:pPr indent="-279400" lvl="0" marL="457200" rtl="0" algn="just">
              <a:spcBef>
                <a:spcPts val="1000"/>
              </a:spcBef>
              <a:spcAft>
                <a:spcPts val="0"/>
              </a:spcAft>
              <a:buClr>
                <a:schemeClr val="dk1"/>
              </a:buClr>
              <a:buSzPts val="800"/>
              <a:buFont typeface="Arial"/>
              <a:buChar char="●"/>
            </a:pPr>
            <a:r>
              <a:rPr lang="fr" sz="800">
                <a:solidFill>
                  <a:schemeClr val="dk1"/>
                </a:solidFill>
                <a:latin typeface="Arial"/>
                <a:ea typeface="Arial"/>
                <a:cs typeface="Arial"/>
                <a:sym typeface="Arial"/>
              </a:rPr>
              <a:t>Les pays asiatiques sont fortement représentés, traduisant une forte </a:t>
            </a:r>
            <a:r>
              <a:rPr b="1" lang="fr" sz="800">
                <a:solidFill>
                  <a:schemeClr val="dk1"/>
                </a:solidFill>
                <a:latin typeface="Arial"/>
                <a:ea typeface="Arial"/>
                <a:cs typeface="Arial"/>
                <a:sym typeface="Arial"/>
              </a:rPr>
              <a:t>valorisation </a:t>
            </a:r>
            <a:r>
              <a:rPr lang="fr" sz="800">
                <a:solidFill>
                  <a:schemeClr val="dk1"/>
                </a:solidFill>
                <a:latin typeface="Arial"/>
                <a:ea typeface="Arial"/>
                <a:cs typeface="Arial"/>
                <a:sym typeface="Arial"/>
              </a:rPr>
              <a:t>de l’enseignement supérieur.</a:t>
            </a:r>
            <a:endParaRPr sz="800">
              <a:solidFill>
                <a:schemeClr val="dk1"/>
              </a:solidFill>
              <a:latin typeface="Arial"/>
              <a:ea typeface="Arial"/>
              <a:cs typeface="Arial"/>
              <a:sym typeface="Arial"/>
            </a:endParaRPr>
          </a:p>
          <a:p>
            <a:pPr indent="-279400" lvl="0" marL="457200" rtl="0" algn="just">
              <a:spcBef>
                <a:spcPts val="1000"/>
              </a:spcBef>
              <a:spcAft>
                <a:spcPts val="0"/>
              </a:spcAft>
              <a:buClr>
                <a:schemeClr val="dk1"/>
              </a:buClr>
              <a:buSzPts val="800"/>
              <a:buFont typeface="Arial"/>
              <a:buChar char="●"/>
            </a:pPr>
            <a:r>
              <a:rPr lang="fr" sz="800">
                <a:solidFill>
                  <a:schemeClr val="dk1"/>
                </a:solidFill>
                <a:latin typeface="Arial"/>
                <a:ea typeface="Arial"/>
                <a:cs typeface="Arial"/>
                <a:sym typeface="Arial"/>
              </a:rPr>
              <a:t>Ce volume d’inscriptions reflète </a:t>
            </a:r>
            <a:r>
              <a:rPr b="1" lang="fr" sz="800">
                <a:solidFill>
                  <a:schemeClr val="dk1"/>
                </a:solidFill>
                <a:latin typeface="Arial"/>
                <a:ea typeface="Arial"/>
                <a:cs typeface="Arial"/>
                <a:sym typeface="Arial"/>
              </a:rPr>
              <a:t>un marché potentiel</a:t>
            </a:r>
            <a:r>
              <a:rPr lang="fr" sz="800">
                <a:solidFill>
                  <a:schemeClr val="dk1"/>
                </a:solidFill>
                <a:latin typeface="Arial"/>
                <a:ea typeface="Arial"/>
                <a:cs typeface="Arial"/>
                <a:sym typeface="Arial"/>
              </a:rPr>
              <a:t> important pour des services de formation complémentaire.</a:t>
            </a:r>
            <a:endParaRPr sz="800">
              <a:solidFill>
                <a:schemeClr val="dk1"/>
              </a:solidFill>
              <a:latin typeface="Arial"/>
              <a:ea typeface="Arial"/>
              <a:cs typeface="Arial"/>
              <a:sym typeface="Arial"/>
            </a:endParaRPr>
          </a:p>
          <a:p>
            <a:pPr indent="0" lvl="0" marL="0" rtl="0" algn="just">
              <a:spcBef>
                <a:spcPts val="1600"/>
              </a:spcBef>
              <a:spcAft>
                <a:spcPts val="0"/>
              </a:spcAft>
              <a:buNone/>
            </a:pPr>
            <a:r>
              <a:t/>
            </a:r>
            <a:endParaRPr sz="800">
              <a:solidFill>
                <a:schemeClr val="dk1"/>
              </a:solidFill>
              <a:latin typeface="Arial"/>
              <a:ea typeface="Arial"/>
              <a:cs typeface="Arial"/>
              <a:sym typeface="Arial"/>
            </a:endParaRPr>
          </a:p>
          <a:p>
            <a:pPr indent="0" lvl="0" marL="0" rtl="0" algn="just">
              <a:spcBef>
                <a:spcPts val="1600"/>
              </a:spcBef>
              <a:spcAft>
                <a:spcPts val="0"/>
              </a:spcAft>
              <a:buNone/>
            </a:pPr>
            <a:r>
              <a:t/>
            </a:r>
            <a:endParaRPr b="1" sz="800">
              <a:solidFill>
                <a:schemeClr val="lt1"/>
              </a:solidFill>
              <a:highlight>
                <a:schemeClr val="dk1"/>
              </a:highlight>
              <a:latin typeface="Arial"/>
              <a:ea typeface="Arial"/>
              <a:cs typeface="Arial"/>
              <a:sym typeface="Arial"/>
            </a:endParaRPr>
          </a:p>
          <a:p>
            <a:pPr indent="0" lvl="0" marL="0" rtl="0" algn="just">
              <a:spcBef>
                <a:spcPts val="0"/>
              </a:spcBef>
              <a:spcAft>
                <a:spcPts val="0"/>
              </a:spcAft>
              <a:buNone/>
            </a:pPr>
            <a:r>
              <a:t/>
            </a:r>
            <a:endParaRPr b="1" sz="800">
              <a:solidFill>
                <a:schemeClr val="lt1"/>
              </a:solidFill>
              <a:highlight>
                <a:schemeClr val="dk1"/>
              </a:highlight>
              <a:latin typeface="Arial"/>
              <a:ea typeface="Arial"/>
              <a:cs typeface="Arial"/>
              <a:sym typeface="Arial"/>
            </a:endParaRPr>
          </a:p>
        </p:txBody>
      </p:sp>
      <p:pic>
        <p:nvPicPr>
          <p:cNvPr id="132" name="Google Shape;132;p23"/>
          <p:cNvPicPr preferRelativeResize="0"/>
          <p:nvPr/>
        </p:nvPicPr>
        <p:blipFill>
          <a:blip r:embed="rId3">
            <a:alphaModFix/>
          </a:blip>
          <a:stretch>
            <a:fillRect/>
          </a:stretch>
        </p:blipFill>
        <p:spPr>
          <a:xfrm>
            <a:off x="152400" y="1651726"/>
            <a:ext cx="4527601" cy="2589097"/>
          </a:xfrm>
          <a:prstGeom prst="rect">
            <a:avLst/>
          </a:prstGeom>
          <a:noFill/>
          <a:ln>
            <a:noFill/>
          </a:ln>
        </p:spPr>
      </p:pic>
      <p:sp>
        <p:nvSpPr>
          <p:cNvPr id="133" name="Google Shape;133;p23"/>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2.2 - Analyse par indicateur</a:t>
            </a:r>
            <a:endParaRPr/>
          </a:p>
        </p:txBody>
      </p:sp>
      <p:sp>
        <p:nvSpPr>
          <p:cNvPr id="139" name="Google Shape;139;p24"/>
          <p:cNvSpPr txBox="1"/>
          <p:nvPr>
            <p:ph idx="2" type="body"/>
          </p:nvPr>
        </p:nvSpPr>
        <p:spPr>
          <a:xfrm>
            <a:off x="4832400" y="1152475"/>
            <a:ext cx="3999900" cy="3811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fr" sz="1200">
                <a:solidFill>
                  <a:schemeClr val="dk1"/>
                </a:solidFill>
                <a:latin typeface="Arial"/>
                <a:ea typeface="Arial"/>
                <a:cs typeface="Arial"/>
                <a:sym typeface="Arial"/>
              </a:rPr>
              <a:t>RNB par habitant (PPA, $ internationaux)</a:t>
            </a:r>
            <a:br>
              <a:rPr b="1" lang="fr" sz="1200">
                <a:solidFill>
                  <a:schemeClr val="dk1"/>
                </a:solidFill>
                <a:latin typeface="Arial"/>
                <a:ea typeface="Arial"/>
                <a:cs typeface="Arial"/>
                <a:sym typeface="Arial"/>
              </a:rPr>
            </a:br>
            <a:br>
              <a:rPr b="1" lang="fr" sz="800">
                <a:solidFill>
                  <a:schemeClr val="dk1"/>
                </a:solidFill>
                <a:latin typeface="Arial"/>
                <a:ea typeface="Arial"/>
                <a:cs typeface="Arial"/>
                <a:sym typeface="Arial"/>
              </a:rPr>
            </a:br>
            <a:r>
              <a:rPr lang="fr" sz="800">
                <a:solidFill>
                  <a:schemeClr val="dk1"/>
                </a:solidFill>
                <a:latin typeface="Arial"/>
                <a:ea typeface="Arial"/>
                <a:cs typeface="Arial"/>
                <a:sym typeface="Arial"/>
              </a:rPr>
              <a:t>Le RNB par habitant permet d’évaluer le pouvoir d’achat moyen dans chaque pays, un facteur clé pour anticiper la capacité des ménages à investir dans des services éducatifs privés.</a:t>
            </a:r>
            <a:endParaRPr sz="800">
              <a:solidFill>
                <a:schemeClr val="dk1"/>
              </a:solidFill>
              <a:latin typeface="Arial"/>
              <a:ea typeface="Arial"/>
              <a:cs typeface="Arial"/>
              <a:sym typeface="Arial"/>
            </a:endParaRPr>
          </a:p>
          <a:p>
            <a:pPr indent="-279400" lvl="0" marL="457200" rtl="0" algn="just">
              <a:spcBef>
                <a:spcPts val="1600"/>
              </a:spcBef>
              <a:spcAft>
                <a:spcPts val="0"/>
              </a:spcAft>
              <a:buClr>
                <a:schemeClr val="dk1"/>
              </a:buClr>
              <a:buSzPts val="800"/>
              <a:buFont typeface="Arial"/>
              <a:buChar char="●"/>
            </a:pPr>
            <a:r>
              <a:rPr lang="fr" sz="800">
                <a:solidFill>
                  <a:schemeClr val="dk1"/>
                </a:solidFill>
                <a:latin typeface="Arial"/>
                <a:ea typeface="Arial"/>
                <a:cs typeface="Arial"/>
                <a:sym typeface="Arial"/>
              </a:rPr>
              <a:t>Les pays du Golfe (Qatar, Koweït, Émirats) affichent les</a:t>
            </a:r>
            <a:r>
              <a:rPr b="1" lang="fr" sz="800">
                <a:solidFill>
                  <a:schemeClr val="dk1"/>
                </a:solidFill>
                <a:latin typeface="Arial"/>
                <a:ea typeface="Arial"/>
                <a:cs typeface="Arial"/>
                <a:sym typeface="Arial"/>
              </a:rPr>
              <a:t> niveaux de revenu les plus élevés</a:t>
            </a:r>
            <a:r>
              <a:rPr lang="fr" sz="800">
                <a:solidFill>
                  <a:schemeClr val="dk1"/>
                </a:solidFill>
                <a:latin typeface="Arial"/>
                <a:ea typeface="Arial"/>
                <a:cs typeface="Arial"/>
                <a:sym typeface="Arial"/>
              </a:rPr>
              <a:t>, dépassant les 70 000 $.</a:t>
            </a:r>
            <a:endParaRPr sz="800">
              <a:solidFill>
                <a:schemeClr val="dk1"/>
              </a:solidFill>
              <a:latin typeface="Arial"/>
              <a:ea typeface="Arial"/>
              <a:cs typeface="Arial"/>
              <a:sym typeface="Arial"/>
            </a:endParaRPr>
          </a:p>
          <a:p>
            <a:pPr indent="-279400" lvl="0" marL="457200" rtl="0" algn="just">
              <a:spcBef>
                <a:spcPts val="1600"/>
              </a:spcBef>
              <a:spcAft>
                <a:spcPts val="0"/>
              </a:spcAft>
              <a:buClr>
                <a:schemeClr val="dk1"/>
              </a:buClr>
              <a:buSzPts val="800"/>
              <a:buFont typeface="Arial"/>
              <a:buChar char="●"/>
            </a:pPr>
            <a:r>
              <a:rPr lang="fr" sz="800">
                <a:solidFill>
                  <a:schemeClr val="dk1"/>
                </a:solidFill>
                <a:latin typeface="Arial"/>
                <a:ea typeface="Arial"/>
                <a:cs typeface="Arial"/>
                <a:sym typeface="Arial"/>
              </a:rPr>
              <a:t>La présence de micro-États et territoires à</a:t>
            </a:r>
            <a:r>
              <a:rPr b="1" lang="fr" sz="800">
                <a:solidFill>
                  <a:schemeClr val="dk1"/>
                </a:solidFill>
                <a:latin typeface="Arial"/>
                <a:ea typeface="Arial"/>
                <a:cs typeface="Arial"/>
                <a:sym typeface="Arial"/>
              </a:rPr>
              <a:t> forte concentration de richesse </a:t>
            </a:r>
            <a:r>
              <a:rPr lang="fr" sz="800">
                <a:solidFill>
                  <a:schemeClr val="dk1"/>
                </a:solidFill>
                <a:latin typeface="Arial"/>
                <a:ea typeface="Arial"/>
                <a:cs typeface="Arial"/>
                <a:sym typeface="Arial"/>
              </a:rPr>
              <a:t>(Macao, Bermudes, Luxembourg) est notable.</a:t>
            </a:r>
            <a:endParaRPr sz="800">
              <a:solidFill>
                <a:schemeClr val="dk1"/>
              </a:solidFill>
              <a:latin typeface="Arial"/>
              <a:ea typeface="Arial"/>
              <a:cs typeface="Arial"/>
              <a:sym typeface="Arial"/>
            </a:endParaRPr>
          </a:p>
          <a:p>
            <a:pPr indent="-279400" lvl="0" marL="457200" rtl="0" algn="just">
              <a:spcBef>
                <a:spcPts val="1000"/>
              </a:spcBef>
              <a:spcAft>
                <a:spcPts val="0"/>
              </a:spcAft>
              <a:buClr>
                <a:schemeClr val="dk1"/>
              </a:buClr>
              <a:buSzPts val="800"/>
              <a:buFont typeface="Arial"/>
              <a:buChar char="●"/>
            </a:pPr>
            <a:r>
              <a:rPr lang="fr" sz="800">
                <a:solidFill>
                  <a:schemeClr val="dk1"/>
                </a:solidFill>
                <a:latin typeface="Arial"/>
                <a:ea typeface="Arial"/>
                <a:cs typeface="Arial"/>
                <a:sym typeface="Arial"/>
              </a:rPr>
              <a:t>Ces pays disposent d’un</a:t>
            </a:r>
            <a:r>
              <a:rPr b="1" lang="fr" sz="800">
                <a:solidFill>
                  <a:schemeClr val="dk1"/>
                </a:solidFill>
                <a:latin typeface="Arial"/>
                <a:ea typeface="Arial"/>
                <a:cs typeface="Arial"/>
                <a:sym typeface="Arial"/>
              </a:rPr>
              <a:t> pouvoir d’achat élevé,</a:t>
            </a:r>
            <a:r>
              <a:rPr lang="fr" sz="800">
                <a:solidFill>
                  <a:schemeClr val="dk1"/>
                </a:solidFill>
                <a:latin typeface="Arial"/>
                <a:ea typeface="Arial"/>
                <a:cs typeface="Arial"/>
                <a:sym typeface="Arial"/>
              </a:rPr>
              <a:t> favorable à </a:t>
            </a:r>
            <a:r>
              <a:rPr b="1" lang="fr" sz="800">
                <a:solidFill>
                  <a:schemeClr val="dk1"/>
                </a:solidFill>
                <a:latin typeface="Arial"/>
                <a:ea typeface="Arial"/>
                <a:cs typeface="Arial"/>
                <a:sym typeface="Arial"/>
              </a:rPr>
              <a:t>l’investissement </a:t>
            </a:r>
            <a:r>
              <a:rPr lang="fr" sz="800">
                <a:solidFill>
                  <a:schemeClr val="dk1"/>
                </a:solidFill>
                <a:latin typeface="Arial"/>
                <a:ea typeface="Arial"/>
                <a:cs typeface="Arial"/>
                <a:sym typeface="Arial"/>
              </a:rPr>
              <a:t>dans des services éducatifs privés.</a:t>
            </a:r>
            <a:endParaRPr sz="800">
              <a:solidFill>
                <a:schemeClr val="dk1"/>
              </a:solidFill>
              <a:latin typeface="Arial"/>
              <a:ea typeface="Arial"/>
              <a:cs typeface="Arial"/>
              <a:sym typeface="Arial"/>
            </a:endParaRPr>
          </a:p>
          <a:p>
            <a:pPr indent="-279400" lvl="0" marL="457200" rtl="0" algn="just">
              <a:spcBef>
                <a:spcPts val="1000"/>
              </a:spcBef>
              <a:spcAft>
                <a:spcPts val="0"/>
              </a:spcAft>
              <a:buClr>
                <a:schemeClr val="dk1"/>
              </a:buClr>
              <a:buSzPts val="800"/>
              <a:buFont typeface="Arial"/>
              <a:buChar char="●"/>
            </a:pPr>
            <a:r>
              <a:rPr lang="fr" sz="800">
                <a:solidFill>
                  <a:schemeClr val="dk1"/>
                </a:solidFill>
                <a:latin typeface="Arial"/>
                <a:ea typeface="Arial"/>
                <a:cs typeface="Arial"/>
                <a:sym typeface="Arial"/>
              </a:rPr>
              <a:t>Le RNB élevé peut aussi indiquer</a:t>
            </a:r>
            <a:r>
              <a:rPr b="1" lang="fr" sz="800">
                <a:solidFill>
                  <a:schemeClr val="dk1"/>
                </a:solidFill>
                <a:latin typeface="Arial"/>
                <a:ea typeface="Arial"/>
                <a:cs typeface="Arial"/>
                <a:sym typeface="Arial"/>
              </a:rPr>
              <a:t> une forte demande en formation</a:t>
            </a:r>
            <a:r>
              <a:rPr lang="fr" sz="800">
                <a:solidFill>
                  <a:schemeClr val="dk1"/>
                </a:solidFill>
                <a:latin typeface="Arial"/>
                <a:ea typeface="Arial"/>
                <a:cs typeface="Arial"/>
                <a:sym typeface="Arial"/>
              </a:rPr>
              <a:t> haut de gamme ou spécialisée</a:t>
            </a:r>
            <a:endParaRPr sz="800">
              <a:solidFill>
                <a:schemeClr val="dk1"/>
              </a:solidFill>
              <a:latin typeface="Arial"/>
              <a:ea typeface="Arial"/>
              <a:cs typeface="Arial"/>
              <a:sym typeface="Arial"/>
            </a:endParaRPr>
          </a:p>
          <a:p>
            <a:pPr indent="0" lvl="0" marL="0" rtl="0" algn="just">
              <a:spcBef>
                <a:spcPts val="1600"/>
              </a:spcBef>
              <a:spcAft>
                <a:spcPts val="1600"/>
              </a:spcAft>
              <a:buNone/>
            </a:pPr>
            <a:r>
              <a:t/>
            </a:r>
            <a:endParaRPr sz="800">
              <a:solidFill>
                <a:schemeClr val="dk1"/>
              </a:solidFill>
              <a:latin typeface="Arial"/>
              <a:ea typeface="Arial"/>
              <a:cs typeface="Arial"/>
              <a:sym typeface="Arial"/>
            </a:endParaRPr>
          </a:p>
        </p:txBody>
      </p:sp>
      <p:pic>
        <p:nvPicPr>
          <p:cNvPr id="140" name="Google Shape;140;p24"/>
          <p:cNvPicPr preferRelativeResize="0"/>
          <p:nvPr/>
        </p:nvPicPr>
        <p:blipFill>
          <a:blip r:embed="rId3">
            <a:alphaModFix/>
          </a:blip>
          <a:stretch>
            <a:fillRect/>
          </a:stretch>
        </p:blipFill>
        <p:spPr>
          <a:xfrm>
            <a:off x="152400" y="1738425"/>
            <a:ext cx="4520899" cy="2368675"/>
          </a:xfrm>
          <a:prstGeom prst="rect">
            <a:avLst/>
          </a:prstGeom>
          <a:noFill/>
          <a:ln>
            <a:noFill/>
          </a:ln>
        </p:spPr>
      </p:pic>
      <p:sp>
        <p:nvSpPr>
          <p:cNvPr id="141" name="Google Shape;141;p24"/>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2.2 - Analyse par indicateur</a:t>
            </a:r>
            <a:endParaRPr/>
          </a:p>
        </p:txBody>
      </p:sp>
      <p:sp>
        <p:nvSpPr>
          <p:cNvPr id="147" name="Google Shape;147;p25"/>
          <p:cNvSpPr txBox="1"/>
          <p:nvPr>
            <p:ph idx="2" type="body"/>
          </p:nvPr>
        </p:nvSpPr>
        <p:spPr>
          <a:xfrm>
            <a:off x="4832400" y="1152475"/>
            <a:ext cx="3999900" cy="3811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fr" sz="1200">
                <a:solidFill>
                  <a:schemeClr val="dk1"/>
                </a:solidFill>
                <a:latin typeface="Arial"/>
                <a:ea typeface="Arial"/>
                <a:cs typeface="Arial"/>
                <a:sym typeface="Arial"/>
              </a:rPr>
              <a:t>Utilisateurs d'Internet (pour 100 personnes)</a:t>
            </a:r>
            <a:br>
              <a:rPr b="1" lang="fr" sz="1200">
                <a:solidFill>
                  <a:schemeClr val="dk1"/>
                </a:solidFill>
                <a:latin typeface="Arial"/>
                <a:ea typeface="Arial"/>
                <a:cs typeface="Arial"/>
                <a:sym typeface="Arial"/>
              </a:rPr>
            </a:br>
            <a:br>
              <a:rPr b="1" lang="fr" sz="800">
                <a:solidFill>
                  <a:schemeClr val="dk1"/>
                </a:solidFill>
                <a:latin typeface="Arial"/>
                <a:ea typeface="Arial"/>
                <a:cs typeface="Arial"/>
                <a:sym typeface="Arial"/>
              </a:rPr>
            </a:br>
            <a:r>
              <a:rPr lang="fr" sz="800">
                <a:solidFill>
                  <a:schemeClr val="dk1"/>
                </a:solidFill>
                <a:latin typeface="Arial"/>
                <a:ea typeface="Arial"/>
                <a:cs typeface="Arial"/>
                <a:sym typeface="Arial"/>
              </a:rPr>
              <a:t>L</a:t>
            </a:r>
            <a:r>
              <a:rPr lang="fr" sz="800">
                <a:solidFill>
                  <a:schemeClr val="dk1"/>
                </a:solidFill>
                <a:latin typeface="Arial"/>
                <a:ea typeface="Arial"/>
                <a:cs typeface="Arial"/>
                <a:sym typeface="Arial"/>
              </a:rPr>
              <a:t>e taux d’utilisation d’Internet reflète le niveau de connectivité numérique d’un pays, un prérequis essentiel pour envisager la diffusion efficace de formations en ligne.</a:t>
            </a:r>
            <a:endParaRPr sz="800">
              <a:solidFill>
                <a:schemeClr val="dk1"/>
              </a:solidFill>
              <a:latin typeface="Arial"/>
              <a:ea typeface="Arial"/>
              <a:cs typeface="Arial"/>
              <a:sym typeface="Arial"/>
            </a:endParaRPr>
          </a:p>
          <a:p>
            <a:pPr indent="-279400" lvl="0" marL="457200" rtl="0" algn="just">
              <a:spcBef>
                <a:spcPts val="1600"/>
              </a:spcBef>
              <a:spcAft>
                <a:spcPts val="0"/>
              </a:spcAft>
              <a:buClr>
                <a:schemeClr val="dk1"/>
              </a:buClr>
              <a:buSzPts val="800"/>
              <a:buFont typeface="Arial"/>
              <a:buChar char="●"/>
            </a:pPr>
            <a:r>
              <a:rPr lang="fr" sz="800">
                <a:solidFill>
                  <a:schemeClr val="dk1"/>
                </a:solidFill>
                <a:latin typeface="Arial"/>
                <a:ea typeface="Arial"/>
                <a:cs typeface="Arial"/>
                <a:sym typeface="Arial"/>
              </a:rPr>
              <a:t>Les pays nordiques (Islande, Norvège, Suède, Finlande) dominent avec des </a:t>
            </a:r>
            <a:r>
              <a:rPr b="1" lang="fr" sz="800">
                <a:solidFill>
                  <a:schemeClr val="dk1"/>
                </a:solidFill>
                <a:latin typeface="Arial"/>
                <a:ea typeface="Arial"/>
                <a:cs typeface="Arial"/>
                <a:sym typeface="Arial"/>
              </a:rPr>
              <a:t>taux de connectivité supérieurs à 75 %.</a:t>
            </a:r>
            <a:endParaRPr b="1" sz="800">
              <a:solidFill>
                <a:schemeClr val="dk1"/>
              </a:solidFill>
              <a:latin typeface="Arial"/>
              <a:ea typeface="Arial"/>
              <a:cs typeface="Arial"/>
              <a:sym typeface="Arial"/>
            </a:endParaRPr>
          </a:p>
          <a:p>
            <a:pPr indent="-279400" lvl="0" marL="457200" rtl="0" algn="just">
              <a:spcBef>
                <a:spcPts val="1600"/>
              </a:spcBef>
              <a:spcAft>
                <a:spcPts val="0"/>
              </a:spcAft>
              <a:buClr>
                <a:schemeClr val="dk1"/>
              </a:buClr>
              <a:buSzPts val="800"/>
              <a:buFont typeface="Arial"/>
              <a:buChar char="●"/>
            </a:pPr>
            <a:r>
              <a:rPr lang="fr" sz="800">
                <a:solidFill>
                  <a:schemeClr val="dk1"/>
                </a:solidFill>
                <a:latin typeface="Arial"/>
                <a:ea typeface="Arial"/>
                <a:cs typeface="Arial"/>
                <a:sym typeface="Arial"/>
              </a:rPr>
              <a:t>La forte pénétration d’Internet dans ces pays garantit une </a:t>
            </a:r>
            <a:r>
              <a:rPr b="1" lang="fr" sz="800">
                <a:solidFill>
                  <a:schemeClr val="dk1"/>
                </a:solidFill>
                <a:latin typeface="Arial"/>
                <a:ea typeface="Arial"/>
                <a:cs typeface="Arial"/>
                <a:sym typeface="Arial"/>
              </a:rPr>
              <a:t>accessibilité optimale</a:t>
            </a:r>
            <a:r>
              <a:rPr lang="fr" sz="800">
                <a:solidFill>
                  <a:schemeClr val="dk1"/>
                </a:solidFill>
                <a:latin typeface="Arial"/>
                <a:ea typeface="Arial"/>
                <a:cs typeface="Arial"/>
                <a:sym typeface="Arial"/>
              </a:rPr>
              <a:t> aux plateformes de formation en ligne.</a:t>
            </a:r>
            <a:endParaRPr sz="800">
              <a:solidFill>
                <a:schemeClr val="dk1"/>
              </a:solidFill>
              <a:latin typeface="Arial"/>
              <a:ea typeface="Arial"/>
              <a:cs typeface="Arial"/>
              <a:sym typeface="Arial"/>
            </a:endParaRPr>
          </a:p>
          <a:p>
            <a:pPr indent="-279400" lvl="0" marL="457200" rtl="0" algn="just">
              <a:spcBef>
                <a:spcPts val="1000"/>
              </a:spcBef>
              <a:spcAft>
                <a:spcPts val="0"/>
              </a:spcAft>
              <a:buClr>
                <a:schemeClr val="dk1"/>
              </a:buClr>
              <a:buSzPts val="800"/>
              <a:buFont typeface="Arial"/>
              <a:buChar char="●"/>
            </a:pPr>
            <a:r>
              <a:rPr lang="fr" sz="800">
                <a:solidFill>
                  <a:schemeClr val="dk1"/>
                </a:solidFill>
                <a:latin typeface="Arial"/>
                <a:ea typeface="Arial"/>
                <a:cs typeface="Arial"/>
                <a:sym typeface="Arial"/>
              </a:rPr>
              <a:t>La présence de pays comme la Corée du Sud et le Canada confirme une </a:t>
            </a:r>
            <a:r>
              <a:rPr b="1" lang="fr" sz="800">
                <a:solidFill>
                  <a:schemeClr val="dk1"/>
                </a:solidFill>
                <a:latin typeface="Arial"/>
                <a:ea typeface="Arial"/>
                <a:cs typeface="Arial"/>
                <a:sym typeface="Arial"/>
              </a:rPr>
              <a:t>maturité numérique</a:t>
            </a:r>
            <a:r>
              <a:rPr lang="fr" sz="800">
                <a:solidFill>
                  <a:schemeClr val="dk1"/>
                </a:solidFill>
                <a:latin typeface="Arial"/>
                <a:ea typeface="Arial"/>
                <a:cs typeface="Arial"/>
                <a:sym typeface="Arial"/>
              </a:rPr>
              <a:t> avancée.</a:t>
            </a:r>
            <a:endParaRPr sz="800">
              <a:solidFill>
                <a:schemeClr val="dk1"/>
              </a:solidFill>
              <a:latin typeface="Arial"/>
              <a:ea typeface="Arial"/>
              <a:cs typeface="Arial"/>
              <a:sym typeface="Arial"/>
            </a:endParaRPr>
          </a:p>
          <a:p>
            <a:pPr indent="-279400" lvl="0" marL="457200" rtl="0" algn="just">
              <a:spcBef>
                <a:spcPts val="1000"/>
              </a:spcBef>
              <a:spcAft>
                <a:spcPts val="0"/>
              </a:spcAft>
              <a:buClr>
                <a:schemeClr val="dk1"/>
              </a:buClr>
              <a:buSzPts val="800"/>
              <a:buFont typeface="Arial"/>
              <a:buChar char="●"/>
            </a:pPr>
            <a:r>
              <a:rPr lang="fr" sz="800">
                <a:solidFill>
                  <a:schemeClr val="dk1"/>
                </a:solidFill>
                <a:latin typeface="Arial"/>
                <a:ea typeface="Arial"/>
                <a:cs typeface="Arial"/>
                <a:sym typeface="Arial"/>
              </a:rPr>
              <a:t>Ces marchés sont </a:t>
            </a:r>
            <a:r>
              <a:rPr b="1" lang="fr" sz="800">
                <a:solidFill>
                  <a:schemeClr val="dk1"/>
                </a:solidFill>
                <a:latin typeface="Arial"/>
                <a:ea typeface="Arial"/>
                <a:cs typeface="Arial"/>
                <a:sym typeface="Arial"/>
              </a:rPr>
              <a:t>idéaux pour des solutions 100 % digitales</a:t>
            </a:r>
            <a:r>
              <a:rPr lang="fr" sz="800">
                <a:solidFill>
                  <a:schemeClr val="dk1"/>
                </a:solidFill>
                <a:latin typeface="Arial"/>
                <a:ea typeface="Arial"/>
                <a:cs typeface="Arial"/>
                <a:sym typeface="Arial"/>
              </a:rPr>
              <a:t> comme celles proposées par academy.</a:t>
            </a:r>
            <a:endParaRPr sz="800">
              <a:solidFill>
                <a:schemeClr val="dk1"/>
              </a:solidFill>
              <a:latin typeface="Arial"/>
              <a:ea typeface="Arial"/>
              <a:cs typeface="Arial"/>
              <a:sym typeface="Arial"/>
            </a:endParaRPr>
          </a:p>
          <a:p>
            <a:pPr indent="0" lvl="0" marL="0" rtl="0" algn="just">
              <a:spcBef>
                <a:spcPts val="1600"/>
              </a:spcBef>
              <a:spcAft>
                <a:spcPts val="1600"/>
              </a:spcAft>
              <a:buNone/>
            </a:pPr>
            <a:r>
              <a:t/>
            </a:r>
            <a:endParaRPr b="1" sz="700">
              <a:solidFill>
                <a:schemeClr val="dk1"/>
              </a:solidFill>
              <a:latin typeface="Arial"/>
              <a:ea typeface="Arial"/>
              <a:cs typeface="Arial"/>
              <a:sym typeface="Arial"/>
            </a:endParaRPr>
          </a:p>
        </p:txBody>
      </p:sp>
      <p:pic>
        <p:nvPicPr>
          <p:cNvPr id="148" name="Google Shape;148;p25"/>
          <p:cNvPicPr preferRelativeResize="0"/>
          <p:nvPr/>
        </p:nvPicPr>
        <p:blipFill>
          <a:blip r:embed="rId3">
            <a:alphaModFix/>
          </a:blip>
          <a:stretch>
            <a:fillRect/>
          </a:stretch>
        </p:blipFill>
        <p:spPr>
          <a:xfrm>
            <a:off x="171675" y="1776950"/>
            <a:ext cx="4527600" cy="2379321"/>
          </a:xfrm>
          <a:prstGeom prst="rect">
            <a:avLst/>
          </a:prstGeom>
          <a:noFill/>
          <a:ln>
            <a:noFill/>
          </a:ln>
        </p:spPr>
      </p:pic>
      <p:sp>
        <p:nvSpPr>
          <p:cNvPr id="149" name="Google Shape;149;p25"/>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2.2 - Analyse par indicateur</a:t>
            </a:r>
            <a:endParaRPr/>
          </a:p>
        </p:txBody>
      </p:sp>
      <p:sp>
        <p:nvSpPr>
          <p:cNvPr id="155" name="Google Shape;155;p26"/>
          <p:cNvSpPr txBox="1"/>
          <p:nvPr>
            <p:ph idx="2" type="body"/>
          </p:nvPr>
        </p:nvSpPr>
        <p:spPr>
          <a:xfrm>
            <a:off x="4832400" y="1152475"/>
            <a:ext cx="3999900" cy="3811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fr" sz="1200">
                <a:solidFill>
                  <a:schemeClr val="dk1"/>
                </a:solidFill>
                <a:latin typeface="Arial"/>
                <a:ea typeface="Arial"/>
                <a:cs typeface="Arial"/>
                <a:sym typeface="Arial"/>
              </a:rPr>
              <a:t>Croissance démographique annuelle (%)</a:t>
            </a:r>
            <a:br>
              <a:rPr b="1" lang="fr" sz="1200">
                <a:solidFill>
                  <a:schemeClr val="dk1"/>
                </a:solidFill>
                <a:latin typeface="Arial"/>
                <a:ea typeface="Arial"/>
                <a:cs typeface="Arial"/>
                <a:sym typeface="Arial"/>
              </a:rPr>
            </a:br>
            <a:br>
              <a:rPr b="1" lang="fr" sz="1200">
                <a:solidFill>
                  <a:schemeClr val="dk1"/>
                </a:solidFill>
                <a:latin typeface="Arial"/>
                <a:ea typeface="Arial"/>
                <a:cs typeface="Arial"/>
                <a:sym typeface="Arial"/>
              </a:rPr>
            </a:br>
            <a:r>
              <a:rPr lang="fr" sz="800">
                <a:solidFill>
                  <a:schemeClr val="dk1"/>
                </a:solidFill>
                <a:latin typeface="Arial"/>
                <a:ea typeface="Arial"/>
                <a:cs typeface="Arial"/>
                <a:sym typeface="Arial"/>
              </a:rPr>
              <a:t>La croissance démographique annuelle permet d’anticiper l’évolution future du nombre de jeunes dans chaque pays, et donc la pérennité du marché éducatif à moyen et long terme.</a:t>
            </a:r>
            <a:endParaRPr sz="800">
              <a:solidFill>
                <a:schemeClr val="dk1"/>
              </a:solidFill>
              <a:latin typeface="Arial"/>
              <a:ea typeface="Arial"/>
              <a:cs typeface="Arial"/>
              <a:sym typeface="Arial"/>
            </a:endParaRPr>
          </a:p>
          <a:p>
            <a:pPr indent="-279400" lvl="0" marL="457200" rtl="0" algn="just">
              <a:spcBef>
                <a:spcPts val="1600"/>
              </a:spcBef>
              <a:spcAft>
                <a:spcPts val="0"/>
              </a:spcAft>
              <a:buClr>
                <a:schemeClr val="dk1"/>
              </a:buClr>
              <a:buSzPts val="800"/>
              <a:buFont typeface="Arial"/>
              <a:buChar char="●"/>
            </a:pPr>
            <a:r>
              <a:rPr lang="fr" sz="800">
                <a:solidFill>
                  <a:schemeClr val="dk1"/>
                </a:solidFill>
                <a:latin typeface="Arial"/>
                <a:ea typeface="Arial"/>
                <a:cs typeface="Arial"/>
                <a:sym typeface="Arial"/>
              </a:rPr>
              <a:t>Les pays du Golfe affichent une </a:t>
            </a:r>
            <a:r>
              <a:rPr b="1" lang="fr" sz="800">
                <a:solidFill>
                  <a:schemeClr val="dk1"/>
                </a:solidFill>
                <a:latin typeface="Arial"/>
                <a:ea typeface="Arial"/>
                <a:cs typeface="Arial"/>
                <a:sym typeface="Arial"/>
              </a:rPr>
              <a:t>croissance exceptionnelle</a:t>
            </a:r>
            <a:r>
              <a:rPr lang="fr" sz="800">
                <a:solidFill>
                  <a:schemeClr val="dk1"/>
                </a:solidFill>
                <a:latin typeface="Arial"/>
                <a:ea typeface="Arial"/>
                <a:cs typeface="Arial"/>
                <a:sym typeface="Arial"/>
              </a:rPr>
              <a:t>, avec le Qatar à plus de 9 %.</a:t>
            </a:r>
            <a:endParaRPr sz="800">
              <a:solidFill>
                <a:schemeClr val="dk1"/>
              </a:solidFill>
              <a:latin typeface="Arial"/>
              <a:ea typeface="Arial"/>
              <a:cs typeface="Arial"/>
              <a:sym typeface="Arial"/>
            </a:endParaRPr>
          </a:p>
          <a:p>
            <a:pPr indent="-279400" lvl="0" marL="457200" rtl="0" algn="just">
              <a:spcBef>
                <a:spcPts val="1600"/>
              </a:spcBef>
              <a:spcAft>
                <a:spcPts val="0"/>
              </a:spcAft>
              <a:buClr>
                <a:schemeClr val="dk1"/>
              </a:buClr>
              <a:buSzPts val="800"/>
              <a:buFont typeface="Arial"/>
              <a:buChar char="●"/>
            </a:pPr>
            <a:r>
              <a:rPr lang="fr" sz="800">
                <a:solidFill>
                  <a:schemeClr val="dk1"/>
                </a:solidFill>
                <a:latin typeface="Arial"/>
                <a:ea typeface="Arial"/>
                <a:cs typeface="Arial"/>
                <a:sym typeface="Arial"/>
              </a:rPr>
              <a:t>Plusieurs pays africains (Niger, Angola, Guinée équatoriale) présentent une</a:t>
            </a:r>
            <a:r>
              <a:rPr b="1" lang="fr" sz="800">
                <a:solidFill>
                  <a:schemeClr val="dk1"/>
                </a:solidFill>
                <a:latin typeface="Arial"/>
                <a:ea typeface="Arial"/>
                <a:cs typeface="Arial"/>
                <a:sym typeface="Arial"/>
              </a:rPr>
              <a:t> dynamique démographique forte.</a:t>
            </a:r>
            <a:endParaRPr b="1" sz="800">
              <a:solidFill>
                <a:schemeClr val="dk1"/>
              </a:solidFill>
              <a:latin typeface="Arial"/>
              <a:ea typeface="Arial"/>
              <a:cs typeface="Arial"/>
              <a:sym typeface="Arial"/>
            </a:endParaRPr>
          </a:p>
          <a:p>
            <a:pPr indent="-279400" lvl="0" marL="457200" rtl="0" algn="just">
              <a:spcBef>
                <a:spcPts val="1000"/>
              </a:spcBef>
              <a:spcAft>
                <a:spcPts val="0"/>
              </a:spcAft>
              <a:buClr>
                <a:schemeClr val="dk1"/>
              </a:buClr>
              <a:buSzPts val="800"/>
              <a:buFont typeface="Arial"/>
              <a:buChar char="●"/>
            </a:pPr>
            <a:r>
              <a:rPr lang="fr" sz="800">
                <a:solidFill>
                  <a:schemeClr val="dk1"/>
                </a:solidFill>
                <a:latin typeface="Arial"/>
                <a:ea typeface="Arial"/>
                <a:cs typeface="Arial"/>
                <a:sym typeface="Arial"/>
              </a:rPr>
              <a:t>Une croissance élevée suggère</a:t>
            </a:r>
            <a:r>
              <a:rPr b="1" lang="fr" sz="800">
                <a:solidFill>
                  <a:schemeClr val="dk1"/>
                </a:solidFill>
                <a:latin typeface="Arial"/>
                <a:ea typeface="Arial"/>
                <a:cs typeface="Arial"/>
                <a:sym typeface="Arial"/>
              </a:rPr>
              <a:t> un élargissement</a:t>
            </a:r>
            <a:r>
              <a:rPr lang="fr" sz="800">
                <a:solidFill>
                  <a:schemeClr val="dk1"/>
                </a:solidFill>
                <a:latin typeface="Arial"/>
                <a:ea typeface="Arial"/>
                <a:cs typeface="Arial"/>
                <a:sym typeface="Arial"/>
              </a:rPr>
              <a:t> futur du marché éducatif, notamment chez les jeunes.</a:t>
            </a:r>
            <a:endParaRPr sz="800">
              <a:solidFill>
                <a:schemeClr val="dk1"/>
              </a:solidFill>
              <a:latin typeface="Arial"/>
              <a:ea typeface="Arial"/>
              <a:cs typeface="Arial"/>
              <a:sym typeface="Arial"/>
            </a:endParaRPr>
          </a:p>
          <a:p>
            <a:pPr indent="-279400" lvl="0" marL="457200" rtl="0" algn="just">
              <a:spcBef>
                <a:spcPts val="1000"/>
              </a:spcBef>
              <a:spcAft>
                <a:spcPts val="0"/>
              </a:spcAft>
              <a:buClr>
                <a:schemeClr val="dk1"/>
              </a:buClr>
              <a:buSzPts val="800"/>
              <a:buFont typeface="Arial"/>
              <a:buChar char="●"/>
            </a:pPr>
            <a:r>
              <a:rPr lang="fr" sz="800">
                <a:solidFill>
                  <a:schemeClr val="dk1"/>
                </a:solidFill>
                <a:latin typeface="Arial"/>
                <a:ea typeface="Arial"/>
                <a:cs typeface="Arial"/>
                <a:sym typeface="Arial"/>
              </a:rPr>
              <a:t>Ces pays peuvent représenter des</a:t>
            </a:r>
            <a:r>
              <a:rPr b="1" lang="fr" sz="800">
                <a:solidFill>
                  <a:schemeClr val="dk1"/>
                </a:solidFill>
                <a:latin typeface="Arial"/>
                <a:ea typeface="Arial"/>
                <a:cs typeface="Arial"/>
                <a:sym typeface="Arial"/>
              </a:rPr>
              <a:t> opportunités à moyen terme</a:t>
            </a:r>
            <a:r>
              <a:rPr lang="fr" sz="800">
                <a:solidFill>
                  <a:schemeClr val="dk1"/>
                </a:solidFill>
                <a:latin typeface="Arial"/>
                <a:ea typeface="Arial"/>
                <a:cs typeface="Arial"/>
                <a:sym typeface="Arial"/>
              </a:rPr>
              <a:t>, malgré des infrastructures parfois limitées.</a:t>
            </a:r>
            <a:endParaRPr sz="800">
              <a:solidFill>
                <a:schemeClr val="dk1"/>
              </a:solidFill>
              <a:latin typeface="Arial"/>
              <a:ea typeface="Arial"/>
              <a:cs typeface="Arial"/>
              <a:sym typeface="Arial"/>
            </a:endParaRPr>
          </a:p>
          <a:p>
            <a:pPr indent="0" lvl="0" marL="0" rtl="0" algn="just">
              <a:spcBef>
                <a:spcPts val="1600"/>
              </a:spcBef>
              <a:spcAft>
                <a:spcPts val="1600"/>
              </a:spcAft>
              <a:buNone/>
            </a:pPr>
            <a:r>
              <a:t/>
            </a:r>
            <a:endParaRPr sz="800">
              <a:solidFill>
                <a:schemeClr val="dk1"/>
              </a:solidFill>
              <a:latin typeface="Arial"/>
              <a:ea typeface="Arial"/>
              <a:cs typeface="Arial"/>
              <a:sym typeface="Arial"/>
            </a:endParaRPr>
          </a:p>
        </p:txBody>
      </p:sp>
      <p:pic>
        <p:nvPicPr>
          <p:cNvPr id="156" name="Google Shape;156;p26"/>
          <p:cNvPicPr preferRelativeResize="0"/>
          <p:nvPr/>
        </p:nvPicPr>
        <p:blipFill>
          <a:blip r:embed="rId3">
            <a:alphaModFix/>
          </a:blip>
          <a:stretch>
            <a:fillRect/>
          </a:stretch>
        </p:blipFill>
        <p:spPr>
          <a:xfrm>
            <a:off x="152400" y="1670990"/>
            <a:ext cx="4527600" cy="2429854"/>
          </a:xfrm>
          <a:prstGeom prst="rect">
            <a:avLst/>
          </a:prstGeom>
          <a:noFill/>
          <a:ln>
            <a:noFill/>
          </a:ln>
        </p:spPr>
      </p:pic>
      <p:sp>
        <p:nvSpPr>
          <p:cNvPr id="157" name="Google Shape;157;p26"/>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2.3 - Les 10 pays les plus prometteur</a:t>
            </a:r>
            <a:endParaRPr/>
          </a:p>
        </p:txBody>
      </p:sp>
      <p:sp>
        <p:nvSpPr>
          <p:cNvPr id="163" name="Google Shape;163;p27"/>
          <p:cNvSpPr txBox="1"/>
          <p:nvPr>
            <p:ph idx="2" type="body"/>
          </p:nvPr>
        </p:nvSpPr>
        <p:spPr>
          <a:xfrm>
            <a:off x="4832400" y="1152475"/>
            <a:ext cx="3999900" cy="3811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fr" sz="800">
                <a:solidFill>
                  <a:schemeClr val="dk1"/>
                </a:solidFill>
                <a:latin typeface="Arial"/>
                <a:ea typeface="Arial"/>
                <a:cs typeface="Arial"/>
                <a:sym typeface="Arial"/>
              </a:rPr>
              <a:t>Un score global a été calculé en agrégeant les rangs obtenus par chaque pays sur l’ensemble des indicateurs, permettant d’identifier les 10 pays les plus stratégiques</a:t>
            </a:r>
            <a:endParaRPr sz="800">
              <a:solidFill>
                <a:schemeClr val="dk1"/>
              </a:solidFill>
              <a:latin typeface="Arial"/>
              <a:ea typeface="Arial"/>
              <a:cs typeface="Arial"/>
              <a:sym typeface="Arial"/>
            </a:endParaRPr>
          </a:p>
          <a:p>
            <a:pPr indent="-279400" lvl="0" marL="457200" rtl="0" algn="just">
              <a:spcBef>
                <a:spcPts val="1600"/>
              </a:spcBef>
              <a:spcAft>
                <a:spcPts val="0"/>
              </a:spcAft>
              <a:buClr>
                <a:schemeClr val="dk1"/>
              </a:buClr>
              <a:buSzPts val="800"/>
              <a:buFont typeface="Arial"/>
              <a:buChar char="●"/>
            </a:pPr>
            <a:r>
              <a:rPr b="1" lang="fr" sz="800">
                <a:solidFill>
                  <a:schemeClr val="dk1"/>
                </a:solidFill>
                <a:latin typeface="Arial"/>
                <a:ea typeface="Arial"/>
                <a:cs typeface="Arial"/>
                <a:sym typeface="Arial"/>
              </a:rPr>
              <a:t>Diversité géographique</a:t>
            </a:r>
            <a:r>
              <a:rPr lang="fr" sz="800">
                <a:solidFill>
                  <a:schemeClr val="dk1"/>
                </a:solidFill>
                <a:latin typeface="Arial"/>
                <a:ea typeface="Arial"/>
                <a:cs typeface="Arial"/>
                <a:sym typeface="Arial"/>
              </a:rPr>
              <a:t> : Les pays les mieux classés couvrent l’Asie, l’Europe, l’Amérique du Nord et le Moyen-Orient, illustrant un potentiel mondial.</a:t>
            </a:r>
            <a:endParaRPr sz="800">
              <a:solidFill>
                <a:schemeClr val="dk1"/>
              </a:solidFill>
              <a:latin typeface="Arial"/>
              <a:ea typeface="Arial"/>
              <a:cs typeface="Arial"/>
              <a:sym typeface="Arial"/>
            </a:endParaRPr>
          </a:p>
          <a:p>
            <a:pPr indent="-279400" lvl="0" marL="457200" rtl="0" algn="just">
              <a:spcBef>
                <a:spcPts val="1600"/>
              </a:spcBef>
              <a:spcAft>
                <a:spcPts val="0"/>
              </a:spcAft>
              <a:buClr>
                <a:schemeClr val="dk1"/>
              </a:buClr>
              <a:buSzPts val="800"/>
              <a:buFont typeface="Arial"/>
              <a:buChar char="●"/>
            </a:pPr>
            <a:r>
              <a:rPr b="1" lang="fr" sz="800">
                <a:solidFill>
                  <a:schemeClr val="dk1"/>
                </a:solidFill>
                <a:latin typeface="Arial"/>
                <a:ea typeface="Arial"/>
                <a:cs typeface="Arial"/>
                <a:sym typeface="Arial"/>
              </a:rPr>
              <a:t>Connectivité numérique forte</a:t>
            </a:r>
            <a:r>
              <a:rPr lang="fr" sz="800">
                <a:solidFill>
                  <a:schemeClr val="dk1"/>
                </a:solidFill>
                <a:latin typeface="Arial"/>
                <a:ea typeface="Arial"/>
                <a:cs typeface="Arial"/>
                <a:sym typeface="Arial"/>
              </a:rPr>
              <a:t> : Canada, Corée, Japon et Royaume-Uni dépassent les 65 % d’utilisateurs d’Internet, garantissant l’accès aux formations en ligne.</a:t>
            </a:r>
            <a:endParaRPr sz="800">
              <a:solidFill>
                <a:schemeClr val="dk1"/>
              </a:solidFill>
              <a:latin typeface="Arial"/>
              <a:ea typeface="Arial"/>
              <a:cs typeface="Arial"/>
              <a:sym typeface="Arial"/>
            </a:endParaRPr>
          </a:p>
          <a:p>
            <a:pPr indent="-279400" lvl="0" marL="457200" rtl="0" algn="just">
              <a:spcBef>
                <a:spcPts val="1000"/>
              </a:spcBef>
              <a:spcAft>
                <a:spcPts val="0"/>
              </a:spcAft>
              <a:buClr>
                <a:schemeClr val="dk1"/>
              </a:buClr>
              <a:buSzPts val="800"/>
              <a:buFont typeface="Arial"/>
              <a:buChar char="●"/>
            </a:pPr>
            <a:r>
              <a:rPr b="1" lang="fr" sz="800">
                <a:solidFill>
                  <a:schemeClr val="dk1"/>
                </a:solidFill>
                <a:latin typeface="Arial"/>
                <a:ea typeface="Arial"/>
                <a:cs typeface="Arial"/>
                <a:sym typeface="Arial"/>
              </a:rPr>
              <a:t>Marchés éducatifs dynamiques</a:t>
            </a:r>
            <a:r>
              <a:rPr lang="fr" sz="800">
                <a:solidFill>
                  <a:schemeClr val="dk1"/>
                </a:solidFill>
                <a:latin typeface="Arial"/>
                <a:ea typeface="Arial"/>
                <a:cs typeface="Arial"/>
                <a:sym typeface="Arial"/>
              </a:rPr>
              <a:t> : Les États-Unis, Japon, Turquie et Corée affichent des volumes élevés d’inscriptions dans l’enseignement supérieur.</a:t>
            </a:r>
            <a:endParaRPr sz="800">
              <a:solidFill>
                <a:schemeClr val="dk1"/>
              </a:solidFill>
              <a:latin typeface="Arial"/>
              <a:ea typeface="Arial"/>
              <a:cs typeface="Arial"/>
              <a:sym typeface="Arial"/>
            </a:endParaRPr>
          </a:p>
          <a:p>
            <a:pPr indent="-279400" lvl="0" marL="457200" rtl="0" algn="just">
              <a:spcBef>
                <a:spcPts val="1000"/>
              </a:spcBef>
              <a:spcAft>
                <a:spcPts val="0"/>
              </a:spcAft>
              <a:buClr>
                <a:schemeClr val="dk1"/>
              </a:buClr>
              <a:buSzPts val="800"/>
              <a:buFont typeface="Arial"/>
              <a:buChar char="●"/>
            </a:pPr>
            <a:r>
              <a:rPr b="1" lang="fr" sz="800">
                <a:solidFill>
                  <a:schemeClr val="dk1"/>
                </a:solidFill>
                <a:latin typeface="Arial"/>
                <a:ea typeface="Arial"/>
                <a:cs typeface="Arial"/>
                <a:sym typeface="Arial"/>
              </a:rPr>
              <a:t>Pouvoir d’achat favorable</a:t>
            </a:r>
            <a:r>
              <a:rPr lang="fr" sz="800">
                <a:solidFill>
                  <a:schemeClr val="dk1"/>
                </a:solidFill>
                <a:latin typeface="Arial"/>
                <a:ea typeface="Arial"/>
                <a:cs typeface="Arial"/>
                <a:sym typeface="Arial"/>
              </a:rPr>
              <a:t> : États-Unis, Royaume-Uni, Arabie Saoudite et Canada combinent un RNB élevé avec une population jeune.</a:t>
            </a:r>
            <a:endParaRPr sz="800">
              <a:solidFill>
                <a:schemeClr val="dk1"/>
              </a:solidFill>
              <a:latin typeface="Arial"/>
              <a:ea typeface="Arial"/>
              <a:cs typeface="Arial"/>
              <a:sym typeface="Arial"/>
            </a:endParaRPr>
          </a:p>
          <a:p>
            <a:pPr indent="-279400" lvl="0" marL="457200" rtl="0" algn="just">
              <a:spcBef>
                <a:spcPts val="1000"/>
              </a:spcBef>
              <a:spcAft>
                <a:spcPts val="0"/>
              </a:spcAft>
              <a:buClr>
                <a:schemeClr val="dk1"/>
              </a:buClr>
              <a:buSzPts val="800"/>
              <a:buFont typeface="Arial"/>
              <a:buChar char="●"/>
            </a:pPr>
            <a:r>
              <a:rPr b="1" lang="fr" sz="800">
                <a:solidFill>
                  <a:schemeClr val="dk1"/>
                </a:solidFill>
                <a:latin typeface="Arial"/>
                <a:ea typeface="Arial"/>
                <a:cs typeface="Arial"/>
                <a:sym typeface="Arial"/>
              </a:rPr>
              <a:t>Durée scolaire avantageuse</a:t>
            </a:r>
            <a:r>
              <a:rPr lang="fr" sz="800">
                <a:solidFill>
                  <a:schemeClr val="dk1"/>
                </a:solidFill>
                <a:latin typeface="Arial"/>
                <a:ea typeface="Arial"/>
                <a:cs typeface="Arial"/>
                <a:sym typeface="Arial"/>
              </a:rPr>
              <a:t> : Italie, Malaisie et Royaume-Uni proposent une durée de lycée étendue, favorisant une relation prolongée avec les apprenants.</a:t>
            </a:r>
            <a:endParaRPr sz="600">
              <a:solidFill>
                <a:schemeClr val="dk1"/>
              </a:solidFill>
              <a:latin typeface="Arial"/>
              <a:ea typeface="Arial"/>
              <a:cs typeface="Arial"/>
              <a:sym typeface="Arial"/>
            </a:endParaRPr>
          </a:p>
          <a:p>
            <a:pPr indent="0" lvl="0" marL="0" rtl="0" algn="l">
              <a:spcBef>
                <a:spcPts val="1200"/>
              </a:spcBef>
              <a:spcAft>
                <a:spcPts val="1600"/>
              </a:spcAft>
              <a:buNone/>
            </a:pPr>
            <a:r>
              <a:t/>
            </a:r>
            <a:endParaRPr sz="700">
              <a:solidFill>
                <a:schemeClr val="dk1"/>
              </a:solidFill>
              <a:latin typeface="Arial"/>
              <a:ea typeface="Arial"/>
              <a:cs typeface="Arial"/>
              <a:sym typeface="Arial"/>
            </a:endParaRPr>
          </a:p>
        </p:txBody>
      </p:sp>
      <p:pic>
        <p:nvPicPr>
          <p:cNvPr id="164" name="Google Shape;164;p27"/>
          <p:cNvPicPr preferRelativeResize="0"/>
          <p:nvPr/>
        </p:nvPicPr>
        <p:blipFill>
          <a:blip r:embed="rId3">
            <a:alphaModFix/>
          </a:blip>
          <a:stretch>
            <a:fillRect/>
          </a:stretch>
        </p:blipFill>
        <p:spPr>
          <a:xfrm>
            <a:off x="152400" y="1651726"/>
            <a:ext cx="4679999" cy="2346047"/>
          </a:xfrm>
          <a:prstGeom prst="rect">
            <a:avLst/>
          </a:prstGeom>
          <a:noFill/>
          <a:ln>
            <a:noFill/>
          </a:ln>
        </p:spPr>
      </p:pic>
      <p:sp>
        <p:nvSpPr>
          <p:cNvPr id="165" name="Google Shape;165;p27"/>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8"/>
          <p:cNvSpPr txBox="1"/>
          <p:nvPr>
            <p:ph type="title"/>
          </p:nvPr>
        </p:nvSpPr>
        <p:spPr>
          <a:xfrm>
            <a:off x="671250" y="2141250"/>
            <a:ext cx="7852200" cy="86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fr"/>
              <a:t>3 - Mes recommandations</a:t>
            </a:r>
            <a:endParaRPr/>
          </a:p>
        </p:txBody>
      </p:sp>
      <p:sp>
        <p:nvSpPr>
          <p:cNvPr id="171" name="Google Shape;171;p28"/>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9"/>
          <p:cNvSpPr txBox="1"/>
          <p:nvPr>
            <p:ph type="title"/>
          </p:nvPr>
        </p:nvSpPr>
        <p:spPr>
          <a:xfrm>
            <a:off x="311700" y="445025"/>
            <a:ext cx="8832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3.1 - Ce qu’il faut retenir</a:t>
            </a:r>
            <a:endParaRPr/>
          </a:p>
        </p:txBody>
      </p:sp>
      <p:sp>
        <p:nvSpPr>
          <p:cNvPr id="177" name="Google Shape;177;p29"/>
          <p:cNvSpPr txBox="1"/>
          <p:nvPr>
            <p:ph idx="1" type="body"/>
          </p:nvPr>
        </p:nvSpPr>
        <p:spPr>
          <a:xfrm>
            <a:off x="311700" y="1267397"/>
            <a:ext cx="8520600" cy="40461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fr" sz="1100">
                <a:solidFill>
                  <a:schemeClr val="lt1"/>
                </a:solidFill>
                <a:highlight>
                  <a:schemeClr val="dk1"/>
                </a:highlight>
                <a:latin typeface="Arial"/>
                <a:ea typeface="Arial"/>
                <a:cs typeface="Arial"/>
                <a:sym typeface="Arial"/>
              </a:rPr>
              <a:t>Cibler les marchés à fort potentiel éducatif </a:t>
            </a:r>
            <a:endParaRPr b="1" sz="1100">
              <a:solidFill>
                <a:schemeClr val="lt1"/>
              </a:solidFill>
              <a:highlight>
                <a:schemeClr val="dk1"/>
              </a:highlight>
              <a:latin typeface="Arial"/>
              <a:ea typeface="Arial"/>
              <a:cs typeface="Arial"/>
              <a:sym typeface="Arial"/>
            </a:endParaRPr>
          </a:p>
          <a:p>
            <a:pPr indent="-298450" lvl="0" marL="457200" rtl="0" algn="just">
              <a:spcBef>
                <a:spcPts val="0"/>
              </a:spcBef>
              <a:spcAft>
                <a:spcPts val="0"/>
              </a:spcAft>
              <a:buClr>
                <a:schemeClr val="dk1"/>
              </a:buClr>
              <a:buSzPts val="1100"/>
              <a:buFont typeface="Arial"/>
              <a:buChar char="●"/>
            </a:pPr>
            <a:r>
              <a:rPr lang="fr" sz="1100">
                <a:solidFill>
                  <a:schemeClr val="dk1"/>
                </a:solidFill>
                <a:latin typeface="Arial"/>
                <a:ea typeface="Arial"/>
                <a:cs typeface="Arial"/>
                <a:sym typeface="Arial"/>
              </a:rPr>
              <a:t>Prioriser les pays avec un volume élevé d’inscriptions dans l’enseignement supérieur et une population lycéenne importante (États-Unis, Japon, Turquie, Corée du Sud).</a:t>
            </a:r>
            <a:endParaRPr sz="1100">
              <a:solidFill>
                <a:schemeClr val="dk1"/>
              </a:solidFill>
              <a:latin typeface="Arial"/>
              <a:ea typeface="Arial"/>
              <a:cs typeface="Arial"/>
              <a:sym typeface="Arial"/>
            </a:endParaRPr>
          </a:p>
          <a:p>
            <a:pPr indent="0" lvl="0" marL="0" rtl="0" algn="just">
              <a:spcBef>
                <a:spcPts val="0"/>
              </a:spcBef>
              <a:spcAft>
                <a:spcPts val="0"/>
              </a:spcAft>
              <a:buNone/>
            </a:pPr>
            <a:br>
              <a:rPr lang="fr" sz="1100">
                <a:solidFill>
                  <a:schemeClr val="dk1"/>
                </a:solidFill>
                <a:latin typeface="Arial"/>
                <a:ea typeface="Arial"/>
                <a:cs typeface="Arial"/>
                <a:sym typeface="Arial"/>
              </a:rPr>
            </a:br>
            <a:r>
              <a:rPr b="1" lang="fr" sz="1100">
                <a:solidFill>
                  <a:schemeClr val="lt1"/>
                </a:solidFill>
                <a:highlight>
                  <a:schemeClr val="dk1"/>
                </a:highlight>
                <a:latin typeface="Arial"/>
                <a:ea typeface="Arial"/>
                <a:cs typeface="Arial"/>
                <a:sym typeface="Arial"/>
              </a:rPr>
              <a:t>Favoriser l</a:t>
            </a:r>
            <a:r>
              <a:rPr b="1" lang="fr" sz="1100">
                <a:solidFill>
                  <a:schemeClr val="lt1"/>
                </a:solidFill>
                <a:highlight>
                  <a:schemeClr val="dk1"/>
                </a:highlight>
                <a:latin typeface="Arial"/>
                <a:ea typeface="Arial"/>
                <a:cs typeface="Arial"/>
                <a:sym typeface="Arial"/>
              </a:rPr>
              <a:t>e</a:t>
            </a:r>
            <a:r>
              <a:rPr b="1" lang="fr" sz="1100">
                <a:solidFill>
                  <a:schemeClr val="lt1"/>
                </a:solidFill>
                <a:highlight>
                  <a:schemeClr val="dk1"/>
                </a:highlight>
                <a:latin typeface="Arial"/>
                <a:ea typeface="Arial"/>
                <a:cs typeface="Arial"/>
                <a:sym typeface="Arial"/>
              </a:rPr>
              <a:t>s pays avec une bonne connectivité numérique </a:t>
            </a:r>
            <a:endParaRPr b="1" sz="1100">
              <a:solidFill>
                <a:schemeClr val="lt1"/>
              </a:solidFill>
              <a:highlight>
                <a:schemeClr val="dk1"/>
              </a:highlight>
              <a:latin typeface="Arial"/>
              <a:ea typeface="Arial"/>
              <a:cs typeface="Arial"/>
              <a:sym typeface="Arial"/>
            </a:endParaRPr>
          </a:p>
          <a:p>
            <a:pPr indent="-298450" lvl="0" marL="457200" rtl="0" algn="just">
              <a:spcBef>
                <a:spcPts val="0"/>
              </a:spcBef>
              <a:spcAft>
                <a:spcPts val="0"/>
              </a:spcAft>
              <a:buClr>
                <a:schemeClr val="dk1"/>
              </a:buClr>
              <a:buSzPts val="1100"/>
              <a:buFont typeface="Arial"/>
              <a:buChar char="●"/>
            </a:pPr>
            <a:r>
              <a:rPr lang="fr" sz="1100">
                <a:solidFill>
                  <a:schemeClr val="dk1"/>
                </a:solidFill>
                <a:latin typeface="Arial"/>
                <a:ea typeface="Arial"/>
                <a:cs typeface="Arial"/>
                <a:sym typeface="Arial"/>
              </a:rPr>
              <a:t>Lancer les offres en ligne dans des pays où l’accès à Internet dépasse 65 % pour garantir l’efficacité du modèle digital (Canada, Royaume-Uni, Corée du Sud).</a:t>
            </a:r>
            <a:endParaRPr sz="1100">
              <a:solidFill>
                <a:schemeClr val="dk1"/>
              </a:solidFill>
              <a:latin typeface="Arial"/>
              <a:ea typeface="Arial"/>
              <a:cs typeface="Arial"/>
              <a:sym typeface="Arial"/>
            </a:endParaRPr>
          </a:p>
          <a:p>
            <a:pPr indent="0" lvl="0" marL="0" rtl="0" algn="just">
              <a:spcBef>
                <a:spcPts val="1200"/>
              </a:spcBef>
              <a:spcAft>
                <a:spcPts val="0"/>
              </a:spcAft>
              <a:buNone/>
            </a:pPr>
            <a:r>
              <a:rPr b="1" lang="fr" sz="1100">
                <a:solidFill>
                  <a:schemeClr val="lt1"/>
                </a:solidFill>
                <a:highlight>
                  <a:schemeClr val="dk1"/>
                </a:highlight>
                <a:latin typeface="Arial"/>
                <a:ea typeface="Arial"/>
                <a:cs typeface="Arial"/>
                <a:sym typeface="Arial"/>
              </a:rPr>
              <a:t>Tenir compte du pouvoir d’achat local </a:t>
            </a:r>
            <a:endParaRPr b="1" sz="1100">
              <a:solidFill>
                <a:schemeClr val="lt1"/>
              </a:solidFill>
              <a:highlight>
                <a:schemeClr val="dk1"/>
              </a:highlight>
              <a:latin typeface="Arial"/>
              <a:ea typeface="Arial"/>
              <a:cs typeface="Arial"/>
              <a:sym typeface="Arial"/>
            </a:endParaRPr>
          </a:p>
          <a:p>
            <a:pPr indent="-298450" lvl="0" marL="457200" rtl="0" algn="just">
              <a:spcBef>
                <a:spcPts val="0"/>
              </a:spcBef>
              <a:spcAft>
                <a:spcPts val="0"/>
              </a:spcAft>
              <a:buClr>
                <a:schemeClr val="dk1"/>
              </a:buClr>
              <a:buSzPts val="1100"/>
              <a:buFont typeface="Arial"/>
              <a:buChar char="●"/>
            </a:pPr>
            <a:r>
              <a:rPr lang="fr" sz="1100">
                <a:solidFill>
                  <a:schemeClr val="dk1"/>
                </a:solidFill>
                <a:latin typeface="Arial"/>
                <a:ea typeface="Arial"/>
                <a:cs typeface="Arial"/>
                <a:sym typeface="Arial"/>
              </a:rPr>
              <a:t>Adapter les tarifs et les formats pédagogiques en fonction du RNB par habitant pour maximiser l’accessibilité : (États-Unis, Arabie Saoudite, Royaume-Uni).</a:t>
            </a:r>
            <a:endParaRPr sz="1100">
              <a:solidFill>
                <a:schemeClr val="dk1"/>
              </a:solidFill>
              <a:latin typeface="Arial"/>
              <a:ea typeface="Arial"/>
              <a:cs typeface="Arial"/>
              <a:sym typeface="Arial"/>
            </a:endParaRPr>
          </a:p>
          <a:p>
            <a:pPr indent="0" lvl="0" marL="0" rtl="0" algn="just">
              <a:spcBef>
                <a:spcPts val="1200"/>
              </a:spcBef>
              <a:spcAft>
                <a:spcPts val="0"/>
              </a:spcAft>
              <a:buNone/>
            </a:pPr>
            <a:r>
              <a:rPr b="1" lang="fr" sz="1100">
                <a:solidFill>
                  <a:schemeClr val="lt1"/>
                </a:solidFill>
                <a:highlight>
                  <a:schemeClr val="dk1"/>
                </a:highlight>
                <a:latin typeface="Arial"/>
                <a:ea typeface="Arial"/>
                <a:cs typeface="Arial"/>
                <a:sym typeface="Arial"/>
              </a:rPr>
              <a:t>S’appuyer sur la durée scolaire pour fidéliser </a:t>
            </a:r>
            <a:endParaRPr b="1" sz="1100">
              <a:solidFill>
                <a:schemeClr val="lt1"/>
              </a:solidFill>
              <a:highlight>
                <a:schemeClr val="dk1"/>
              </a:highlight>
              <a:latin typeface="Arial"/>
              <a:ea typeface="Arial"/>
              <a:cs typeface="Arial"/>
              <a:sym typeface="Arial"/>
            </a:endParaRPr>
          </a:p>
          <a:p>
            <a:pPr indent="-298450" lvl="0" marL="457200" rtl="0" algn="just">
              <a:spcBef>
                <a:spcPts val="0"/>
              </a:spcBef>
              <a:spcAft>
                <a:spcPts val="0"/>
              </a:spcAft>
              <a:buClr>
                <a:schemeClr val="dk1"/>
              </a:buClr>
              <a:buSzPts val="1100"/>
              <a:buFont typeface="Arial"/>
              <a:buChar char="●"/>
            </a:pPr>
            <a:r>
              <a:rPr lang="fr" sz="1100">
                <a:solidFill>
                  <a:schemeClr val="dk1"/>
                </a:solidFill>
                <a:latin typeface="Arial"/>
                <a:ea typeface="Arial"/>
                <a:cs typeface="Arial"/>
                <a:sym typeface="Arial"/>
              </a:rPr>
              <a:t>Exploiter les systèmes éducatifs où le lycée dure 4 ans ou plus pour construire une relation durable avec les apprenants (Italie, Malaisie, Royaume-Uni).</a:t>
            </a:r>
            <a:endParaRPr sz="1100">
              <a:solidFill>
                <a:schemeClr val="dk1"/>
              </a:solidFill>
              <a:latin typeface="Arial"/>
              <a:ea typeface="Arial"/>
              <a:cs typeface="Arial"/>
              <a:sym typeface="Arial"/>
            </a:endParaRPr>
          </a:p>
          <a:p>
            <a:pPr indent="0" lvl="0" marL="0" rtl="0" algn="just">
              <a:spcBef>
                <a:spcPts val="1000"/>
              </a:spcBef>
              <a:spcAft>
                <a:spcPts val="0"/>
              </a:spcAft>
              <a:buNone/>
            </a:pPr>
            <a:r>
              <a:t/>
            </a:r>
            <a:endParaRPr b="1" sz="1100">
              <a:solidFill>
                <a:schemeClr val="lt1"/>
              </a:solidFill>
              <a:highlight>
                <a:schemeClr val="dk1"/>
              </a:highlight>
              <a:latin typeface="Arial"/>
              <a:ea typeface="Arial"/>
              <a:cs typeface="Arial"/>
              <a:sym typeface="Arial"/>
            </a:endParaRPr>
          </a:p>
          <a:p>
            <a:pPr indent="457200" lvl="0" marL="457200" rtl="0" algn="just">
              <a:spcBef>
                <a:spcPts val="0"/>
              </a:spcBef>
              <a:spcAft>
                <a:spcPts val="0"/>
              </a:spcAft>
              <a:buNone/>
            </a:pPr>
            <a:r>
              <a:t/>
            </a:r>
            <a:endParaRPr sz="900">
              <a:solidFill>
                <a:schemeClr val="dk1"/>
              </a:solidFill>
              <a:latin typeface="Arial"/>
              <a:ea typeface="Arial"/>
              <a:cs typeface="Arial"/>
              <a:sym typeface="Arial"/>
            </a:endParaRPr>
          </a:p>
          <a:p>
            <a:pPr indent="0" lvl="0" marL="0" rtl="0" algn="just">
              <a:spcBef>
                <a:spcPts val="0"/>
              </a:spcBef>
              <a:spcAft>
                <a:spcPts val="0"/>
              </a:spcAft>
              <a:buNone/>
            </a:pPr>
            <a:r>
              <a:t/>
            </a:r>
            <a:endParaRPr sz="1700"/>
          </a:p>
          <a:p>
            <a:pPr indent="0" lvl="0" marL="0" rtl="0" algn="l">
              <a:spcBef>
                <a:spcPts val="1200"/>
              </a:spcBef>
              <a:spcAft>
                <a:spcPts val="1600"/>
              </a:spcAft>
              <a:buNone/>
            </a:pPr>
            <a:r>
              <a:t/>
            </a:r>
            <a:endParaRPr sz="1700"/>
          </a:p>
        </p:txBody>
      </p:sp>
      <p:sp>
        <p:nvSpPr>
          <p:cNvPr id="178" name="Google Shape;178;p29"/>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0"/>
          <p:cNvSpPr txBox="1"/>
          <p:nvPr>
            <p:ph type="title"/>
          </p:nvPr>
        </p:nvSpPr>
        <p:spPr>
          <a:xfrm>
            <a:off x="311700" y="445025"/>
            <a:ext cx="8832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3.2 - 5 marchés clés pour propulser academy à l’international</a:t>
            </a:r>
            <a:endParaRPr/>
          </a:p>
        </p:txBody>
      </p:sp>
      <p:sp>
        <p:nvSpPr>
          <p:cNvPr id="184" name="Google Shape;184;p30"/>
          <p:cNvSpPr txBox="1"/>
          <p:nvPr>
            <p:ph idx="1" type="body"/>
          </p:nvPr>
        </p:nvSpPr>
        <p:spPr>
          <a:xfrm>
            <a:off x="311700" y="1267397"/>
            <a:ext cx="8520600" cy="4046100"/>
          </a:xfrm>
          <a:prstGeom prst="rect">
            <a:avLst/>
          </a:prstGeom>
        </p:spPr>
        <p:txBody>
          <a:bodyPr anchorCtr="0" anchor="t" bIns="91425" lIns="91425" spcFirstLastPara="1" rIns="91425" wrap="square" tIns="91425">
            <a:noAutofit/>
          </a:bodyPr>
          <a:lstStyle/>
          <a:p>
            <a:pPr indent="0" lvl="0" marL="457200" rtl="0" algn="just">
              <a:spcBef>
                <a:spcPts val="0"/>
              </a:spcBef>
              <a:spcAft>
                <a:spcPts val="0"/>
              </a:spcAft>
              <a:buNone/>
            </a:pPr>
            <a:r>
              <a:t/>
            </a:r>
            <a:endParaRPr sz="900">
              <a:solidFill>
                <a:schemeClr val="dk1"/>
              </a:solidFill>
              <a:latin typeface="Arial"/>
              <a:ea typeface="Arial"/>
              <a:cs typeface="Arial"/>
              <a:sym typeface="Arial"/>
            </a:endParaRPr>
          </a:p>
          <a:p>
            <a:pPr indent="0" lvl="0" marL="457200" rtl="0" algn="just">
              <a:spcBef>
                <a:spcPts val="0"/>
              </a:spcBef>
              <a:spcAft>
                <a:spcPts val="0"/>
              </a:spcAft>
              <a:buNone/>
            </a:pPr>
            <a:r>
              <a:t/>
            </a:r>
            <a:endParaRPr sz="900">
              <a:solidFill>
                <a:schemeClr val="dk1"/>
              </a:solidFill>
              <a:latin typeface="Arial"/>
              <a:ea typeface="Arial"/>
              <a:cs typeface="Arial"/>
              <a:sym typeface="Arial"/>
            </a:endParaRPr>
          </a:p>
          <a:p>
            <a:pPr indent="0" lvl="0" marL="457200" rtl="0" algn="just">
              <a:spcBef>
                <a:spcPts val="0"/>
              </a:spcBef>
              <a:spcAft>
                <a:spcPts val="0"/>
              </a:spcAft>
              <a:buNone/>
            </a:pPr>
            <a:r>
              <a:t/>
            </a:r>
            <a:endParaRPr sz="900">
              <a:solidFill>
                <a:schemeClr val="dk1"/>
              </a:solidFill>
              <a:latin typeface="Arial"/>
              <a:ea typeface="Arial"/>
              <a:cs typeface="Arial"/>
              <a:sym typeface="Arial"/>
            </a:endParaRPr>
          </a:p>
          <a:p>
            <a:pPr indent="0" lvl="0" marL="0" rtl="0" algn="just">
              <a:spcBef>
                <a:spcPts val="0"/>
              </a:spcBef>
              <a:spcAft>
                <a:spcPts val="0"/>
              </a:spcAft>
              <a:buNone/>
            </a:pPr>
            <a:r>
              <a:t/>
            </a:r>
            <a:endParaRPr sz="900">
              <a:solidFill>
                <a:schemeClr val="dk1"/>
              </a:solidFill>
              <a:latin typeface="Arial"/>
              <a:ea typeface="Arial"/>
              <a:cs typeface="Arial"/>
              <a:sym typeface="Arial"/>
            </a:endParaRPr>
          </a:p>
          <a:p>
            <a:pPr indent="457200" lvl="0" marL="457200" rtl="0" algn="just">
              <a:spcBef>
                <a:spcPts val="0"/>
              </a:spcBef>
              <a:spcAft>
                <a:spcPts val="0"/>
              </a:spcAft>
              <a:buNone/>
            </a:pPr>
            <a:r>
              <a:rPr b="1" lang="fr" sz="1700">
                <a:solidFill>
                  <a:schemeClr val="dk1"/>
                </a:solidFill>
                <a:latin typeface="Arial"/>
                <a:ea typeface="Arial"/>
                <a:cs typeface="Arial"/>
                <a:sym typeface="Arial"/>
              </a:rPr>
              <a:t>1. Malaisie</a:t>
            </a:r>
            <a:r>
              <a:rPr lang="fr" sz="1700">
                <a:solidFill>
                  <a:schemeClr val="dk1"/>
                </a:solidFill>
                <a:latin typeface="Arial"/>
                <a:ea typeface="Arial"/>
                <a:cs typeface="Arial"/>
                <a:sym typeface="Arial"/>
              </a:rPr>
              <a:t> → équilibre entre jeunesse, durée scolaire et croissance </a:t>
            </a:r>
            <a:endParaRPr sz="1700">
              <a:solidFill>
                <a:schemeClr val="dk1"/>
              </a:solidFill>
              <a:latin typeface="Arial"/>
              <a:ea typeface="Arial"/>
              <a:cs typeface="Arial"/>
              <a:sym typeface="Arial"/>
            </a:endParaRPr>
          </a:p>
          <a:p>
            <a:pPr indent="457200" lvl="0" marL="457200" rtl="0" algn="just">
              <a:spcBef>
                <a:spcPts val="0"/>
              </a:spcBef>
              <a:spcAft>
                <a:spcPts val="0"/>
              </a:spcAft>
              <a:buNone/>
            </a:pPr>
            <a:r>
              <a:rPr b="1" lang="fr" sz="1700">
                <a:solidFill>
                  <a:schemeClr val="dk1"/>
                </a:solidFill>
                <a:latin typeface="Arial"/>
                <a:ea typeface="Arial"/>
                <a:cs typeface="Arial"/>
                <a:sym typeface="Arial"/>
              </a:rPr>
              <a:t>2. Royaume-Uni</a:t>
            </a:r>
            <a:r>
              <a:rPr lang="fr" sz="1700">
                <a:solidFill>
                  <a:schemeClr val="dk1"/>
                </a:solidFill>
                <a:latin typeface="Arial"/>
                <a:ea typeface="Arial"/>
                <a:cs typeface="Arial"/>
                <a:sym typeface="Arial"/>
              </a:rPr>
              <a:t> → connectivité, pouvoir d’achat et stabilité éducative </a:t>
            </a:r>
            <a:endParaRPr sz="1700">
              <a:solidFill>
                <a:schemeClr val="dk1"/>
              </a:solidFill>
              <a:latin typeface="Arial"/>
              <a:ea typeface="Arial"/>
              <a:cs typeface="Arial"/>
              <a:sym typeface="Arial"/>
            </a:endParaRPr>
          </a:p>
          <a:p>
            <a:pPr indent="457200" lvl="0" marL="457200" rtl="0" algn="just">
              <a:spcBef>
                <a:spcPts val="0"/>
              </a:spcBef>
              <a:spcAft>
                <a:spcPts val="0"/>
              </a:spcAft>
              <a:buNone/>
            </a:pPr>
            <a:r>
              <a:rPr b="1" lang="fr" sz="1700">
                <a:solidFill>
                  <a:schemeClr val="dk1"/>
                </a:solidFill>
                <a:latin typeface="Arial"/>
                <a:ea typeface="Arial"/>
                <a:cs typeface="Arial"/>
                <a:sym typeface="Arial"/>
              </a:rPr>
              <a:t>3. États-Unis</a:t>
            </a:r>
            <a:r>
              <a:rPr lang="fr" sz="1700">
                <a:solidFill>
                  <a:schemeClr val="dk1"/>
                </a:solidFill>
                <a:latin typeface="Arial"/>
                <a:ea typeface="Arial"/>
                <a:cs typeface="Arial"/>
                <a:sym typeface="Arial"/>
              </a:rPr>
              <a:t> → marché éducatif massif et haut revenu </a:t>
            </a:r>
            <a:endParaRPr sz="1700">
              <a:solidFill>
                <a:schemeClr val="dk1"/>
              </a:solidFill>
              <a:latin typeface="Arial"/>
              <a:ea typeface="Arial"/>
              <a:cs typeface="Arial"/>
              <a:sym typeface="Arial"/>
            </a:endParaRPr>
          </a:p>
          <a:p>
            <a:pPr indent="457200" lvl="0" marL="457200" rtl="0" algn="just">
              <a:spcBef>
                <a:spcPts val="0"/>
              </a:spcBef>
              <a:spcAft>
                <a:spcPts val="0"/>
              </a:spcAft>
              <a:buNone/>
            </a:pPr>
            <a:r>
              <a:rPr b="1" lang="fr" sz="1700">
                <a:solidFill>
                  <a:schemeClr val="dk1"/>
                </a:solidFill>
                <a:latin typeface="Arial"/>
                <a:ea typeface="Arial"/>
                <a:cs typeface="Arial"/>
                <a:sym typeface="Arial"/>
              </a:rPr>
              <a:t>4. Arabie Saoudite</a:t>
            </a:r>
            <a:r>
              <a:rPr lang="fr" sz="1700">
                <a:solidFill>
                  <a:schemeClr val="dk1"/>
                </a:solidFill>
                <a:latin typeface="Arial"/>
                <a:ea typeface="Arial"/>
                <a:cs typeface="Arial"/>
                <a:sym typeface="Arial"/>
              </a:rPr>
              <a:t> → forte croissance démographique et RNB élevé </a:t>
            </a:r>
            <a:endParaRPr sz="1700">
              <a:solidFill>
                <a:schemeClr val="dk1"/>
              </a:solidFill>
              <a:latin typeface="Arial"/>
              <a:ea typeface="Arial"/>
              <a:cs typeface="Arial"/>
              <a:sym typeface="Arial"/>
            </a:endParaRPr>
          </a:p>
          <a:p>
            <a:pPr indent="457200" lvl="0" marL="457200" rtl="0" algn="just">
              <a:spcBef>
                <a:spcPts val="0"/>
              </a:spcBef>
              <a:spcAft>
                <a:spcPts val="0"/>
              </a:spcAft>
              <a:buNone/>
            </a:pPr>
            <a:r>
              <a:rPr b="1" lang="fr" sz="1700">
                <a:solidFill>
                  <a:schemeClr val="dk1"/>
                </a:solidFill>
                <a:latin typeface="Arial"/>
                <a:ea typeface="Arial"/>
                <a:cs typeface="Arial"/>
                <a:sym typeface="Arial"/>
              </a:rPr>
              <a:t>5. Canada</a:t>
            </a:r>
            <a:r>
              <a:rPr lang="fr" sz="1700">
                <a:solidFill>
                  <a:schemeClr val="dk1"/>
                </a:solidFill>
                <a:latin typeface="Arial"/>
                <a:ea typeface="Arial"/>
                <a:cs typeface="Arial"/>
                <a:sym typeface="Arial"/>
              </a:rPr>
              <a:t> → environnement numérique mature et pouvoir d’achat solide</a:t>
            </a:r>
            <a:endParaRPr sz="1700">
              <a:solidFill>
                <a:schemeClr val="dk1"/>
              </a:solidFill>
              <a:latin typeface="Arial"/>
              <a:ea typeface="Arial"/>
              <a:cs typeface="Arial"/>
              <a:sym typeface="Arial"/>
            </a:endParaRPr>
          </a:p>
          <a:p>
            <a:pPr indent="0" lvl="0" marL="0" rtl="0" algn="just">
              <a:spcBef>
                <a:spcPts val="0"/>
              </a:spcBef>
              <a:spcAft>
                <a:spcPts val="0"/>
              </a:spcAft>
              <a:buNone/>
            </a:pPr>
            <a:r>
              <a:t/>
            </a:r>
            <a:endParaRPr sz="1700"/>
          </a:p>
          <a:p>
            <a:pPr indent="0" lvl="0" marL="0" rtl="0" algn="l">
              <a:spcBef>
                <a:spcPts val="1200"/>
              </a:spcBef>
              <a:spcAft>
                <a:spcPts val="1600"/>
              </a:spcAft>
              <a:buNone/>
            </a:pPr>
            <a:r>
              <a:t/>
            </a:r>
            <a:endParaRPr sz="1700"/>
          </a:p>
        </p:txBody>
      </p:sp>
      <p:sp>
        <p:nvSpPr>
          <p:cNvPr id="185" name="Google Shape;185;p30"/>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1"/>
          <p:cNvSpPr txBox="1"/>
          <p:nvPr>
            <p:ph type="title"/>
          </p:nvPr>
        </p:nvSpPr>
        <p:spPr>
          <a:xfrm>
            <a:off x="311700" y="445025"/>
            <a:ext cx="8832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3.3 - </a:t>
            </a:r>
            <a:r>
              <a:rPr lang="fr"/>
              <a:t>Perspectives pour la suite</a:t>
            </a:r>
            <a:endParaRPr/>
          </a:p>
        </p:txBody>
      </p:sp>
      <p:sp>
        <p:nvSpPr>
          <p:cNvPr id="191" name="Google Shape;191;p31"/>
          <p:cNvSpPr txBox="1"/>
          <p:nvPr>
            <p:ph idx="1" type="body"/>
          </p:nvPr>
        </p:nvSpPr>
        <p:spPr>
          <a:xfrm>
            <a:off x="311700" y="1152478"/>
            <a:ext cx="8520600" cy="3527100"/>
          </a:xfrm>
          <a:prstGeom prst="rect">
            <a:avLst/>
          </a:prstGeom>
        </p:spPr>
        <p:txBody>
          <a:bodyPr anchorCtr="0" anchor="t" bIns="91425" lIns="91425" spcFirstLastPara="1" rIns="91425" wrap="square" tIns="91425">
            <a:noAutofit/>
          </a:bodyPr>
          <a:lstStyle/>
          <a:p>
            <a:pPr indent="-311150" lvl="0" marL="457200" rtl="0" algn="just">
              <a:spcBef>
                <a:spcPts val="0"/>
              </a:spcBef>
              <a:spcAft>
                <a:spcPts val="0"/>
              </a:spcAft>
              <a:buClr>
                <a:schemeClr val="dk1"/>
              </a:buClr>
              <a:buSzPts val="1300"/>
              <a:buFont typeface="Arial"/>
              <a:buChar char="●"/>
            </a:pPr>
            <a:r>
              <a:rPr lang="fr" sz="1300">
                <a:solidFill>
                  <a:schemeClr val="dk1"/>
                </a:solidFill>
                <a:latin typeface="Arial"/>
                <a:ea typeface="Arial"/>
                <a:cs typeface="Arial"/>
                <a:sym typeface="Arial"/>
              </a:rPr>
              <a:t>Cette première analyse permet d’identifier des marchés prioritaires, mais elle peut être enrichie par une étude plus fine des besoins éducatifs locaux, des acteurs déjà présents et des barrières réglementaires.</a:t>
            </a:r>
            <a:endParaRPr sz="1300">
              <a:solidFill>
                <a:schemeClr val="dk1"/>
              </a:solidFill>
              <a:latin typeface="Arial"/>
              <a:ea typeface="Arial"/>
              <a:cs typeface="Arial"/>
              <a:sym typeface="Arial"/>
            </a:endParaRPr>
          </a:p>
          <a:p>
            <a:pPr indent="-311150" lvl="0" marL="457200" rtl="0" algn="just">
              <a:spcBef>
                <a:spcPts val="1000"/>
              </a:spcBef>
              <a:spcAft>
                <a:spcPts val="0"/>
              </a:spcAft>
              <a:buClr>
                <a:schemeClr val="dk1"/>
              </a:buClr>
              <a:buSzPts val="1300"/>
              <a:buFont typeface="Arial"/>
              <a:buChar char="●"/>
            </a:pPr>
            <a:r>
              <a:rPr lang="fr" sz="1300">
                <a:solidFill>
                  <a:schemeClr val="dk1"/>
                </a:solidFill>
                <a:latin typeface="Arial"/>
                <a:ea typeface="Arial"/>
                <a:cs typeface="Arial"/>
                <a:sym typeface="Arial"/>
              </a:rPr>
              <a:t>Une phase pilote dans 1 à 2 pays ciblés permettrait de tester l’adéquation du modèle academy avec les attentes des apprenants et les réalités du terrain.</a:t>
            </a:r>
            <a:endParaRPr sz="1300">
              <a:solidFill>
                <a:schemeClr val="dk1"/>
              </a:solidFill>
              <a:latin typeface="Arial"/>
              <a:ea typeface="Arial"/>
              <a:cs typeface="Arial"/>
              <a:sym typeface="Arial"/>
            </a:endParaRPr>
          </a:p>
          <a:p>
            <a:pPr indent="-311150" lvl="0" marL="457200" rtl="0" algn="just">
              <a:spcBef>
                <a:spcPts val="1000"/>
              </a:spcBef>
              <a:spcAft>
                <a:spcPts val="0"/>
              </a:spcAft>
              <a:buClr>
                <a:schemeClr val="dk1"/>
              </a:buClr>
              <a:buSzPts val="1300"/>
              <a:buFont typeface="Arial"/>
              <a:buChar char="●"/>
            </a:pPr>
            <a:r>
              <a:rPr lang="fr" sz="1300">
                <a:solidFill>
                  <a:schemeClr val="dk1"/>
                </a:solidFill>
                <a:latin typeface="Arial"/>
                <a:ea typeface="Arial"/>
                <a:cs typeface="Arial"/>
                <a:sym typeface="Arial"/>
              </a:rPr>
              <a:t>L’intégration de données qualitatives (enquêtes, entretiens, retours d’expérience) viendrait compléter les indicateurs quantitatifs pour affiner la stratégie.</a:t>
            </a:r>
            <a:endParaRPr sz="1300">
              <a:solidFill>
                <a:schemeClr val="dk1"/>
              </a:solidFill>
              <a:latin typeface="Arial"/>
              <a:ea typeface="Arial"/>
              <a:cs typeface="Arial"/>
              <a:sym typeface="Arial"/>
            </a:endParaRPr>
          </a:p>
          <a:p>
            <a:pPr indent="-311150" lvl="0" marL="457200" rtl="0" algn="just">
              <a:spcBef>
                <a:spcPts val="1200"/>
              </a:spcBef>
              <a:spcAft>
                <a:spcPts val="0"/>
              </a:spcAft>
              <a:buClr>
                <a:schemeClr val="dk1"/>
              </a:buClr>
              <a:buSzPts val="1300"/>
              <a:buFont typeface="Arial"/>
              <a:buChar char="●"/>
            </a:pPr>
            <a:r>
              <a:rPr lang="fr" sz="1300">
                <a:solidFill>
                  <a:schemeClr val="dk1"/>
                </a:solidFill>
                <a:latin typeface="Arial"/>
                <a:ea typeface="Arial"/>
                <a:cs typeface="Arial"/>
                <a:sym typeface="Arial"/>
              </a:rPr>
              <a:t>Enfin, un suivi régulier des indicateurs permettra d’ajuster l’implantation en fonction des évolutions démographiques, économiques et technologiques.</a:t>
            </a:r>
            <a:endParaRPr sz="1300">
              <a:solidFill>
                <a:schemeClr val="dk1"/>
              </a:solidFill>
              <a:latin typeface="Arial"/>
              <a:ea typeface="Arial"/>
              <a:cs typeface="Arial"/>
              <a:sym typeface="Arial"/>
            </a:endParaRPr>
          </a:p>
          <a:p>
            <a:pPr indent="0" lvl="0" marL="0" rtl="0" algn="l">
              <a:spcBef>
                <a:spcPts val="1000"/>
              </a:spcBef>
              <a:spcAft>
                <a:spcPts val="1600"/>
              </a:spcAft>
              <a:buNone/>
            </a:pPr>
            <a:r>
              <a:t/>
            </a:r>
            <a:endParaRPr sz="1700"/>
          </a:p>
        </p:txBody>
      </p:sp>
      <p:sp>
        <p:nvSpPr>
          <p:cNvPr id="192" name="Google Shape;192;p31"/>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