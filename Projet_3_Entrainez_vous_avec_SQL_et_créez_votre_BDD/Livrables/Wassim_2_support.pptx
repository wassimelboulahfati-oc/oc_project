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Arial Black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C64563-A1D8-4AFB-A505-83413BE87B1C}">
  <a:tblStyle styleId="{F9C64563-A1D8-4AFB-A505-83413BE87B1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ArialBlack-regular.fnt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f04564db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9f04564db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g39f04564db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f04564dba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9f04564dba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g39f04564dba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f04564dba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9f04564dba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g39f04564dba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2" name="Google Shape;29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9f04564dba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9f04564dba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3" name="Google Shape;313;g39f04564dba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9ef3373cfd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9ef3373cfd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g39ef3373cfd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9ef3373cfd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9ef3373cfd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g39ef3373cfd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2" name="Google Shape;34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 avec image">
  <p:cSld name="Diapositive de titre avec imag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Google Shape;11;p2"/>
          <p:cNvCxnSpPr/>
          <p:nvPr/>
        </p:nvCxnSpPr>
        <p:spPr>
          <a:xfrm flipH="1" rot="10800000">
            <a:off x="0" y="0"/>
            <a:ext cx="4523015" cy="2253342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" name="Google Shape;12;p2"/>
          <p:cNvSpPr/>
          <p:nvPr>
            <p:ph idx="2" type="pic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3" name="Google Shape;13;p2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rgbClr val="EE957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2" title="Titre"/>
          <p:cNvSpPr txBox="1"/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b="1" sz="3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" title="Sous-titre"/>
          <p:cNvSpPr txBox="1"/>
          <p:nvPr>
            <p:ph idx="1" type="subTitle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6" name="Google Shape;16;p2"/>
          <p:cNvCxnSpPr/>
          <p:nvPr/>
        </p:nvCxnSpPr>
        <p:spPr>
          <a:xfrm flipH="1" rot="10800000">
            <a:off x="-13378" y="3525012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rgbClr val="E26064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POSITION DU TEXTE 01">
  <p:cSld name="DISPOSITION DU TEXTE 0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 title="Puces"/>
          <p:cNvSpPr txBox="1"/>
          <p:nvPr>
            <p:ph idx="1" type="body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3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fmla="val 186380" name="adj"/>
            </a:avLst>
          </a:prstGeom>
          <a:solidFill>
            <a:srgbClr val="E260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3"/>
          <p:cNvCxnSpPr/>
          <p:nvPr/>
        </p:nvCxnSpPr>
        <p:spPr>
          <a:xfrm flipH="1" rot="10800000">
            <a:off x="4781550" y="3785308"/>
            <a:ext cx="1143431" cy="1352550"/>
          </a:xfrm>
          <a:prstGeom prst="straightConnector1">
            <a:avLst/>
          </a:prstGeom>
          <a:noFill/>
          <a:ln cap="flat" cmpd="sng" w="9525">
            <a:solidFill>
              <a:srgbClr val="EE957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" name="Google Shape;22;p3" title="Sous-titre"/>
          <p:cNvSpPr txBox="1"/>
          <p:nvPr>
            <p:ph idx="2" type="body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3" title="Titre "/>
          <p:cNvSpPr txBox="1"/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3"/>
          <p:cNvSpPr/>
          <p:nvPr>
            <p:ph idx="3" type="pic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 avec sous-titre">
  <p:cSld name="Comparaison avec sous-titr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4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9" name="Google Shape;29;p4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" name="Google Shape;30;p4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1" name="Google Shape;31;p4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rgbClr val="EE957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b="1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4" title="Puces"/>
          <p:cNvSpPr txBox="1"/>
          <p:nvPr>
            <p:ph idx="2" type="body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3" type="body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b="1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4" title="Puces"/>
          <p:cNvSpPr txBox="1"/>
          <p:nvPr>
            <p:ph idx="4" type="body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4" title="Sous-titre"/>
          <p:cNvSpPr txBox="1"/>
          <p:nvPr>
            <p:ph idx="5" type="body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4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rgbClr val="E260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0" name="Google Shape;40;p4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-tête de section avec image">
  <p:cSld name="En-tête de section avec imag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fmla="val 53218" name="adj"/>
            </a:avLst>
          </a:prstGeom>
          <a:solidFill>
            <a:srgbClr val="EE957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5"/>
          <p:cNvCxnSpPr/>
          <p:nvPr/>
        </p:nvCxnSpPr>
        <p:spPr>
          <a:xfrm flipH="1" rot="10800000">
            <a:off x="0" y="757568"/>
            <a:ext cx="1338943" cy="680629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" name="Google Shape;45;p5" title="Titre"/>
          <p:cNvSpPr txBox="1"/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b="1" sz="3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5" title="Sous-titre"/>
          <p:cNvSpPr txBox="1"/>
          <p:nvPr>
            <p:ph idx="1" type="body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47" name="Google Shape;47;p5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" name="Google Shape;48;p5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fmla="val 195850" name="adj"/>
            </a:avLst>
          </a:prstGeom>
          <a:solidFill>
            <a:srgbClr val="E260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5"/>
          <p:cNvCxnSpPr/>
          <p:nvPr/>
        </p:nvCxnSpPr>
        <p:spPr>
          <a:xfrm flipH="1" rot="10800000">
            <a:off x="0" y="306422"/>
            <a:ext cx="4946515" cy="2552361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" name="Google Shape;50;p5"/>
          <p:cNvSpPr/>
          <p:nvPr>
            <p:ph idx="2" type="pic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1" name="Google Shape;51;p5"/>
          <p:cNvCxnSpPr/>
          <p:nvPr/>
        </p:nvCxnSpPr>
        <p:spPr>
          <a:xfrm flipH="1" rot="10800000">
            <a:off x="-13378" y="3950208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" name="Google Shape;52;p5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fmla="val 53218" name="adj"/>
            </a:avLst>
          </a:prstGeom>
          <a:solidFill>
            <a:srgbClr val="A5A5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que">
  <p:cSld name="Graphiqu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55" name="Google Shape;55;p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6" name="Google Shape;56;p6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7" name="Google Shape;57;p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rgbClr val="EE957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" name="Google Shape;58;p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rgbClr val="E260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 title="Sous-titre"/>
          <p:cNvSpPr txBox="1"/>
          <p:nvPr>
            <p:ph idx="1" type="body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6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62" name="Google Shape;62;p6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6"/>
          <p:cNvSpPr txBox="1"/>
          <p:nvPr>
            <p:ph idx="2" type="body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6" title="Graphique"/>
          <p:cNvSpPr/>
          <p:nvPr>
            <p:ph idx="3" type="chart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position du texte 02">
  <p:cSld name="Disposition du texte 02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>
            <p:ph idx="2" type="pic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68" name="Google Shape;68;p7" title="Puces"/>
          <p:cNvSpPr txBox="1"/>
          <p:nvPr>
            <p:ph idx="1" type="body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7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fmla="val 186380" name="adj"/>
            </a:avLst>
          </a:prstGeom>
          <a:solidFill>
            <a:srgbClr val="E260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7"/>
          <p:cNvCxnSpPr/>
          <p:nvPr/>
        </p:nvCxnSpPr>
        <p:spPr>
          <a:xfrm flipH="1" rot="10800000">
            <a:off x="7764236" y="889089"/>
            <a:ext cx="1379764" cy="1225461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" name="Google Shape;71;p7" title="Sous-titre"/>
          <p:cNvSpPr txBox="1"/>
          <p:nvPr>
            <p:ph idx="3" type="body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7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fr" sz="2600" u="none" cap="none" strike="noStrik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7" title="Titre "/>
          <p:cNvSpPr txBox="1"/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7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7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au">
  <p:cSld name="Tableau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 title="Tableau"/>
          <p:cNvSpPr/>
          <p:nvPr>
            <p:ph idx="2" type="tbl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79" name="Google Shape;79;p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0" name="Google Shape;80;p8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1" name="Google Shape;81;p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 title="Sous-titre"/>
          <p:cNvSpPr txBox="1"/>
          <p:nvPr>
            <p:ph idx="1" type="body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8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6" name="Google Shape;86;p8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nde photo">
  <p:cSld name="Grande photo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"/>
          <p:cNvSpPr/>
          <p:nvPr/>
        </p:nvSpPr>
        <p:spPr>
          <a:xfrm flipH="1" rot="10800000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 title="Image"/>
          <p:cNvSpPr/>
          <p:nvPr>
            <p:ph idx="2" type="pic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90" name="Google Shape;90;p9"/>
          <p:cNvCxnSpPr/>
          <p:nvPr/>
        </p:nvCxnSpPr>
        <p:spPr>
          <a:xfrm flipH="1" rot="10800000">
            <a:off x="0" y="4008665"/>
            <a:ext cx="1771650" cy="930729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" name="Google Shape;91;p9" title="Titre "/>
          <p:cNvSpPr txBox="1"/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411"/>
            </a:schemeClr>
          </a:solidFill>
          <a:ln>
            <a:noFill/>
          </a:ln>
        </p:spPr>
        <p:txBody>
          <a:bodyPr anchorCtr="0" anchor="ctr" bIns="0" lIns="216000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rci">
  <p:cSld name="Merci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0"/>
          <p:cNvSpPr txBox="1"/>
          <p:nvPr>
            <p:ph idx="1" type="body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2" type="body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3" type="body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4" type="body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10"/>
          <p:cNvSpPr/>
          <p:nvPr/>
        </p:nvSpPr>
        <p:spPr>
          <a:xfrm>
            <a:off x="4844204" y="2628935"/>
            <a:ext cx="194156" cy="194156"/>
          </a:xfrm>
          <a:custGeom>
            <a:rect b="b" l="l" r="r" t="t"/>
            <a:pathLst>
              <a:path extrusionOk="0" h="21600" w="2160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0"/>
          <p:cNvSpPr/>
          <p:nvPr/>
        </p:nvSpPr>
        <p:spPr>
          <a:xfrm>
            <a:off x="4880717" y="2923490"/>
            <a:ext cx="121130" cy="222071"/>
          </a:xfrm>
          <a:custGeom>
            <a:rect b="b" l="l" r="r" t="t"/>
            <a:pathLst>
              <a:path extrusionOk="0" h="21600" w="2160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4844204" y="3245959"/>
            <a:ext cx="194156" cy="141205"/>
          </a:xfrm>
          <a:custGeom>
            <a:rect b="b" l="l" r="r" t="t"/>
            <a:pathLst>
              <a:path extrusionOk="0" h="21600" w="2160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4853787" y="3487561"/>
            <a:ext cx="174989" cy="174989"/>
          </a:xfrm>
          <a:custGeom>
            <a:rect b="b" l="l" r="r" t="t"/>
            <a:pathLst>
              <a:path extrusionOk="0" h="21600" w="2160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10"/>
          <p:cNvCxnSpPr/>
          <p:nvPr/>
        </p:nvCxnSpPr>
        <p:spPr>
          <a:xfrm flipH="1" rot="10800000">
            <a:off x="0" y="0"/>
            <a:ext cx="4523015" cy="2253342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" name="Google Shape;103;p10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" name="Google Shape;104;p10"/>
          <p:cNvCxnSpPr/>
          <p:nvPr/>
        </p:nvCxnSpPr>
        <p:spPr>
          <a:xfrm flipH="1" rot="10800000">
            <a:off x="-13378" y="3525012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10"/>
          <p:cNvSpPr/>
          <p:nvPr>
            <p:ph idx="5" type="pic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0" title="Titre"/>
          <p:cNvSpPr txBox="1"/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b="1" sz="3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>
  <p:cSld name="Diapositive de titre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11"/>
          <p:cNvCxnSpPr/>
          <p:nvPr/>
        </p:nvCxnSpPr>
        <p:spPr>
          <a:xfrm flipH="1" rot="10800000">
            <a:off x="0" y="0"/>
            <a:ext cx="4523015" cy="2253342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" name="Google Shape;110;p11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1" name="Google Shape;111;p11" title="Titre"/>
          <p:cNvSpPr txBox="1"/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b="1" sz="3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11" title="Sous-titre"/>
          <p:cNvSpPr txBox="1"/>
          <p:nvPr>
            <p:ph idx="1" type="subTitle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13" name="Google Shape;113;p11"/>
          <p:cNvCxnSpPr/>
          <p:nvPr/>
        </p:nvCxnSpPr>
        <p:spPr>
          <a:xfrm flipH="1" rot="10800000">
            <a:off x="-13378" y="3525012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-tête de section">
  <p:cSld name="En-tête de section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2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fmla="val 5321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12"/>
          <p:cNvCxnSpPr/>
          <p:nvPr/>
        </p:nvCxnSpPr>
        <p:spPr>
          <a:xfrm flipH="1" rot="10800000">
            <a:off x="0" y="757568"/>
            <a:ext cx="1338943" cy="680629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" name="Google Shape;118;p12" title="Titre"/>
          <p:cNvSpPr txBox="1"/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b="1" sz="3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12" title="Sous-titre"/>
          <p:cNvSpPr txBox="1"/>
          <p:nvPr>
            <p:ph idx="1" type="body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20" name="Google Shape;120;p12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" name="Google Shape;121;p12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fmla="val 19585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12"/>
          <p:cNvCxnSpPr/>
          <p:nvPr/>
        </p:nvCxnSpPr>
        <p:spPr>
          <a:xfrm flipH="1" rot="10800000">
            <a:off x="0" y="306422"/>
            <a:ext cx="4946515" cy="2552361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" name="Google Shape;123;p12"/>
          <p:cNvCxnSpPr/>
          <p:nvPr/>
        </p:nvCxnSpPr>
        <p:spPr>
          <a:xfrm flipH="1" rot="10800000">
            <a:off x="-13378" y="3950208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" name="Google Shape;124;p12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fmla="val 5321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>
  <p:cSld name="Titre et contenu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6" name="Google Shape;126;p13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27" name="Google Shape;127;p13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8" name="Google Shape;128;p13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9" name="Google Shape;129;p13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0" name="Google Shape;130;p13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13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fr" sz="2600" u="none" cap="none" strike="noStrik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3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35" name="Google Shape;135;p13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" type="body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>
  <p:cSld name="Deux contenus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Google Shape;138;p14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39" name="Google Shape;139;p14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40" name="Google Shape;140;p14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1" name="Google Shape;141;p14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2" name="Google Shape;142;p14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14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fr" sz="2600" u="none" cap="none" strike="noStrik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4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14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47" name="Google Shape;147;p14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1" type="body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" name="Google Shape;149;p14"/>
          <p:cNvSpPr txBox="1"/>
          <p:nvPr>
            <p:ph idx="2" type="body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>
  <p:cSld name="Comparaison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1" name="Google Shape;151;p1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52" name="Google Shape;152;p1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53" name="Google Shape;153;p1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4" name="Google Shape;154;p15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5" name="Google Shape;155;p1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15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fr" sz="2600" u="none" cap="none" strike="noStrik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60" name="Google Shape;160;p15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" type="body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15"/>
          <p:cNvSpPr txBox="1"/>
          <p:nvPr>
            <p:ph idx="2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" name="Google Shape;163;p15"/>
          <p:cNvSpPr txBox="1"/>
          <p:nvPr>
            <p:ph idx="3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15"/>
          <p:cNvSpPr txBox="1"/>
          <p:nvPr>
            <p:ph idx="4" type="body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>
  <p:cSld name="Contenu avec légende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16"/>
          <p:cNvCxnSpPr/>
          <p:nvPr/>
        </p:nvCxnSpPr>
        <p:spPr>
          <a:xfrm flipH="1" rot="10800000">
            <a:off x="0" y="0"/>
            <a:ext cx="4523015" cy="2253342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8" name="Google Shape;168;p16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9" name="Google Shape;169;p16" title="Titre"/>
          <p:cNvSpPr txBox="1"/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b="1" sz="3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70" name="Google Shape;170;p16"/>
          <p:cNvCxnSpPr/>
          <p:nvPr/>
        </p:nvCxnSpPr>
        <p:spPr>
          <a:xfrm flipH="1" rot="10800000">
            <a:off x="-13378" y="3525012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1" name="Google Shape;171;p16"/>
          <p:cNvSpPr txBox="1"/>
          <p:nvPr>
            <p:ph idx="1" type="body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2" name="Google Shape;172;p16"/>
          <p:cNvSpPr txBox="1"/>
          <p:nvPr>
            <p:ph idx="2" type="body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>
  <p:cSld name="Image avec légende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17"/>
          <p:cNvCxnSpPr/>
          <p:nvPr/>
        </p:nvCxnSpPr>
        <p:spPr>
          <a:xfrm flipH="1" rot="10800000">
            <a:off x="0" y="0"/>
            <a:ext cx="4523015" cy="2253342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6" name="Google Shape;176;p17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7" name="Google Shape;177;p17" title="Titre"/>
          <p:cNvSpPr txBox="1"/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b="1" sz="3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78" name="Google Shape;178;p17"/>
          <p:cNvCxnSpPr/>
          <p:nvPr/>
        </p:nvCxnSpPr>
        <p:spPr>
          <a:xfrm flipH="1" rot="10800000">
            <a:off x="-13378" y="3525012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9" name="Google Shape;179;p17"/>
          <p:cNvSpPr txBox="1"/>
          <p:nvPr>
            <p:ph idx="1" type="body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17"/>
          <p:cNvSpPr/>
          <p:nvPr>
            <p:ph idx="2" type="pic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>
  <p:cSld name="Vide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fr" sz="2600" u="none" cap="none" strike="noStrik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3" name="Google Shape;183;p1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4" name="Google Shape;184;p1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5" name="Google Shape;185;p18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6" name="Google Shape;186;p1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9" name="Google Shape;189;p18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uniquement">
  <p:cSld name="Titre uniquemen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fr" sz="2600" u="none" cap="none" strike="noStrik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2" name="Google Shape;192;p19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3" name="Google Shape;193;p19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4" name="Google Shape;194;p19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5" name="Google Shape;195;p19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19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 title="Titre "/>
          <p:cNvSpPr txBox="1"/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19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position personnalisée">
  <p:cSld name="Disposition personnalisée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 txBox="1"/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i="0" sz="3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1" title="Image de bâtiment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784" r="20784" t="0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descr="Hexagone de couleur foncée unie au milieu d’accentuation d’image" id="208" name="Google Shape;208;p21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/>
              <a:t>Création et utilisation de la base de données</a:t>
            </a:r>
            <a:endParaRPr/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/>
              <a:t>Wassim EL BOULAHFATI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/>
              <a:t>Data Engineer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/>
              <a:t>Le 31 octobre 2025</a:t>
            </a:r>
            <a:endParaRPr/>
          </a:p>
        </p:txBody>
      </p:sp>
      <p:pic>
        <p:nvPicPr>
          <p:cNvPr descr="https://lh5.googleusercontent.com/TcdnvzxQ7ulQo8GiFwfIKujloK6EfAJv7ikP-EvnfdTVQnROS3WXw6XSx9Cpd73e_l7GCUAnbxroB-qlzG2fvYdCyl-Y5QZ95MpiD-GfDN-4taJyHRqsr3vOZzc3ONTBu52b0HIdUOMeHvdHiA_5tD0" id="211" name="Google Shape;211;p21"/>
          <p:cNvPicPr preferRelativeResize="0"/>
          <p:nvPr/>
        </p:nvPicPr>
        <p:blipFill rotWithShape="1">
          <a:blip r:embed="rId4">
            <a:alphaModFix/>
          </a:blip>
          <a:srcRect b="0" l="11610" r="10203" t="0"/>
          <a:stretch/>
        </p:blipFill>
        <p:spPr>
          <a:xfrm>
            <a:off x="4781800" y="3895175"/>
            <a:ext cx="2752624" cy="116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5.googleusercontent.com/TcdnvzxQ7ulQo8GiFwfIKujloK6EfAJv7ikP-EvnfdTVQnROS3WXw6XSx9Cpd73e_l7GCUAnbxroB-qlzG2fvYdCyl-Y5QZ95MpiD-GfDN-4taJyHRqsr3vOZzc3ONTBu52b0HIdUOMeHvdHiA_5tD0" id="212" name="Google Shape;212;p21"/>
          <p:cNvPicPr preferRelativeResize="0"/>
          <p:nvPr/>
        </p:nvPicPr>
        <p:blipFill rotWithShape="1">
          <a:blip r:embed="rId5">
            <a:alphaModFix/>
          </a:blip>
          <a:srcRect b="13972" l="11387" r="63940" t="12667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/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sz="3000"/>
              <a:t>Contexte du projet</a:t>
            </a:r>
            <a:endParaRPr sz="3000"/>
          </a:p>
        </p:txBody>
      </p:sp>
      <p:sp>
        <p:nvSpPr>
          <p:cNvPr id="219" name="Google Shape;219;p22"/>
          <p:cNvSpPr txBox="1"/>
          <p:nvPr>
            <p:ph idx="2" type="body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/>
              <a:t>Laplace Immo, réseau national d’agences immobilières</a:t>
            </a:r>
            <a:endParaRPr/>
          </a:p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00"/>
                </a:solidFill>
              </a:rPr>
              <a:t>Objectif stratégique</a:t>
            </a:r>
            <a:r>
              <a:rPr lang="fr" sz="1200">
                <a:solidFill>
                  <a:srgbClr val="000000"/>
                </a:solidFill>
              </a:rPr>
              <a:t> : Exploiter les données pour mieux accompagner les clients et se démarquer de la concurrence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00"/>
                </a:solidFill>
              </a:rPr>
              <a:t>Mission confiée</a:t>
            </a:r>
            <a:r>
              <a:rPr lang="fr" sz="1200">
                <a:solidFill>
                  <a:srgbClr val="000000"/>
                </a:solidFill>
              </a:rPr>
              <a:t> : 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0000"/>
                </a:solidFill>
              </a:rPr>
              <a:t>Créer une base de données nationale des transactions immobilières pour :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fr" sz="1200">
                <a:solidFill>
                  <a:srgbClr val="000000"/>
                </a:solidFill>
              </a:rPr>
              <a:t>Suivre l’évolution du prix au m²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fr" sz="1200">
                <a:solidFill>
                  <a:srgbClr val="000000"/>
                </a:solidFill>
              </a:rPr>
              <a:t>Identifier les zones dynamiques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fr" sz="1200">
                <a:solidFill>
                  <a:srgbClr val="000000"/>
                </a:solidFill>
              </a:rPr>
              <a:t>Répondre aux besoins des agences régionales</a:t>
            </a:r>
            <a:endParaRPr sz="12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22" title="Horizon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23312" r="23313" t="0"/>
          <a:stretch/>
        </p:blipFill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222" name="Google Shape;222;p22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https://lh5.googleusercontent.com/TcdnvzxQ7ulQo8GiFwfIKujloK6EfAJv7ikP-EvnfdTVQnROS3WXw6XSx9Cpd73e_l7GCUAnbxroB-qlzG2fvYdCyl-Y5QZ95MpiD-GfDN-4taJyHRqsr3vOZzc3ONTBu52b0HIdUOMeHvdHiA_5tD0" id="223" name="Google Shape;22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739" y="4634800"/>
            <a:ext cx="1159901" cy="3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"/>
          <p:cNvSpPr txBox="1"/>
          <p:nvPr>
            <p:ph type="title"/>
          </p:nvPr>
        </p:nvSpPr>
        <p:spPr>
          <a:xfrm>
            <a:off x="389000" y="369648"/>
            <a:ext cx="46899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b="0" lang="fr" sz="3000"/>
              <a:t>Sommaire</a:t>
            </a:r>
            <a:endParaRPr b="0" sz="3000"/>
          </a:p>
        </p:txBody>
      </p:sp>
      <p:sp>
        <p:nvSpPr>
          <p:cNvPr id="230" name="Google Shape;230;p23"/>
          <p:cNvSpPr txBox="1"/>
          <p:nvPr>
            <p:ph idx="2" type="body"/>
          </p:nvPr>
        </p:nvSpPr>
        <p:spPr>
          <a:xfrm>
            <a:off x="390525" y="1030275"/>
            <a:ext cx="73797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fr"/>
              <a:t>Contexte et mise en place du POC							    	</a:t>
            </a:r>
            <a:r>
              <a:rPr lang="fr"/>
              <a:t>p4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/>
              <a:t>1.1 Démarche du POC											p5</a:t>
            </a:r>
            <a:endParaRPr sz="15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/>
              <a:t>1.2 Les données initiales										p6</a:t>
            </a:r>
            <a:endParaRPr sz="15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/>
              <a:t>1.3 L’extrait du dictionnaire des données (communes)					p7</a:t>
            </a:r>
            <a:endParaRPr sz="15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/>
              <a:t>1.4 Le schéma relationnel normalisé								p8</a:t>
            </a:r>
            <a:endParaRPr sz="15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/>
              <a:t>1.5 La base de données 										p9</a:t>
            </a:r>
            <a:endParaRPr sz="15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/>
              <a:t>1.6 Structure de la base de données et chargement des données				p10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fr"/>
              <a:t>Requêtes SQL et résultats									</a:t>
            </a:r>
            <a:r>
              <a:rPr lang="fr"/>
              <a:t>p11</a:t>
            </a:r>
            <a:br>
              <a:rPr b="1" lang="fr"/>
            </a:b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fr"/>
              <a:t>Recommandations											</a:t>
            </a:r>
            <a:r>
              <a:rPr lang="fr"/>
              <a:t>p12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/>
              <a:t>3.1 Travaux menés &amp; pertinence									p13</a:t>
            </a:r>
            <a:endParaRPr sz="15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/>
              <a:t>3.2 Perspectives												p14</a:t>
            </a:r>
            <a:endParaRPr sz="1500"/>
          </a:p>
        </p:txBody>
      </p:sp>
      <p:sp>
        <p:nvSpPr>
          <p:cNvPr id="231" name="Google Shape;231;p23"/>
          <p:cNvSpPr txBox="1"/>
          <p:nvPr>
            <p:ph idx="12" type="sldNum"/>
          </p:nvPr>
        </p:nvSpPr>
        <p:spPr>
          <a:xfrm>
            <a:off x="8360228" y="4767263"/>
            <a:ext cx="55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lh5.googleusercontent.com/TcdnvzxQ7ulQo8GiFwfIKujloK6EfAJv7ikP-EvnfdTVQnROS3WXw6XSx9Cpd73e_l7GCUAnbxroB-qlzG2fvYdCyl-Y5QZ95MpiD-GfDN-4taJyHRqsr3vOZzc3ONTBu52b0HIdUOMeHvdHiA_5tD0"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874" y="4634800"/>
            <a:ext cx="1159901" cy="3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4" title="Image de bâtiment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784" r="20784" t="0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descr="Hexagone de couleur foncée unie au milieu d’accentuation d’image" id="239" name="Google Shape;239;p24"/>
          <p:cNvSpPr/>
          <p:nvPr/>
        </p:nvSpPr>
        <p:spPr>
          <a:xfrm rot="-5400000">
            <a:off x="2009787" y="1791825"/>
            <a:ext cx="1809600" cy="15600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4"/>
          <p:cNvSpPr txBox="1"/>
          <p:nvPr>
            <p:ph type="title"/>
          </p:nvPr>
        </p:nvSpPr>
        <p:spPr>
          <a:xfrm>
            <a:off x="4712882" y="1655723"/>
            <a:ext cx="3683700" cy="13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b="0" lang="fr"/>
              <a:t>1. Contexte et mise en place du POC</a:t>
            </a:r>
            <a:endParaRPr/>
          </a:p>
        </p:txBody>
      </p:sp>
      <p:sp>
        <p:nvSpPr>
          <p:cNvPr descr="Hexagone de couleur foncée unie au milieu d’accentuation d’image" id="241" name="Google Shape;241;p24"/>
          <p:cNvSpPr/>
          <p:nvPr/>
        </p:nvSpPr>
        <p:spPr>
          <a:xfrm rot="-5400000">
            <a:off x="2009787" y="1791825"/>
            <a:ext cx="1809600" cy="15600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lh5.googleusercontent.com/TcdnvzxQ7ulQo8GiFwfIKujloK6EfAJv7ikP-EvnfdTVQnROS3WXw6XSx9Cpd73e_l7GCUAnbxroB-qlzG2fvYdCyl-Y5QZ95MpiD-GfDN-4taJyHRqsr3vOZzc3ONTBu52b0HIdUOMeHvdHiA_5tD0" id="242" name="Google Shape;242;p24"/>
          <p:cNvPicPr preferRelativeResize="0"/>
          <p:nvPr/>
        </p:nvPicPr>
        <p:blipFill rotWithShape="1">
          <a:blip r:embed="rId4">
            <a:alphaModFix/>
          </a:blip>
          <a:srcRect b="13968" l="11386" r="63940" t="12669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5.googleusercontent.com/TcdnvzxQ7ulQo8GiFwfIKujloK6EfAJv7ikP-EvnfdTVQnROS3WXw6XSx9Cpd73e_l7GCUAnbxroB-qlzG2fvYdCyl-Y5QZ95MpiD-GfDN-4taJyHRqsr3vOZzc3ONTBu52b0HIdUOMeHvdHiA_5tD0" id="243" name="Google Shape;24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874" y="4634800"/>
            <a:ext cx="1159901" cy="3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"/>
          <p:cNvSpPr txBox="1"/>
          <p:nvPr>
            <p:ph type="title"/>
          </p:nvPr>
        </p:nvSpPr>
        <p:spPr>
          <a:xfrm>
            <a:off x="389000" y="369648"/>
            <a:ext cx="46899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b="0" lang="fr" sz="3000"/>
              <a:t>1.1 </a:t>
            </a:r>
            <a:r>
              <a:rPr b="0" lang="fr" sz="3000"/>
              <a:t>Démarche du POC</a:t>
            </a:r>
            <a:endParaRPr b="0" sz="3000"/>
          </a:p>
        </p:txBody>
      </p:sp>
      <p:sp>
        <p:nvSpPr>
          <p:cNvPr id="250" name="Google Shape;250;p25"/>
          <p:cNvSpPr txBox="1"/>
          <p:nvPr>
            <p:ph idx="2" type="body"/>
          </p:nvPr>
        </p:nvSpPr>
        <p:spPr>
          <a:xfrm>
            <a:off x="390525" y="1348275"/>
            <a:ext cx="7379700" cy="30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fr"/>
              <a:t>Étude des fichiers Excel fournis et rédaction d’un dictionnaire de données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fr"/>
              <a:t>Création du schéma relationnel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fr"/>
              <a:t>Nettoyage et transformation des données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fr"/>
              <a:t>Chargement des données dans BigQuery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fr"/>
              <a:t>Rédaction et exécution des requêtes SQL pour répondre aux besoins métier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5"/>
          <p:cNvSpPr txBox="1"/>
          <p:nvPr>
            <p:ph idx="12" type="sldNum"/>
          </p:nvPr>
        </p:nvSpPr>
        <p:spPr>
          <a:xfrm>
            <a:off x="8360228" y="4767263"/>
            <a:ext cx="55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lh5.googleusercontent.com/TcdnvzxQ7ulQo8GiFwfIKujloK6EfAJv7ikP-EvnfdTVQnROS3WXw6XSx9Cpd73e_l7GCUAnbxroB-qlzG2fvYdCyl-Y5QZ95MpiD-GfDN-4taJyHRqsr3vOZzc3ONTBu52b0HIdUOMeHvdHiA_5tD0" id="252" name="Google Shape;25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874" y="4634800"/>
            <a:ext cx="1159901" cy="3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b="0" lang="fr" sz="3000"/>
              <a:t>1.2 </a:t>
            </a:r>
            <a:r>
              <a:rPr b="0" lang="fr" sz="3000"/>
              <a:t>Les données initiales</a:t>
            </a:r>
            <a:endParaRPr b="0" sz="3000"/>
          </a:p>
        </p:txBody>
      </p:sp>
      <p:sp>
        <p:nvSpPr>
          <p:cNvPr id="259" name="Google Shape;259;p26"/>
          <p:cNvSpPr txBox="1"/>
          <p:nvPr>
            <p:ph idx="2" type="body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chemeClr val="lt1"/>
                </a:solidFill>
                <a:highlight>
                  <a:srgbClr val="EE9571"/>
                </a:highlight>
              </a:rPr>
              <a:t>Sources des données</a:t>
            </a:r>
            <a:endParaRPr b="1" sz="1500">
              <a:solidFill>
                <a:schemeClr val="lt1"/>
              </a:solidFill>
              <a:highlight>
                <a:srgbClr val="EE9571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fr" sz="1200">
                <a:solidFill>
                  <a:srgbClr val="000000"/>
                </a:solidFill>
              </a:rPr>
              <a:t>Fichiers fournis par Laplace Immo</a:t>
            </a:r>
            <a:r>
              <a:rPr lang="fr" sz="1200">
                <a:solidFill>
                  <a:srgbClr val="000000"/>
                </a:solidFill>
              </a:rPr>
              <a:t> :</a:t>
            </a:r>
            <a:endParaRPr sz="1200">
              <a:solidFill>
                <a:srgbClr val="000000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○"/>
            </a:pPr>
            <a:r>
              <a:rPr lang="fr" sz="1200">
                <a:solidFill>
                  <a:srgbClr val="000000"/>
                </a:solidFill>
              </a:rPr>
              <a:t>Transactions immobilières (valeurs foncières)</a:t>
            </a:r>
            <a:endParaRPr sz="1200">
              <a:solidFill>
                <a:srgbClr val="000000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○"/>
            </a:pPr>
            <a:r>
              <a:rPr lang="fr" sz="1200">
                <a:solidFill>
                  <a:srgbClr val="000000"/>
                </a:solidFill>
              </a:rPr>
              <a:t>Données géographiques des communes</a:t>
            </a:r>
            <a:endParaRPr sz="1200">
              <a:solidFill>
                <a:srgbClr val="000000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○"/>
            </a:pPr>
            <a:r>
              <a:rPr lang="fr" sz="1200">
                <a:solidFill>
                  <a:srgbClr val="000000"/>
                </a:solidFill>
              </a:rPr>
              <a:t>Référentiel des régions et départements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fr" sz="1200">
                <a:solidFill>
                  <a:srgbClr val="000000"/>
                </a:solidFill>
              </a:rPr>
              <a:t>Format d’origine</a:t>
            </a:r>
            <a:r>
              <a:rPr lang="fr" sz="1200">
                <a:solidFill>
                  <a:srgbClr val="000000"/>
                </a:solidFill>
              </a:rPr>
              <a:t> : Excel (.xlsx)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chemeClr val="lt1"/>
                </a:solidFill>
                <a:highlight>
                  <a:srgbClr val="E26064"/>
                </a:highlight>
              </a:rPr>
              <a:t>Volume des données</a:t>
            </a:r>
            <a:endParaRPr b="1" sz="1500">
              <a:solidFill>
                <a:schemeClr val="lt1"/>
              </a:solidFill>
              <a:highlight>
                <a:srgbClr val="E26064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fr" sz="1200">
                <a:solidFill>
                  <a:srgbClr val="000000"/>
                </a:solidFill>
                <a:highlight>
                  <a:schemeClr val="lt1"/>
                </a:highlight>
              </a:rPr>
              <a:t>Transactions</a:t>
            </a:r>
            <a:r>
              <a:rPr lang="fr" sz="1200">
                <a:solidFill>
                  <a:srgbClr val="000000"/>
                </a:solidFill>
                <a:highlight>
                  <a:schemeClr val="lt1"/>
                </a:highlight>
              </a:rPr>
              <a:t> : </a:t>
            </a:r>
            <a:r>
              <a:rPr lang="fr" sz="1200">
                <a:solidFill>
                  <a:srgbClr val="000000"/>
                </a:solidFill>
                <a:highlight>
                  <a:schemeClr val="lt1"/>
                </a:highlight>
              </a:rPr>
              <a:t>~35 000</a:t>
            </a:r>
            <a:endParaRPr sz="12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fr" sz="1200">
                <a:solidFill>
                  <a:srgbClr val="000000"/>
                </a:solidFill>
              </a:rPr>
              <a:t>Communes</a:t>
            </a:r>
            <a:r>
              <a:rPr lang="fr" sz="1200">
                <a:solidFill>
                  <a:srgbClr val="000000"/>
                </a:solidFill>
              </a:rPr>
              <a:t> : ~35 000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fr" sz="1200">
                <a:solidFill>
                  <a:srgbClr val="000000"/>
                </a:solidFill>
              </a:rPr>
              <a:t>Régions</a:t>
            </a:r>
            <a:r>
              <a:rPr lang="fr" sz="1200">
                <a:solidFill>
                  <a:srgbClr val="000000"/>
                </a:solidFill>
              </a:rPr>
              <a:t> : 13 métropolitaines + DOM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6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lh5.googleusercontent.com/TcdnvzxQ7ulQo8GiFwfIKujloK6EfAJv7ikP-EvnfdTVQnROS3WXw6XSx9Cpd73e_l7GCUAnbxroB-qlzG2fvYdCyl-Y5QZ95MpiD-GfDN-4taJyHRqsr3vOZzc3ONTBu52b0HIdUOMeHvdHiA_5tD0" id="261" name="Google Shape;26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874" y="4634800"/>
            <a:ext cx="1159901" cy="3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 txBox="1"/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b="0" lang="fr" sz="3000"/>
              <a:t>1.3 </a:t>
            </a:r>
            <a:r>
              <a:rPr b="0" lang="fr" sz="3000"/>
              <a:t>L’extrait du dictionnaire des données </a:t>
            </a:r>
            <a:r>
              <a:rPr b="0" lang="fr" sz="2000"/>
              <a:t>(communes)</a:t>
            </a:r>
            <a:endParaRPr b="0" sz="2000"/>
          </a:p>
        </p:txBody>
      </p:sp>
      <p:sp>
        <p:nvSpPr>
          <p:cNvPr id="268" name="Google Shape;268;p27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9" name="Google Shape;269;p27"/>
          <p:cNvGraphicFramePr/>
          <p:nvPr/>
        </p:nvGraphicFramePr>
        <p:xfrm>
          <a:off x="389000" y="1124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{F9C64563-A1D8-4AFB-A505-83413BE87B1C}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03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b="1" sz="1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solidFill>
                      <a:srgbClr val="EE95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SIGNIFICATION</a:t>
                      </a:r>
                      <a:endParaRPr b="1" sz="1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solidFill>
                      <a:srgbClr val="EE95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b="1" sz="1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solidFill>
                      <a:srgbClr val="EE95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LONGUEUR</a:t>
                      </a:r>
                      <a:endParaRPr b="1" sz="1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solidFill>
                      <a:srgbClr val="EE9571"/>
                    </a:solidFill>
                  </a:tcPr>
                </a:tc>
              </a:tr>
              <a:tr h="277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id_commune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Identifiant unique de la table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Varchar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solidFill>
                      <a:srgbClr val="FCE5CD"/>
                    </a:solidFill>
                  </a:tcPr>
                </a:tc>
              </a:tr>
              <a:tr h="277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CODREG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 region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Varchar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solidFill>
                      <a:srgbClr val="FCE5CD"/>
                    </a:solidFill>
                  </a:tcPr>
                </a:tc>
              </a:tr>
              <a:tr h="277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CODDEP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 département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Varchar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solidFill>
                      <a:srgbClr val="FCE5CD"/>
                    </a:solidFill>
                  </a:tcPr>
                </a:tc>
              </a:tr>
              <a:tr h="277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CODARR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 arrondissement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Varchar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solidFill>
                      <a:srgbClr val="FCE5CD"/>
                    </a:solidFill>
                  </a:tcPr>
                </a:tc>
              </a:tr>
              <a:tr h="277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CODCAN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 du canton.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Varchar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solidFill>
                      <a:srgbClr val="FCE5CD"/>
                    </a:solidFill>
                  </a:tcPr>
                </a:tc>
              </a:tr>
              <a:tr h="277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CODCOM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 Commune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Varchar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solidFill>
                      <a:srgbClr val="FCE5CD"/>
                    </a:solidFill>
                  </a:tcPr>
                </a:tc>
              </a:tr>
              <a:tr h="277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 de la commune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Varchar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solidFill>
                      <a:srgbClr val="FCE5CD"/>
                    </a:solidFill>
                  </a:tcPr>
                </a:tc>
              </a:tr>
              <a:tr h="277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PMUN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Population municipale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Entier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NC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solidFill>
                      <a:srgbClr val="FCE5CD"/>
                    </a:solidFill>
                  </a:tcPr>
                </a:tc>
              </a:tr>
              <a:tr h="277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PCAP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Population compté à part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Entier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NC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solidFill>
                      <a:srgbClr val="FCE5CD"/>
                    </a:solidFill>
                  </a:tcPr>
                </a:tc>
              </a:tr>
              <a:tr h="277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PTOT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Population totale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Entier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NC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pic>
        <p:nvPicPr>
          <p:cNvPr descr="https://lh5.googleusercontent.com/TcdnvzxQ7ulQo8GiFwfIKujloK6EfAJv7ikP-EvnfdTVQnROS3WXw6XSx9Cpd73e_l7GCUAnbxroB-qlzG2fvYdCyl-Y5QZ95MpiD-GfDN-4taJyHRqsr3vOZzc3ONTBu52b0HIdUOMeHvdHiA_5tD0" id="270" name="Google Shape;27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874" y="4697717"/>
            <a:ext cx="1159901" cy="3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8"/>
          <p:cNvSpPr txBox="1"/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b="0" lang="fr" sz="3000"/>
              <a:t>1.4 </a:t>
            </a:r>
            <a:r>
              <a:rPr b="0" lang="fr" sz="3000"/>
              <a:t>Le schéma relationnel normalisé</a:t>
            </a:r>
            <a:endParaRPr b="0" sz="3000"/>
          </a:p>
        </p:txBody>
      </p:sp>
      <p:sp>
        <p:nvSpPr>
          <p:cNvPr id="277" name="Google Shape;277;p28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0950" y="1017750"/>
            <a:ext cx="4039324" cy="392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5.googleusercontent.com/TcdnvzxQ7ulQo8GiFwfIKujloK6EfAJv7ikP-EvnfdTVQnROS3WXw6XSx9Cpd73e_l7GCUAnbxroB-qlzG2fvYdCyl-Y5QZ95MpiD-GfDN-4taJyHRqsr3vOZzc3ONTBu52b0HIdUOMeHvdHiA_5tD0" id="279" name="Google Shape;27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874" y="4634800"/>
            <a:ext cx="1159901" cy="3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"/>
          <p:cNvSpPr txBox="1"/>
          <p:nvPr>
            <p:ph type="title"/>
          </p:nvPr>
        </p:nvSpPr>
        <p:spPr>
          <a:xfrm>
            <a:off x="389000" y="275259"/>
            <a:ext cx="49275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b="0" lang="fr" sz="3000"/>
              <a:t>1.5 </a:t>
            </a:r>
            <a:r>
              <a:rPr b="0" lang="fr" sz="3000"/>
              <a:t>La base de données </a:t>
            </a:r>
            <a:endParaRPr b="0" sz="2000"/>
          </a:p>
        </p:txBody>
      </p:sp>
      <p:sp>
        <p:nvSpPr>
          <p:cNvPr id="286" name="Google Shape;286;p29"/>
          <p:cNvSpPr txBox="1"/>
          <p:nvPr>
            <p:ph idx="2" type="body"/>
          </p:nvPr>
        </p:nvSpPr>
        <p:spPr>
          <a:xfrm>
            <a:off x="468325" y="1116779"/>
            <a:ext cx="69786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chemeClr val="lt1"/>
                </a:solidFill>
                <a:highlight>
                  <a:srgbClr val="EE9571"/>
                </a:highlight>
              </a:rPr>
              <a:t>Structure de la base de données</a:t>
            </a:r>
            <a:endParaRPr b="1" sz="1500">
              <a:solidFill>
                <a:schemeClr val="lt1"/>
              </a:solidFill>
              <a:highlight>
                <a:srgbClr val="EE9571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fr" sz="1200">
                <a:solidFill>
                  <a:srgbClr val="000000"/>
                </a:solidFill>
              </a:rPr>
              <a:t>Base hébergée sur</a:t>
            </a:r>
            <a:r>
              <a:rPr lang="fr" sz="1200">
                <a:solidFill>
                  <a:srgbClr val="000000"/>
                </a:solidFill>
              </a:rPr>
              <a:t> : BigQuery (Google Cloud Platform)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fr" sz="1200">
                <a:solidFill>
                  <a:srgbClr val="000000"/>
                </a:solidFill>
              </a:rPr>
              <a:t>Modèle relationnel</a:t>
            </a:r>
            <a:r>
              <a:rPr lang="fr" sz="1200">
                <a:solidFill>
                  <a:srgbClr val="000000"/>
                </a:solidFill>
              </a:rPr>
              <a:t> : normalisé en 3 tables principales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chemeClr val="lt1"/>
                </a:solidFill>
                <a:highlight>
                  <a:srgbClr val="E26064"/>
                </a:highlight>
              </a:rPr>
              <a:t>Tables créées</a:t>
            </a:r>
            <a:endParaRPr b="1" sz="1500">
              <a:solidFill>
                <a:schemeClr val="lt1"/>
              </a:solidFill>
              <a:highlight>
                <a:srgbClr val="E26064"/>
              </a:highlight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•"/>
            </a:pPr>
            <a:r>
              <a:rPr b="1" lang="fr" sz="1200">
                <a:solidFill>
                  <a:srgbClr val="000000"/>
                </a:solidFill>
              </a:rPr>
              <a:t>valeurs_foncieres : </a:t>
            </a:r>
            <a:r>
              <a:rPr lang="fr" sz="1200">
                <a:solidFill>
                  <a:srgbClr val="000000"/>
                </a:solidFill>
              </a:rPr>
              <a:t>Transactions immobilières : prix, surface, type, date…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•"/>
            </a:pPr>
            <a:r>
              <a:rPr b="1" lang="fr" sz="1200">
                <a:solidFill>
                  <a:srgbClr val="000000"/>
                </a:solidFill>
              </a:rPr>
              <a:t>donnees_commune :</a:t>
            </a:r>
            <a:r>
              <a:rPr lang="fr" sz="1200">
                <a:solidFill>
                  <a:srgbClr val="000000"/>
                </a:solidFill>
              </a:rPr>
              <a:t> Données démographiques et géographiques des communes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•"/>
            </a:pPr>
            <a:r>
              <a:rPr b="1" lang="fr" sz="1200">
                <a:solidFill>
                  <a:srgbClr val="000000"/>
                </a:solidFill>
              </a:rPr>
              <a:t>referentiel_geographique : </a:t>
            </a:r>
            <a:r>
              <a:rPr lang="fr" sz="1200">
                <a:solidFill>
                  <a:srgbClr val="000000"/>
                </a:solidFill>
              </a:rPr>
              <a:t>Référentiel des régions, départements, codes INSEE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chemeClr val="lt1"/>
                </a:solidFill>
                <a:highlight>
                  <a:srgbClr val="EE9571"/>
                </a:highlight>
              </a:rPr>
              <a:t>Données chargées</a:t>
            </a:r>
            <a:endParaRPr b="1" sz="1500">
              <a:solidFill>
                <a:schemeClr val="lt1"/>
              </a:solidFill>
              <a:highlight>
                <a:srgbClr val="EE9571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fr" sz="1200">
                <a:solidFill>
                  <a:srgbClr val="000000"/>
                </a:solidFill>
              </a:rPr>
              <a:t>Volume total</a:t>
            </a:r>
            <a:r>
              <a:rPr lang="fr" sz="1200">
                <a:solidFill>
                  <a:srgbClr val="000000"/>
                </a:solidFill>
              </a:rPr>
              <a:t> : ~35000 lignes sur les 3 tables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fr" sz="1200">
                <a:solidFill>
                  <a:srgbClr val="000000"/>
                </a:solidFill>
              </a:rPr>
              <a:t>Période couverte</a:t>
            </a:r>
            <a:r>
              <a:rPr lang="fr" sz="1200">
                <a:solidFill>
                  <a:srgbClr val="000000"/>
                </a:solidFill>
              </a:rPr>
              <a:t> : 1er semestre de 2020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fr" sz="1200">
                <a:solidFill>
                  <a:srgbClr val="000000"/>
                </a:solidFill>
              </a:rPr>
              <a:t>Types de biens</a:t>
            </a:r>
            <a:r>
              <a:rPr lang="fr" sz="1200">
                <a:solidFill>
                  <a:srgbClr val="000000"/>
                </a:solidFill>
              </a:rPr>
              <a:t> : appartements, maisons, locaux commerciaux…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9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lh5.googleusercontent.com/TcdnvzxQ7ulQo8GiFwfIKujloK6EfAJv7ikP-EvnfdTVQnROS3WXw6XSx9Cpd73e_l7GCUAnbxroB-qlzG2fvYdCyl-Y5QZ95MpiD-GfDN-4taJyHRqsr3vOZzc3ONTBu52b0HIdUOMeHvdHiA_5tD0" id="288" name="Google Shape;28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874" y="4634800"/>
            <a:ext cx="1159901" cy="3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0"/>
          <p:cNvSpPr txBox="1"/>
          <p:nvPr>
            <p:ph type="title"/>
          </p:nvPr>
        </p:nvSpPr>
        <p:spPr>
          <a:xfrm>
            <a:off x="389008" y="557870"/>
            <a:ext cx="46899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lang="fr" sz="3000"/>
              <a:t>1.6 Structure de la base de données et c</a:t>
            </a:r>
            <a:r>
              <a:rPr b="0" lang="fr" sz="3000"/>
              <a:t>hargement des données</a:t>
            </a:r>
            <a:endParaRPr b="0" sz="3000"/>
          </a:p>
        </p:txBody>
      </p:sp>
      <p:sp>
        <p:nvSpPr>
          <p:cNvPr id="295" name="Google Shape;295;p30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91473"/>
            <a:ext cx="8839201" cy="23608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5.googleusercontent.com/TcdnvzxQ7ulQo8GiFwfIKujloK6EfAJv7ikP-EvnfdTVQnROS3WXw6XSx9Cpd73e_l7GCUAnbxroB-qlzG2fvYdCyl-Y5QZ95MpiD-GfDN-4taJyHRqsr3vOZzc3ONTBu52b0HIdUOMeHvdHiA_5tD0" id="297" name="Google Shape;29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874" y="4634800"/>
            <a:ext cx="1159901" cy="3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31" title="Image de bâtiment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784" r="20784" t="0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descr="Hexagone de couleur foncée unie au milieu d’accentuation d’image" id="304" name="Google Shape;304;p31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1"/>
          <p:cNvSpPr txBox="1"/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b="0" lang="fr"/>
              <a:t>2. </a:t>
            </a:r>
            <a:r>
              <a:rPr b="0" lang="fr">
                <a:latin typeface="Calibri"/>
                <a:ea typeface="Calibri"/>
                <a:cs typeface="Calibri"/>
                <a:sym typeface="Calibri"/>
              </a:rPr>
              <a:t>Requêtes SQL et résultats</a:t>
            </a:r>
            <a:endParaRPr/>
          </a:p>
        </p:txBody>
      </p:sp>
      <p:sp>
        <p:nvSpPr>
          <p:cNvPr descr="Hexagone de couleur foncée unie au milieu d’accentuation d’image" id="306" name="Google Shape;306;p31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1"/>
          <p:cNvSpPr txBox="1"/>
          <p:nvPr>
            <p:ph idx="1" type="body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/>
              <a:t>Démonstration (présentation de l’interface BigQuery et requêtes d’extraction)</a:t>
            </a:r>
            <a:endParaRPr/>
          </a:p>
        </p:txBody>
      </p:sp>
      <p:pic>
        <p:nvPicPr>
          <p:cNvPr descr="https://lh5.googleusercontent.com/TcdnvzxQ7ulQo8GiFwfIKujloK6EfAJv7ikP-EvnfdTVQnROS3WXw6XSx9Cpd73e_l7GCUAnbxroB-qlzG2fvYdCyl-Y5QZ95MpiD-GfDN-4taJyHRqsr3vOZzc3ONTBu52b0HIdUOMeHvdHiA_5tD0" id="308" name="Google Shape;308;p31"/>
          <p:cNvPicPr preferRelativeResize="0"/>
          <p:nvPr/>
        </p:nvPicPr>
        <p:blipFill rotWithShape="1">
          <a:blip r:embed="rId4">
            <a:alphaModFix/>
          </a:blip>
          <a:srcRect b="13972" l="11387" r="63940" t="12667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5.googleusercontent.com/TcdnvzxQ7ulQo8GiFwfIKujloK6EfAJv7ikP-EvnfdTVQnROS3WXw6XSx9Cpd73e_l7GCUAnbxroB-qlzG2fvYdCyl-Y5QZ95MpiD-GfDN-4taJyHRqsr3vOZzc3ONTBu52b0HIdUOMeHvdHiA_5tD0" id="309" name="Google Shape;30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874" y="4634800"/>
            <a:ext cx="1159901" cy="3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32" title="Image de bâtiment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784" r="20784" t="0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descr="Hexagone de couleur foncée unie au milieu d’accentuation d’image" id="316" name="Google Shape;316;p32"/>
          <p:cNvSpPr/>
          <p:nvPr/>
        </p:nvSpPr>
        <p:spPr>
          <a:xfrm rot="-5400000">
            <a:off x="2009787" y="1791825"/>
            <a:ext cx="1809600" cy="15600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2"/>
          <p:cNvSpPr txBox="1"/>
          <p:nvPr>
            <p:ph type="title"/>
          </p:nvPr>
        </p:nvSpPr>
        <p:spPr>
          <a:xfrm>
            <a:off x="4712882" y="1490565"/>
            <a:ext cx="3683700" cy="13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b="0" lang="fr"/>
              <a:t>3</a:t>
            </a:r>
            <a:r>
              <a:rPr b="0" lang="fr"/>
              <a:t>. Recommandations</a:t>
            </a:r>
            <a:endParaRPr/>
          </a:p>
        </p:txBody>
      </p:sp>
      <p:sp>
        <p:nvSpPr>
          <p:cNvPr descr="Hexagone de couleur foncée unie au milieu d’accentuation d’image" id="318" name="Google Shape;318;p32"/>
          <p:cNvSpPr/>
          <p:nvPr/>
        </p:nvSpPr>
        <p:spPr>
          <a:xfrm rot="-5400000">
            <a:off x="2009787" y="1791825"/>
            <a:ext cx="1809600" cy="15600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lh5.googleusercontent.com/TcdnvzxQ7ulQo8GiFwfIKujloK6EfAJv7ikP-EvnfdTVQnROS3WXw6XSx9Cpd73e_l7GCUAnbxroB-qlzG2fvYdCyl-Y5QZ95MpiD-GfDN-4taJyHRqsr3vOZzc3ONTBu52b0HIdUOMeHvdHiA_5tD0" id="319" name="Google Shape;319;p32"/>
          <p:cNvPicPr preferRelativeResize="0"/>
          <p:nvPr/>
        </p:nvPicPr>
        <p:blipFill rotWithShape="1">
          <a:blip r:embed="rId4">
            <a:alphaModFix/>
          </a:blip>
          <a:srcRect b="13968" l="11386" r="63940" t="12669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5.googleusercontent.com/TcdnvzxQ7ulQo8GiFwfIKujloK6EfAJv7ikP-EvnfdTVQnROS3WXw6XSx9Cpd73e_l7GCUAnbxroB-qlzG2fvYdCyl-Y5QZ95MpiD-GfDN-4taJyHRqsr3vOZzc3ONTBu52b0HIdUOMeHvdHiA_5tD0" id="320" name="Google Shape;320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874" y="4634800"/>
            <a:ext cx="1159901" cy="3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3"/>
          <p:cNvSpPr txBox="1"/>
          <p:nvPr>
            <p:ph type="title"/>
          </p:nvPr>
        </p:nvSpPr>
        <p:spPr>
          <a:xfrm>
            <a:off x="389008" y="156771"/>
            <a:ext cx="46899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b="0" lang="fr" sz="3000"/>
              <a:t>3.1 Travaux menés &amp; pertinence</a:t>
            </a:r>
            <a:endParaRPr b="0" sz="3000"/>
          </a:p>
        </p:txBody>
      </p:sp>
      <p:sp>
        <p:nvSpPr>
          <p:cNvPr id="327" name="Google Shape;327;p33"/>
          <p:cNvSpPr txBox="1"/>
          <p:nvPr>
            <p:ph idx="2" type="body"/>
          </p:nvPr>
        </p:nvSpPr>
        <p:spPr>
          <a:xfrm>
            <a:off x="390525" y="1250474"/>
            <a:ext cx="69786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chemeClr val="lt1"/>
                </a:solidFill>
                <a:highlight>
                  <a:srgbClr val="EE9571"/>
                </a:highlight>
              </a:rPr>
              <a:t>Travaux réalisés :</a:t>
            </a:r>
            <a:endParaRPr b="1" sz="1500">
              <a:solidFill>
                <a:schemeClr val="lt1"/>
              </a:solidFill>
              <a:highlight>
                <a:srgbClr val="EE9571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fr" sz="1200">
                <a:solidFill>
                  <a:srgbClr val="000000"/>
                </a:solidFill>
              </a:rPr>
              <a:t>Création d’une base de données relationnelle normalisée (</a:t>
            </a:r>
            <a:r>
              <a:rPr lang="fr" sz="1200">
                <a:solidFill>
                  <a:srgbClr val="188038"/>
                </a:solidFill>
              </a:rPr>
              <a:t>DataImmo</a:t>
            </a:r>
            <a:r>
              <a:rPr lang="fr" sz="1200">
                <a:solidFill>
                  <a:srgbClr val="000000"/>
                </a:solidFill>
              </a:rPr>
              <a:t>)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fr" sz="1200">
                <a:solidFill>
                  <a:srgbClr val="000000"/>
                </a:solidFill>
              </a:rPr>
              <a:t>Intégration et nettoyage des données issues de fichiers Excel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fr" sz="1200">
                <a:solidFill>
                  <a:srgbClr val="000000"/>
                </a:solidFill>
              </a:rPr>
              <a:t>Rédaction de requêtes SQL pour répondre aux besoins métier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fr" sz="1200">
                <a:solidFill>
                  <a:srgbClr val="000000"/>
                </a:solidFill>
              </a:rPr>
              <a:t>Analyse des ventes immobilières par période, type de bien, région, commune, nombre de pièces…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chemeClr val="lt1"/>
                </a:solidFill>
                <a:highlight>
                  <a:srgbClr val="E26064"/>
                </a:highlight>
              </a:rPr>
              <a:t>Pertinence des résultats :</a:t>
            </a:r>
            <a:endParaRPr b="1" sz="1500">
              <a:solidFill>
                <a:schemeClr val="lt1"/>
              </a:solidFill>
              <a:highlight>
                <a:srgbClr val="E26064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fr" sz="1200">
                <a:solidFill>
                  <a:srgbClr val="000000"/>
                </a:solidFill>
              </a:rPr>
              <a:t>Mise en évidence des dynamiques régionales du marché immobilier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fr" sz="1200">
                <a:solidFill>
                  <a:srgbClr val="000000"/>
                </a:solidFill>
              </a:rPr>
              <a:t>Identification des zones à fort potentiel pour les agences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fr" sz="1200">
                <a:solidFill>
                  <a:srgbClr val="000000"/>
                </a:solidFill>
              </a:rPr>
              <a:t>Calculs fiables et reproductibles grâce à une base structurée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fr" sz="1200">
                <a:solidFill>
                  <a:srgbClr val="000000"/>
                </a:solidFill>
              </a:rPr>
              <a:t>Premiers indicateurs exploitables pour la prise de décision stratégique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3"/>
          <p:cNvSpPr txBox="1"/>
          <p:nvPr>
            <p:ph idx="12" type="sldNum"/>
          </p:nvPr>
        </p:nvSpPr>
        <p:spPr>
          <a:xfrm>
            <a:off x="8360228" y="4767263"/>
            <a:ext cx="55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lh5.googleusercontent.com/TcdnvzxQ7ulQo8GiFwfIKujloK6EfAJv7ikP-EvnfdTVQnROS3WXw6XSx9Cpd73e_l7GCUAnbxroB-qlzG2fvYdCyl-Y5QZ95MpiD-GfDN-4taJyHRqsr3vOZzc3ONTBu52b0HIdUOMeHvdHiA_5tD0" id="329" name="Google Shape;32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874" y="4634800"/>
            <a:ext cx="1159901" cy="3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4"/>
          <p:cNvSpPr txBox="1"/>
          <p:nvPr>
            <p:ph type="title"/>
          </p:nvPr>
        </p:nvSpPr>
        <p:spPr>
          <a:xfrm>
            <a:off x="389008" y="156771"/>
            <a:ext cx="46899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b="0" lang="fr" sz="3000"/>
              <a:t>3.2 Perspectives</a:t>
            </a:r>
            <a:endParaRPr b="0" sz="3000"/>
          </a:p>
        </p:txBody>
      </p:sp>
      <p:sp>
        <p:nvSpPr>
          <p:cNvPr id="336" name="Google Shape;336;p34"/>
          <p:cNvSpPr txBox="1"/>
          <p:nvPr>
            <p:ph idx="2" type="body"/>
          </p:nvPr>
        </p:nvSpPr>
        <p:spPr>
          <a:xfrm>
            <a:off x="390525" y="1187556"/>
            <a:ext cx="69786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chemeClr val="lt1"/>
                </a:solidFill>
                <a:highlight>
                  <a:srgbClr val="EE9571"/>
                </a:highlight>
              </a:rPr>
              <a:t>Prochaines étapes :</a:t>
            </a:r>
            <a:endParaRPr b="1" sz="1500">
              <a:solidFill>
                <a:schemeClr val="lt1"/>
              </a:solidFill>
              <a:highlight>
                <a:srgbClr val="EE9571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fr" sz="1200">
                <a:solidFill>
                  <a:srgbClr val="000000"/>
                </a:solidFill>
              </a:rPr>
              <a:t>Automatiser l’ingestion des données (pipeline ETL régulier)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fr" sz="1200">
                <a:solidFill>
                  <a:srgbClr val="000000"/>
                </a:solidFill>
              </a:rPr>
              <a:t>Étendre la période d’analyse (données 2021–2025)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fr" sz="1200">
                <a:solidFill>
                  <a:srgbClr val="000000"/>
                </a:solidFill>
              </a:rPr>
              <a:t>Intégrer des indicateurs économiques et sociaux (revenus, taux de vacance…)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fr" sz="1200">
                <a:solidFill>
                  <a:srgbClr val="000000"/>
                </a:solidFill>
              </a:rPr>
              <a:t>Développer des tableaux de bord interactifs (Power BI, Looker Studio…)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lt1"/>
                </a:solidFill>
                <a:highlight>
                  <a:srgbClr val="E26064"/>
                </a:highlight>
              </a:rPr>
              <a:t>Opportunités à explorer :</a:t>
            </a:r>
            <a:endParaRPr b="1" sz="1200">
              <a:solidFill>
                <a:schemeClr val="lt1"/>
              </a:solidFill>
              <a:highlight>
                <a:srgbClr val="E26064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fr" sz="1200">
                <a:solidFill>
                  <a:srgbClr val="000000"/>
                </a:solidFill>
              </a:rPr>
              <a:t>Modélisation de la valeur immobilière prévisionnelle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fr" sz="1200">
                <a:solidFill>
                  <a:srgbClr val="000000"/>
                </a:solidFill>
              </a:rPr>
              <a:t>Analyse de la demande locative par zone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fr" sz="1200">
                <a:solidFill>
                  <a:srgbClr val="000000"/>
                </a:solidFill>
              </a:rPr>
              <a:t>Aide à la recommandation personnalisée pour les clients des agences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4"/>
          <p:cNvSpPr txBox="1"/>
          <p:nvPr>
            <p:ph idx="12" type="sldNum"/>
          </p:nvPr>
        </p:nvSpPr>
        <p:spPr>
          <a:xfrm>
            <a:off x="8360228" y="4767263"/>
            <a:ext cx="55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lh5.googleusercontent.com/TcdnvzxQ7ulQo8GiFwfIKujloK6EfAJv7ikP-EvnfdTVQnROS3WXw6XSx9Cpd73e_l7GCUAnbxroB-qlzG2fvYdCyl-Y5QZ95MpiD-GfDN-4taJyHRqsr3vOZzc3ONTBu52b0HIdUOMeHvdHiA_5tD0" id="338" name="Google Shape;33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874" y="4634800"/>
            <a:ext cx="1159901" cy="3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5" title="Image de bâtiment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784" r="20784" t="0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descr="Hexagone de couleur foncée unie au milieu d’accentuation d’image" id="345" name="Google Shape;345;p35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5"/>
          <p:cNvSpPr txBox="1"/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fr" sz="3500"/>
              <a:t>Merci !</a:t>
            </a:r>
            <a:endParaRPr sz="3500"/>
          </a:p>
        </p:txBody>
      </p:sp>
      <p:pic>
        <p:nvPicPr>
          <p:cNvPr descr="https://lh5.googleusercontent.com/TcdnvzxQ7ulQo8GiFwfIKujloK6EfAJv7ikP-EvnfdTVQnROS3WXw6XSx9Cpd73e_l7GCUAnbxroB-qlzG2fvYdCyl-Y5QZ95MpiD-GfDN-4taJyHRqsr3vOZzc3ONTBu52b0HIdUOMeHvdHiA_5tD0" id="347" name="Google Shape;347;p35"/>
          <p:cNvPicPr preferRelativeResize="0"/>
          <p:nvPr/>
        </p:nvPicPr>
        <p:blipFill rotWithShape="1">
          <a:blip r:embed="rId4">
            <a:alphaModFix/>
          </a:blip>
          <a:srcRect b="13972" l="11387" r="63940" t="12667"/>
          <a:stretch/>
        </p:blipFill>
        <p:spPr>
          <a:xfrm>
            <a:off x="1980103" y="1578297"/>
            <a:ext cx="1801842" cy="177986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5"/>
          <p:cNvSpPr txBox="1"/>
          <p:nvPr>
            <p:ph idx="1" type="subTitle"/>
          </p:nvPr>
        </p:nvSpPr>
        <p:spPr>
          <a:xfrm>
            <a:off x="4781411" y="2730749"/>
            <a:ext cx="36408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/>
              <a:t>Wassim EL BOULAHFATI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/>
              <a:t>Data Engineer </a:t>
            </a:r>
            <a:endParaRPr/>
          </a:p>
        </p:txBody>
      </p:sp>
      <p:pic>
        <p:nvPicPr>
          <p:cNvPr descr="https://lh5.googleusercontent.com/TcdnvzxQ7ulQo8GiFwfIKujloK6EfAJv7ikP-EvnfdTVQnROS3WXw6XSx9Cpd73e_l7GCUAnbxroB-qlzG2fvYdCyl-Y5QZ95MpiD-GfDN-4taJyHRqsr3vOZzc3ONTBu52b0HIdUOMeHvdHiA_5tD0" id="349" name="Google Shape;349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874" y="4634800"/>
            <a:ext cx="1159901" cy="3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