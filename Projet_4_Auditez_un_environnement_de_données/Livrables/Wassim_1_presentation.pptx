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y="5143500" cx="9144000"/>
  <p:notesSz cx="6858000" cy="9144000"/>
  <p:embeddedFontLst>
    <p:embeddedFont>
      <p:font typeface="Montserrat"/>
      <p:regular r:id="rId29"/>
      <p:bold r:id="rId30"/>
      <p:italic r:id="rId31"/>
      <p:boldItalic r:id="rId32"/>
    </p:embeddedFont>
    <p:embeddedFont>
      <p:font typeface="Lato"/>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186E8C4-DA42-4DD2-99DC-74003DBC02EA}">
  <a:tblStyle styleId="{0186E8C4-DA42-4DD2-99DC-74003DBC02E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Montserrat-regular.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Montserrat-italic.fntdata"/><Relationship Id="rId30" Type="http://schemas.openxmlformats.org/officeDocument/2006/relationships/font" Target="fonts/Montserrat-bold.fntdata"/><Relationship Id="rId11" Type="http://schemas.openxmlformats.org/officeDocument/2006/relationships/slide" Target="slides/slide4.xml"/><Relationship Id="rId33" Type="http://schemas.openxmlformats.org/officeDocument/2006/relationships/font" Target="fonts/Lato-regular.fntdata"/><Relationship Id="rId10" Type="http://schemas.openxmlformats.org/officeDocument/2006/relationships/slide" Target="slides/slide3.xml"/><Relationship Id="rId32" Type="http://schemas.openxmlformats.org/officeDocument/2006/relationships/font" Target="fonts/Montserrat-boldItalic.fntdata"/><Relationship Id="rId13" Type="http://schemas.openxmlformats.org/officeDocument/2006/relationships/slide" Target="slides/slide6.xml"/><Relationship Id="rId35" Type="http://schemas.openxmlformats.org/officeDocument/2006/relationships/font" Target="fonts/Lato-italic.fntdata"/><Relationship Id="rId12" Type="http://schemas.openxmlformats.org/officeDocument/2006/relationships/slide" Target="slides/slide5.xml"/><Relationship Id="rId34" Type="http://schemas.openxmlformats.org/officeDocument/2006/relationships/font" Target="fonts/Lato-bold.fntdata"/><Relationship Id="rId15" Type="http://schemas.openxmlformats.org/officeDocument/2006/relationships/slide" Target="slides/slide8.xml"/><Relationship Id="rId14" Type="http://schemas.openxmlformats.org/officeDocument/2006/relationships/slide" Target="slides/slide7.xml"/><Relationship Id="rId36" Type="http://schemas.openxmlformats.org/officeDocument/2006/relationships/font" Target="fonts/Lato-boldItalic.fntdata"/><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a37ec8c6e3_2_12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7" name="Google Shape;177;g3a37ec8c6e3_2_1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a849262907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4" name="Google Shape;184;g3a849262907_0_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a849262907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1" name="Google Shape;191;g3a849262907_0_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a37ec8c6e3_2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7" name="Google Shape;197;g3a37ec8c6e3_2_1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a849262907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4" name="Google Shape;204;g3a849262907_0_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a37ec8c6e3_2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0" name="Google Shape;210;g3a37ec8c6e3_2_1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a37ec8c6e3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7" name="Google Shape;217;g3a37ec8c6e3_0_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a37ec8c6e3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5" name="Google Shape;225;g3a37ec8c6e3_0_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a849262907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2" name="Google Shape;232;g3a849262907_0_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a37ec8c6e3_2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8" name="Google Shape;238;g3a37ec8c6e3_2_1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a37ec8c6e3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5" name="Google Shape;245;g3a37ec8c6e3_0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a37ec8c6e3_2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2" name="Google Shape;252;g3a37ec8c6e3_2_1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a37ec8c6e3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9" name="Google Shape;259;g3a37ec8c6e3_0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a37ec8c6e3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6" name="Google Shape;266;g3a37ec8c6e3_0_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a37ec8c6e3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3" name="Google Shape;273;g3a37ec8c6e3_0_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a37ec8c6e3_2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1" name="Google Shape;281;g3a37ec8c6e3_2_1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a37ec8c6e3_2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8" name="Google Shape;288;g3a37ec8c6e3_2_1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a37ec8c6e3_2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6" name="Google Shape;296;g3a37ec8c6e3_2_1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a37ec8c6e3_2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3" name="Google Shape;303;g3a37ec8c6e3_2_1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a7d7b38372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0" name="Google Shape;310;g3a7d7b38372_0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3a7d7b38372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6" name="Google Shape;316;g3a7d7b38372_0_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p:nvPr/>
        </p:nvSpPr>
        <p:spPr>
          <a:xfrm rot="5400000">
            <a:off x="7500300" y="505"/>
            <a:ext cx="1643700" cy="1643700"/>
          </a:xfrm>
          <a:prstGeom prst="diagStripe">
            <a:avLst>
              <a:gd fmla="val 0" name="adj"/>
            </a:avLst>
          </a:prstGeom>
          <a:solidFill>
            <a:schemeClr val="lt1">
              <a:alpha val="2745"/>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6" name="Google Shape;56;p14"/>
          <p:cNvGrpSpPr/>
          <p:nvPr/>
        </p:nvGrpSpPr>
        <p:grpSpPr>
          <a:xfrm>
            <a:off x="0" y="490"/>
            <a:ext cx="5153705" cy="5134399"/>
            <a:chOff x="0" y="75"/>
            <a:chExt cx="5153705" cy="5152950"/>
          </a:xfrm>
        </p:grpSpPr>
        <p:sp>
          <p:nvSpPr>
            <p:cNvPr id="57" name="Google Shape;57;p14"/>
            <p:cNvSpPr/>
            <p:nvPr/>
          </p:nvSpPr>
          <p:spPr>
            <a:xfrm rot="-5400000">
              <a:off x="455" y="-225"/>
              <a:ext cx="5152800" cy="5153700"/>
            </a:xfrm>
            <a:prstGeom prst="diagStripe">
              <a:avLst>
                <a:gd fmla="val 50000" name="adj"/>
              </a:avLst>
            </a:prstGeom>
            <a:solidFill>
              <a:schemeClr val="lt1">
                <a:alpha val="2745"/>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14"/>
            <p:cNvSpPr/>
            <p:nvPr/>
          </p:nvSpPr>
          <p:spPr>
            <a:xfrm rot="-5400000">
              <a:off x="150" y="1145825"/>
              <a:ext cx="3996600" cy="3996900"/>
            </a:xfrm>
            <a:prstGeom prst="diagStripe">
              <a:avLst>
                <a:gd fmla="val 58774" name="adj"/>
              </a:avLst>
            </a:prstGeom>
            <a:solidFill>
              <a:schemeClr val="lt1">
                <a:alpha val="2745"/>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14"/>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14"/>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1" name="Google Shape;61;p14"/>
          <p:cNvSpPr txBox="1"/>
          <p:nvPr>
            <p:ph type="ctrTitle"/>
          </p:nvPr>
        </p:nvSpPr>
        <p:spPr>
          <a:xfrm>
            <a:off x="3537150" y="1578400"/>
            <a:ext cx="5017500" cy="15789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4000"/>
              <a:buNone/>
              <a:defRPr sz="4000"/>
            </a:lvl1pPr>
            <a:lvl2pPr lvl="1" algn="l">
              <a:lnSpc>
                <a:spcPct val="100000"/>
              </a:lnSpc>
              <a:spcBef>
                <a:spcPts val="0"/>
              </a:spcBef>
              <a:spcAft>
                <a:spcPts val="0"/>
              </a:spcAft>
              <a:buSzPts val="4000"/>
              <a:buNone/>
              <a:defRPr sz="4000"/>
            </a:lvl2pPr>
            <a:lvl3pPr lvl="2" algn="l">
              <a:lnSpc>
                <a:spcPct val="100000"/>
              </a:lnSpc>
              <a:spcBef>
                <a:spcPts val="0"/>
              </a:spcBef>
              <a:spcAft>
                <a:spcPts val="0"/>
              </a:spcAft>
              <a:buSzPts val="4000"/>
              <a:buNone/>
              <a:defRPr sz="4000"/>
            </a:lvl3pPr>
            <a:lvl4pPr lvl="3" algn="l">
              <a:lnSpc>
                <a:spcPct val="100000"/>
              </a:lnSpc>
              <a:spcBef>
                <a:spcPts val="0"/>
              </a:spcBef>
              <a:spcAft>
                <a:spcPts val="0"/>
              </a:spcAft>
              <a:buSzPts val="4000"/>
              <a:buNone/>
              <a:defRPr sz="4000"/>
            </a:lvl4pPr>
            <a:lvl5pPr lvl="4" algn="l">
              <a:lnSpc>
                <a:spcPct val="100000"/>
              </a:lnSpc>
              <a:spcBef>
                <a:spcPts val="0"/>
              </a:spcBef>
              <a:spcAft>
                <a:spcPts val="0"/>
              </a:spcAft>
              <a:buSzPts val="4000"/>
              <a:buNone/>
              <a:defRPr sz="4000"/>
            </a:lvl5pPr>
            <a:lvl6pPr lvl="5" algn="l">
              <a:lnSpc>
                <a:spcPct val="100000"/>
              </a:lnSpc>
              <a:spcBef>
                <a:spcPts val="0"/>
              </a:spcBef>
              <a:spcAft>
                <a:spcPts val="0"/>
              </a:spcAft>
              <a:buSzPts val="4000"/>
              <a:buNone/>
              <a:defRPr sz="4000"/>
            </a:lvl6pPr>
            <a:lvl7pPr lvl="6" algn="l">
              <a:lnSpc>
                <a:spcPct val="100000"/>
              </a:lnSpc>
              <a:spcBef>
                <a:spcPts val="0"/>
              </a:spcBef>
              <a:spcAft>
                <a:spcPts val="0"/>
              </a:spcAft>
              <a:buSzPts val="4000"/>
              <a:buNone/>
              <a:defRPr sz="4000"/>
            </a:lvl7pPr>
            <a:lvl8pPr lvl="7" algn="l">
              <a:lnSpc>
                <a:spcPct val="100000"/>
              </a:lnSpc>
              <a:spcBef>
                <a:spcPts val="0"/>
              </a:spcBef>
              <a:spcAft>
                <a:spcPts val="0"/>
              </a:spcAft>
              <a:buSzPts val="4000"/>
              <a:buNone/>
              <a:defRPr sz="4000"/>
            </a:lvl8pPr>
            <a:lvl9pPr lvl="8" algn="l">
              <a:lnSpc>
                <a:spcPct val="100000"/>
              </a:lnSpc>
              <a:spcBef>
                <a:spcPts val="0"/>
              </a:spcBef>
              <a:spcAft>
                <a:spcPts val="0"/>
              </a:spcAft>
              <a:buSzPts val="4000"/>
              <a:buNone/>
              <a:defRPr sz="4000"/>
            </a:lvl9pPr>
          </a:lstStyle>
          <a:p/>
        </p:txBody>
      </p:sp>
      <p:sp>
        <p:nvSpPr>
          <p:cNvPr id="62" name="Google Shape;62;p14"/>
          <p:cNvSpPr txBox="1"/>
          <p:nvPr>
            <p:ph idx="1" type="subTitle"/>
          </p:nvPr>
        </p:nvSpPr>
        <p:spPr>
          <a:xfrm>
            <a:off x="5083950" y="3924925"/>
            <a:ext cx="3470700" cy="506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300"/>
              <a:buNone/>
              <a:defRPr/>
            </a:lvl1pPr>
            <a:lvl2pPr lvl="1" algn="l">
              <a:lnSpc>
                <a:spcPct val="100000"/>
              </a:lnSpc>
              <a:spcBef>
                <a:spcPts val="0"/>
              </a:spcBef>
              <a:spcAft>
                <a:spcPts val="0"/>
              </a:spcAft>
              <a:buSzPts val="1300"/>
              <a:buNone/>
              <a:defRPr sz="1300"/>
            </a:lvl2pPr>
            <a:lvl3pPr lvl="2" algn="l">
              <a:lnSpc>
                <a:spcPct val="100000"/>
              </a:lnSpc>
              <a:spcBef>
                <a:spcPts val="0"/>
              </a:spcBef>
              <a:spcAft>
                <a:spcPts val="0"/>
              </a:spcAft>
              <a:buSzPts val="1300"/>
              <a:buNone/>
              <a:defRPr sz="1300"/>
            </a:lvl3pPr>
            <a:lvl4pPr lvl="3" algn="l">
              <a:lnSpc>
                <a:spcPct val="100000"/>
              </a:lnSpc>
              <a:spcBef>
                <a:spcPts val="0"/>
              </a:spcBef>
              <a:spcAft>
                <a:spcPts val="0"/>
              </a:spcAft>
              <a:buSzPts val="1300"/>
              <a:buNone/>
              <a:defRPr sz="1300"/>
            </a:lvl4pPr>
            <a:lvl5pPr lvl="4" algn="l">
              <a:lnSpc>
                <a:spcPct val="100000"/>
              </a:lnSpc>
              <a:spcBef>
                <a:spcPts val="0"/>
              </a:spcBef>
              <a:spcAft>
                <a:spcPts val="0"/>
              </a:spcAft>
              <a:buSzPts val="1300"/>
              <a:buNone/>
              <a:defRPr sz="1300"/>
            </a:lvl5pPr>
            <a:lvl6pPr lvl="5" algn="l">
              <a:lnSpc>
                <a:spcPct val="100000"/>
              </a:lnSpc>
              <a:spcBef>
                <a:spcPts val="0"/>
              </a:spcBef>
              <a:spcAft>
                <a:spcPts val="0"/>
              </a:spcAft>
              <a:buSzPts val="1300"/>
              <a:buNone/>
              <a:defRPr sz="1300"/>
            </a:lvl6pPr>
            <a:lvl7pPr lvl="6" algn="l">
              <a:lnSpc>
                <a:spcPct val="100000"/>
              </a:lnSpc>
              <a:spcBef>
                <a:spcPts val="0"/>
              </a:spcBef>
              <a:spcAft>
                <a:spcPts val="0"/>
              </a:spcAft>
              <a:buSzPts val="1300"/>
              <a:buNone/>
              <a:defRPr sz="1300"/>
            </a:lvl7pPr>
            <a:lvl8pPr lvl="7" algn="l">
              <a:lnSpc>
                <a:spcPct val="100000"/>
              </a:lnSpc>
              <a:spcBef>
                <a:spcPts val="0"/>
              </a:spcBef>
              <a:spcAft>
                <a:spcPts val="0"/>
              </a:spcAft>
              <a:buSzPts val="1300"/>
              <a:buNone/>
              <a:defRPr sz="1300"/>
            </a:lvl8pPr>
            <a:lvl9pPr lvl="8" algn="l">
              <a:lnSpc>
                <a:spcPct val="100000"/>
              </a:lnSpc>
              <a:spcBef>
                <a:spcPts val="0"/>
              </a:spcBef>
              <a:spcAft>
                <a:spcPts val="0"/>
              </a:spcAft>
              <a:buSzPts val="1300"/>
              <a:buNone/>
              <a:defRPr sz="1300"/>
            </a:lvl9pPr>
          </a:lstStyle>
          <a:p/>
        </p:txBody>
      </p:sp>
      <p:sp>
        <p:nvSpPr>
          <p:cNvPr id="63" name="Google Shape;63;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4" name="Shape 64"/>
        <p:cNvGrpSpPr/>
        <p:nvPr/>
      </p:nvGrpSpPr>
      <p:grpSpPr>
        <a:xfrm>
          <a:off x="0" y="0"/>
          <a:ext cx="0" cy="0"/>
          <a:chOff x="0" y="0"/>
          <a:chExt cx="0" cy="0"/>
        </a:xfrm>
      </p:grpSpPr>
      <p:grpSp>
        <p:nvGrpSpPr>
          <p:cNvPr id="65" name="Google Shape;65;p15"/>
          <p:cNvGrpSpPr/>
          <p:nvPr/>
        </p:nvGrpSpPr>
        <p:grpSpPr>
          <a:xfrm>
            <a:off x="0" y="381001"/>
            <a:ext cx="1037850" cy="1016288"/>
            <a:chOff x="0" y="381001"/>
            <a:chExt cx="1037850" cy="1016288"/>
          </a:xfrm>
        </p:grpSpPr>
        <p:sp>
          <p:nvSpPr>
            <p:cNvPr id="66" name="Google Shape;66;p1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1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8" name="Google Shape;68;p15"/>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69" name="Google Shape;69;p15"/>
          <p:cNvSpPr txBox="1"/>
          <p:nvPr>
            <p:ph idx="1" type="body"/>
          </p:nvPr>
        </p:nvSpPr>
        <p:spPr>
          <a:xfrm>
            <a:off x="1297500" y="1567550"/>
            <a:ext cx="7038900" cy="29112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70" name="Google Shape;70;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1" name="Shape 71"/>
        <p:cNvGrpSpPr/>
        <p:nvPr/>
      </p:nvGrpSpPr>
      <p:grpSpPr>
        <a:xfrm>
          <a:off x="0" y="0"/>
          <a:ext cx="0" cy="0"/>
          <a:chOff x="0" y="0"/>
          <a:chExt cx="0" cy="0"/>
        </a:xfrm>
      </p:grpSpPr>
      <p:grpSp>
        <p:nvGrpSpPr>
          <p:cNvPr id="72" name="Google Shape;72;p16"/>
          <p:cNvGrpSpPr/>
          <p:nvPr/>
        </p:nvGrpSpPr>
        <p:grpSpPr>
          <a:xfrm>
            <a:off x="4406400" y="0"/>
            <a:ext cx="4737600" cy="5143065"/>
            <a:chOff x="4406400" y="0"/>
            <a:chExt cx="4737600" cy="5143065"/>
          </a:xfrm>
        </p:grpSpPr>
        <p:sp>
          <p:nvSpPr>
            <p:cNvPr id="73" name="Google Shape;73;p16"/>
            <p:cNvSpPr/>
            <p:nvPr/>
          </p:nvSpPr>
          <p:spPr>
            <a:xfrm rot="5400000">
              <a:off x="4408200" y="-1800"/>
              <a:ext cx="4734000" cy="4737600"/>
            </a:xfrm>
            <a:prstGeom prst="diagStripe">
              <a:avLst>
                <a:gd fmla="val 49469" name="adj"/>
              </a:avLst>
            </a:prstGeom>
            <a:solidFill>
              <a:schemeClr val="lt1">
                <a:alpha val="313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16"/>
            <p:cNvSpPr/>
            <p:nvPr/>
          </p:nvSpPr>
          <p:spPr>
            <a:xfrm rot="5400000">
              <a:off x="4841125" y="5700"/>
              <a:ext cx="4298100" cy="4286700"/>
            </a:xfrm>
            <a:prstGeom prst="diagStripe">
              <a:avLst>
                <a:gd fmla="val 0" name="adj"/>
              </a:avLst>
            </a:prstGeom>
            <a:solidFill>
              <a:schemeClr val="lt1">
                <a:alpha val="313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16"/>
            <p:cNvSpPr/>
            <p:nvPr/>
          </p:nvSpPr>
          <p:spPr>
            <a:xfrm rot="-5400000">
              <a:off x="5618399" y="1236468"/>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16"/>
            <p:cNvSpPr/>
            <p:nvPr/>
          </p:nvSpPr>
          <p:spPr>
            <a:xfrm flipH="1">
              <a:off x="5849857" y="1443956"/>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16"/>
            <p:cNvSpPr/>
            <p:nvPr/>
          </p:nvSpPr>
          <p:spPr>
            <a:xfrm rot="-5400000">
              <a:off x="5987081" y="2469465"/>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16"/>
            <p:cNvSpPr/>
            <p:nvPr/>
          </p:nvSpPr>
          <p:spPr>
            <a:xfrm flipH="1">
              <a:off x="6222115" y="2676953"/>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16"/>
            <p:cNvSpPr/>
            <p:nvPr/>
          </p:nvSpPr>
          <p:spPr>
            <a:xfrm rot="-5400000">
              <a:off x="6675341" y="1862018"/>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16"/>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16"/>
            <p:cNvSpPr/>
            <p:nvPr/>
          </p:nvSpPr>
          <p:spPr>
            <a:xfrm rot="-5400000">
              <a:off x="6861141" y="2477810"/>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16"/>
            <p:cNvSpPr/>
            <p:nvPr/>
          </p:nvSpPr>
          <p:spPr>
            <a:xfrm flipH="1">
              <a:off x="7965266" y="2692963"/>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16"/>
            <p:cNvSpPr/>
            <p:nvPr/>
          </p:nvSpPr>
          <p:spPr>
            <a:xfrm flipH="1">
              <a:off x="8145082" y="3308755"/>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16"/>
            <p:cNvSpPr/>
            <p:nvPr/>
          </p:nvSpPr>
          <p:spPr>
            <a:xfrm rot="-5400000">
              <a:off x="7047599" y="3095015"/>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16"/>
            <p:cNvSpPr/>
            <p:nvPr/>
          </p:nvSpPr>
          <p:spPr>
            <a:xfrm flipH="1">
              <a:off x="7276649" y="3302502"/>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16"/>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16"/>
            <p:cNvSpPr/>
            <p:nvPr/>
          </p:nvSpPr>
          <p:spPr>
            <a:xfrm flipH="1">
              <a:off x="7462448" y="3918294"/>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16"/>
            <p:cNvSpPr/>
            <p:nvPr/>
          </p:nvSpPr>
          <p:spPr>
            <a:xfrm rot="-5400000">
              <a:off x="8102491" y="3718473"/>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16"/>
            <p:cNvSpPr/>
            <p:nvPr/>
          </p:nvSpPr>
          <p:spPr>
            <a:xfrm flipH="1">
              <a:off x="8334533" y="3925960"/>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16"/>
            <p:cNvSpPr/>
            <p:nvPr/>
          </p:nvSpPr>
          <p:spPr>
            <a:xfrm rot="-5400000">
              <a:off x="8288290" y="4334265"/>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1" name="Google Shape;91;p16"/>
          <p:cNvSpPr txBox="1"/>
          <p:nvPr>
            <p:ph type="title"/>
          </p:nvPr>
        </p:nvSpPr>
        <p:spPr>
          <a:xfrm>
            <a:off x="823850" y="2053000"/>
            <a:ext cx="4587000" cy="11487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92" name="Google Shape;92;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3" name="Shape 93"/>
        <p:cNvGrpSpPr/>
        <p:nvPr/>
      </p:nvGrpSpPr>
      <p:grpSpPr>
        <a:xfrm>
          <a:off x="0" y="0"/>
          <a:ext cx="0" cy="0"/>
          <a:chOff x="0" y="0"/>
          <a:chExt cx="0" cy="0"/>
        </a:xfrm>
      </p:grpSpPr>
      <p:grpSp>
        <p:nvGrpSpPr>
          <p:cNvPr id="94" name="Google Shape;94;p17"/>
          <p:cNvGrpSpPr/>
          <p:nvPr/>
        </p:nvGrpSpPr>
        <p:grpSpPr>
          <a:xfrm>
            <a:off x="0" y="381001"/>
            <a:ext cx="1037850" cy="1016288"/>
            <a:chOff x="0" y="381001"/>
            <a:chExt cx="1037850" cy="1016288"/>
          </a:xfrm>
        </p:grpSpPr>
        <p:sp>
          <p:nvSpPr>
            <p:cNvPr id="95" name="Google Shape;95;p1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1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7" name="Google Shape;97;p17"/>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98" name="Google Shape;98;p17"/>
          <p:cNvSpPr txBox="1"/>
          <p:nvPr>
            <p:ph idx="1" type="body"/>
          </p:nvPr>
        </p:nvSpPr>
        <p:spPr>
          <a:xfrm>
            <a:off x="1297500" y="1567550"/>
            <a:ext cx="3403200" cy="29112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99" name="Google Shape;99;p17"/>
          <p:cNvSpPr txBox="1"/>
          <p:nvPr>
            <p:ph idx="2" type="body"/>
          </p:nvPr>
        </p:nvSpPr>
        <p:spPr>
          <a:xfrm>
            <a:off x="4933221" y="1567550"/>
            <a:ext cx="3403200" cy="29112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100" name="Google Shape;100;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1" name="Shape 101"/>
        <p:cNvGrpSpPr/>
        <p:nvPr/>
      </p:nvGrpSpPr>
      <p:grpSpPr>
        <a:xfrm>
          <a:off x="0" y="0"/>
          <a:ext cx="0" cy="0"/>
          <a:chOff x="0" y="0"/>
          <a:chExt cx="0" cy="0"/>
        </a:xfrm>
      </p:grpSpPr>
      <p:grpSp>
        <p:nvGrpSpPr>
          <p:cNvPr id="102" name="Google Shape;102;p18"/>
          <p:cNvGrpSpPr/>
          <p:nvPr/>
        </p:nvGrpSpPr>
        <p:grpSpPr>
          <a:xfrm>
            <a:off x="0" y="381001"/>
            <a:ext cx="1037850" cy="1016288"/>
            <a:chOff x="0" y="381001"/>
            <a:chExt cx="1037850" cy="1016288"/>
          </a:xfrm>
        </p:grpSpPr>
        <p:sp>
          <p:nvSpPr>
            <p:cNvPr id="103" name="Google Shape;103;p18"/>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p18"/>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05" name="Google Shape;105;p18"/>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06" name="Google Shape;106;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7" name="Shape 107"/>
        <p:cNvGrpSpPr/>
        <p:nvPr/>
      </p:nvGrpSpPr>
      <p:grpSpPr>
        <a:xfrm>
          <a:off x="0" y="0"/>
          <a:ext cx="0" cy="0"/>
          <a:chOff x="0" y="0"/>
          <a:chExt cx="0" cy="0"/>
        </a:xfrm>
      </p:grpSpPr>
      <p:grpSp>
        <p:nvGrpSpPr>
          <p:cNvPr id="108" name="Google Shape;108;p19"/>
          <p:cNvGrpSpPr/>
          <p:nvPr/>
        </p:nvGrpSpPr>
        <p:grpSpPr>
          <a:xfrm>
            <a:off x="0" y="381001"/>
            <a:ext cx="1037850" cy="1016288"/>
            <a:chOff x="0" y="381001"/>
            <a:chExt cx="1037850" cy="1016288"/>
          </a:xfrm>
        </p:grpSpPr>
        <p:sp>
          <p:nvSpPr>
            <p:cNvPr id="109" name="Google Shape;109;p1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1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1" name="Google Shape;111;p19"/>
          <p:cNvSpPr txBox="1"/>
          <p:nvPr>
            <p:ph type="title"/>
          </p:nvPr>
        </p:nvSpPr>
        <p:spPr>
          <a:xfrm>
            <a:off x="1297500" y="393750"/>
            <a:ext cx="3798900" cy="1493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12" name="Google Shape;112;p19"/>
          <p:cNvSpPr txBox="1"/>
          <p:nvPr>
            <p:ph idx="1" type="body"/>
          </p:nvPr>
        </p:nvSpPr>
        <p:spPr>
          <a:xfrm>
            <a:off x="1297500" y="1972550"/>
            <a:ext cx="3798900" cy="24159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113" name="Google Shape;113;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14" name="Shape 114"/>
        <p:cNvGrpSpPr/>
        <p:nvPr/>
      </p:nvGrpSpPr>
      <p:grpSpPr>
        <a:xfrm>
          <a:off x="0" y="0"/>
          <a:ext cx="0" cy="0"/>
          <a:chOff x="0" y="0"/>
          <a:chExt cx="0" cy="0"/>
        </a:xfrm>
      </p:grpSpPr>
      <p:grpSp>
        <p:nvGrpSpPr>
          <p:cNvPr id="115" name="Google Shape;115;p20"/>
          <p:cNvGrpSpPr/>
          <p:nvPr/>
        </p:nvGrpSpPr>
        <p:grpSpPr>
          <a:xfrm>
            <a:off x="4406400" y="0"/>
            <a:ext cx="4737600" cy="5143500"/>
            <a:chOff x="4406400" y="0"/>
            <a:chExt cx="4737600" cy="5143500"/>
          </a:xfrm>
        </p:grpSpPr>
        <p:sp>
          <p:nvSpPr>
            <p:cNvPr id="116" name="Google Shape;116;p20"/>
            <p:cNvSpPr/>
            <p:nvPr/>
          </p:nvSpPr>
          <p:spPr>
            <a:xfrm rot="5400000">
              <a:off x="4407900" y="-1500"/>
              <a:ext cx="4734600" cy="4737600"/>
            </a:xfrm>
            <a:prstGeom prst="diagStripe">
              <a:avLst>
                <a:gd fmla="val 49469" name="adj"/>
              </a:avLst>
            </a:prstGeom>
            <a:solidFill>
              <a:schemeClr val="lt1">
                <a:alpha val="313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20"/>
            <p:cNvSpPr/>
            <p:nvPr/>
          </p:nvSpPr>
          <p:spPr>
            <a:xfrm rot="5400000">
              <a:off x="4840825" y="6000"/>
              <a:ext cx="4298700" cy="4286700"/>
            </a:xfrm>
            <a:prstGeom prst="diagStripe">
              <a:avLst>
                <a:gd fmla="val 0" name="adj"/>
              </a:avLst>
            </a:prstGeom>
            <a:solidFill>
              <a:schemeClr val="lt1">
                <a:alpha val="313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20"/>
            <p:cNvSpPr/>
            <p:nvPr/>
          </p:nvSpPr>
          <p:spPr>
            <a:xfrm rot="-5400000">
              <a:off x="5618399" y="1236641"/>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20"/>
            <p:cNvSpPr/>
            <p:nvPr/>
          </p:nvSpPr>
          <p:spPr>
            <a:xfrm flipH="1">
              <a:off x="5849857" y="1444078"/>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20"/>
            <p:cNvSpPr/>
            <p:nvPr/>
          </p:nvSpPr>
          <p:spPr>
            <a:xfrm rot="-5400000">
              <a:off x="5987081" y="2469743"/>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p20"/>
            <p:cNvSpPr/>
            <p:nvPr/>
          </p:nvSpPr>
          <p:spPr>
            <a:xfrm flipH="1">
              <a:off x="6222115" y="2677179"/>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20"/>
            <p:cNvSpPr/>
            <p:nvPr/>
          </p:nvSpPr>
          <p:spPr>
            <a:xfrm rot="-5400000">
              <a:off x="6675341" y="1862244"/>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20"/>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p20"/>
            <p:cNvSpPr/>
            <p:nvPr/>
          </p:nvSpPr>
          <p:spPr>
            <a:xfrm rot="-5400000">
              <a:off x="6861141" y="2478088"/>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20"/>
            <p:cNvSpPr/>
            <p:nvPr/>
          </p:nvSpPr>
          <p:spPr>
            <a:xfrm flipH="1">
              <a:off x="7965266" y="2693191"/>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20"/>
            <p:cNvSpPr/>
            <p:nvPr/>
          </p:nvSpPr>
          <p:spPr>
            <a:xfrm flipH="1">
              <a:off x="8145082" y="3309036"/>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20"/>
            <p:cNvSpPr/>
            <p:nvPr/>
          </p:nvSpPr>
          <p:spPr>
            <a:xfrm rot="-5400000">
              <a:off x="7047599" y="3095345"/>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20"/>
            <p:cNvSpPr/>
            <p:nvPr/>
          </p:nvSpPr>
          <p:spPr>
            <a:xfrm flipH="1">
              <a:off x="7276649" y="3302781"/>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20"/>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20"/>
            <p:cNvSpPr/>
            <p:nvPr/>
          </p:nvSpPr>
          <p:spPr>
            <a:xfrm flipH="1">
              <a:off x="7462448" y="3918625"/>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20"/>
            <p:cNvSpPr/>
            <p:nvPr/>
          </p:nvSpPr>
          <p:spPr>
            <a:xfrm rot="-5400000">
              <a:off x="8102491" y="3718856"/>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20"/>
            <p:cNvSpPr/>
            <p:nvPr/>
          </p:nvSpPr>
          <p:spPr>
            <a:xfrm flipH="1">
              <a:off x="8334533" y="3926292"/>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p20"/>
            <p:cNvSpPr/>
            <p:nvPr/>
          </p:nvSpPr>
          <p:spPr>
            <a:xfrm rot="-5400000">
              <a:off x="8288290" y="4334700"/>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34" name="Google Shape;134;p20"/>
          <p:cNvSpPr txBox="1"/>
          <p:nvPr>
            <p:ph type="title"/>
          </p:nvPr>
        </p:nvSpPr>
        <p:spPr>
          <a:xfrm>
            <a:off x="823850" y="866775"/>
            <a:ext cx="4587000" cy="35211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35" name="Google Shape;135;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36" name="Shape 136"/>
        <p:cNvGrpSpPr/>
        <p:nvPr/>
      </p:nvGrpSpPr>
      <p:grpSpPr>
        <a:xfrm>
          <a:off x="0" y="0"/>
          <a:ext cx="0" cy="0"/>
          <a:chOff x="0" y="0"/>
          <a:chExt cx="0" cy="0"/>
        </a:xfrm>
      </p:grpSpPr>
      <p:grpSp>
        <p:nvGrpSpPr>
          <p:cNvPr id="137" name="Google Shape;137;p21"/>
          <p:cNvGrpSpPr/>
          <p:nvPr/>
        </p:nvGrpSpPr>
        <p:grpSpPr>
          <a:xfrm>
            <a:off x="0" y="381001"/>
            <a:ext cx="1037850" cy="1016288"/>
            <a:chOff x="0" y="381001"/>
            <a:chExt cx="1037850" cy="1016288"/>
          </a:xfrm>
        </p:grpSpPr>
        <p:sp>
          <p:nvSpPr>
            <p:cNvPr id="138" name="Google Shape;138;p21"/>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p21"/>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0" name="Google Shape;140;p21"/>
          <p:cNvSpPr txBox="1"/>
          <p:nvPr>
            <p:ph type="title"/>
          </p:nvPr>
        </p:nvSpPr>
        <p:spPr>
          <a:xfrm>
            <a:off x="1297500" y="1658325"/>
            <a:ext cx="3036300" cy="1751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41" name="Google Shape;141;p21"/>
          <p:cNvSpPr txBox="1"/>
          <p:nvPr>
            <p:ph idx="1" type="subTitle"/>
          </p:nvPr>
        </p:nvSpPr>
        <p:spPr>
          <a:xfrm>
            <a:off x="1297500" y="3538000"/>
            <a:ext cx="3036300" cy="506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300"/>
              <a:buNone/>
              <a:defRPr/>
            </a:lvl1pPr>
            <a:lvl2pPr lvl="1" algn="l">
              <a:lnSpc>
                <a:spcPct val="100000"/>
              </a:lnSpc>
              <a:spcBef>
                <a:spcPts val="0"/>
              </a:spcBef>
              <a:spcAft>
                <a:spcPts val="0"/>
              </a:spcAft>
              <a:buSzPts val="1300"/>
              <a:buNone/>
              <a:defRPr sz="1300"/>
            </a:lvl2pPr>
            <a:lvl3pPr lvl="2" algn="l">
              <a:lnSpc>
                <a:spcPct val="100000"/>
              </a:lnSpc>
              <a:spcBef>
                <a:spcPts val="0"/>
              </a:spcBef>
              <a:spcAft>
                <a:spcPts val="0"/>
              </a:spcAft>
              <a:buSzPts val="1300"/>
              <a:buNone/>
              <a:defRPr sz="1300"/>
            </a:lvl3pPr>
            <a:lvl4pPr lvl="3" algn="l">
              <a:lnSpc>
                <a:spcPct val="100000"/>
              </a:lnSpc>
              <a:spcBef>
                <a:spcPts val="0"/>
              </a:spcBef>
              <a:spcAft>
                <a:spcPts val="0"/>
              </a:spcAft>
              <a:buSzPts val="1300"/>
              <a:buNone/>
              <a:defRPr sz="1300"/>
            </a:lvl4pPr>
            <a:lvl5pPr lvl="4" algn="l">
              <a:lnSpc>
                <a:spcPct val="100000"/>
              </a:lnSpc>
              <a:spcBef>
                <a:spcPts val="0"/>
              </a:spcBef>
              <a:spcAft>
                <a:spcPts val="0"/>
              </a:spcAft>
              <a:buSzPts val="1300"/>
              <a:buNone/>
              <a:defRPr sz="1300"/>
            </a:lvl5pPr>
            <a:lvl6pPr lvl="5" algn="l">
              <a:lnSpc>
                <a:spcPct val="100000"/>
              </a:lnSpc>
              <a:spcBef>
                <a:spcPts val="0"/>
              </a:spcBef>
              <a:spcAft>
                <a:spcPts val="0"/>
              </a:spcAft>
              <a:buSzPts val="1300"/>
              <a:buNone/>
              <a:defRPr sz="1300"/>
            </a:lvl6pPr>
            <a:lvl7pPr lvl="6" algn="l">
              <a:lnSpc>
                <a:spcPct val="100000"/>
              </a:lnSpc>
              <a:spcBef>
                <a:spcPts val="0"/>
              </a:spcBef>
              <a:spcAft>
                <a:spcPts val="0"/>
              </a:spcAft>
              <a:buSzPts val="1300"/>
              <a:buNone/>
              <a:defRPr sz="1300"/>
            </a:lvl7pPr>
            <a:lvl8pPr lvl="7" algn="l">
              <a:lnSpc>
                <a:spcPct val="100000"/>
              </a:lnSpc>
              <a:spcBef>
                <a:spcPts val="0"/>
              </a:spcBef>
              <a:spcAft>
                <a:spcPts val="0"/>
              </a:spcAft>
              <a:buSzPts val="1300"/>
              <a:buNone/>
              <a:defRPr sz="1300"/>
            </a:lvl8pPr>
            <a:lvl9pPr lvl="8" algn="l">
              <a:lnSpc>
                <a:spcPct val="100000"/>
              </a:lnSpc>
              <a:spcBef>
                <a:spcPts val="0"/>
              </a:spcBef>
              <a:spcAft>
                <a:spcPts val="0"/>
              </a:spcAft>
              <a:buSzPts val="1300"/>
              <a:buNone/>
              <a:defRPr sz="1300"/>
            </a:lvl9pPr>
          </a:lstStyle>
          <a:p/>
        </p:txBody>
      </p:sp>
      <p:sp>
        <p:nvSpPr>
          <p:cNvPr id="142" name="Google Shape;142;p21"/>
          <p:cNvSpPr txBox="1"/>
          <p:nvPr>
            <p:ph idx="2" type="body"/>
          </p:nvPr>
        </p:nvSpPr>
        <p:spPr>
          <a:xfrm>
            <a:off x="4648200" y="1696600"/>
            <a:ext cx="3676800" cy="2347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143" name="Google Shape;143;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44" name="Shape 144"/>
        <p:cNvGrpSpPr/>
        <p:nvPr/>
      </p:nvGrpSpPr>
      <p:grpSpPr>
        <a:xfrm>
          <a:off x="0" y="0"/>
          <a:ext cx="0" cy="0"/>
          <a:chOff x="0" y="0"/>
          <a:chExt cx="0" cy="0"/>
        </a:xfrm>
      </p:grpSpPr>
      <p:grpSp>
        <p:nvGrpSpPr>
          <p:cNvPr id="145" name="Google Shape;145;p22"/>
          <p:cNvGrpSpPr/>
          <p:nvPr/>
        </p:nvGrpSpPr>
        <p:grpSpPr>
          <a:xfrm>
            <a:off x="0" y="4128572"/>
            <a:ext cx="698925" cy="684657"/>
            <a:chOff x="0" y="3785672"/>
            <a:chExt cx="698925" cy="684657"/>
          </a:xfrm>
        </p:grpSpPr>
        <p:sp>
          <p:nvSpPr>
            <p:cNvPr id="146" name="Google Shape;146;p22"/>
            <p:cNvSpPr/>
            <p:nvPr/>
          </p:nvSpPr>
          <p:spPr>
            <a:xfrm rot="-5400000">
              <a:off x="0" y="3785672"/>
              <a:ext cx="544800" cy="544800"/>
            </a:xfrm>
            <a:prstGeom prst="diagStripe">
              <a:avLst>
                <a:gd fmla="val 50000" name="adj"/>
              </a:avLst>
            </a:prstGeom>
            <a:solidFill>
              <a:schemeClr val="lt1">
                <a:alpha val="9411"/>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22"/>
            <p:cNvSpPr/>
            <p:nvPr/>
          </p:nvSpPr>
          <p:spPr>
            <a:xfrm flipH="1">
              <a:off x="154125" y="3925529"/>
              <a:ext cx="544800" cy="544800"/>
            </a:xfrm>
            <a:prstGeom prst="diagStripe">
              <a:avLst>
                <a:gd fmla="val 50000" name="adj"/>
              </a:avLst>
            </a:prstGeom>
            <a:solidFill>
              <a:schemeClr val="lt1">
                <a:alpha val="9411"/>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8" name="Google Shape;148;p22"/>
          <p:cNvSpPr txBox="1"/>
          <p:nvPr>
            <p:ph idx="1" type="body"/>
          </p:nvPr>
        </p:nvSpPr>
        <p:spPr>
          <a:xfrm>
            <a:off x="812725" y="4305375"/>
            <a:ext cx="6936000" cy="523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300"/>
              <a:buNone/>
              <a:defRPr/>
            </a:lvl1pPr>
          </a:lstStyle>
          <a:p/>
        </p:txBody>
      </p:sp>
      <p:sp>
        <p:nvSpPr>
          <p:cNvPr id="149" name="Google Shape;149;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50" name="Shape 150"/>
        <p:cNvGrpSpPr/>
        <p:nvPr/>
      </p:nvGrpSpPr>
      <p:grpSpPr>
        <a:xfrm>
          <a:off x="0" y="0"/>
          <a:ext cx="0" cy="0"/>
          <a:chOff x="0" y="0"/>
          <a:chExt cx="0" cy="0"/>
        </a:xfrm>
      </p:grpSpPr>
      <p:grpSp>
        <p:nvGrpSpPr>
          <p:cNvPr id="151" name="Google Shape;151;p23"/>
          <p:cNvGrpSpPr/>
          <p:nvPr/>
        </p:nvGrpSpPr>
        <p:grpSpPr>
          <a:xfrm>
            <a:off x="4406400" y="0"/>
            <a:ext cx="4737600" cy="5143065"/>
            <a:chOff x="4406400" y="0"/>
            <a:chExt cx="4737600" cy="5143065"/>
          </a:xfrm>
        </p:grpSpPr>
        <p:sp>
          <p:nvSpPr>
            <p:cNvPr id="152" name="Google Shape;152;p23"/>
            <p:cNvSpPr/>
            <p:nvPr/>
          </p:nvSpPr>
          <p:spPr>
            <a:xfrm rot="5400000">
              <a:off x="4408200" y="-1800"/>
              <a:ext cx="4734000" cy="4737600"/>
            </a:xfrm>
            <a:prstGeom prst="diagStripe">
              <a:avLst>
                <a:gd fmla="val 49469" name="adj"/>
              </a:avLst>
            </a:prstGeom>
            <a:solidFill>
              <a:schemeClr val="lt1">
                <a:alpha val="313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23"/>
            <p:cNvSpPr/>
            <p:nvPr/>
          </p:nvSpPr>
          <p:spPr>
            <a:xfrm rot="5400000">
              <a:off x="4841125" y="5700"/>
              <a:ext cx="4298100" cy="4286700"/>
            </a:xfrm>
            <a:prstGeom prst="diagStripe">
              <a:avLst>
                <a:gd fmla="val 0" name="adj"/>
              </a:avLst>
            </a:prstGeom>
            <a:solidFill>
              <a:schemeClr val="lt1">
                <a:alpha val="313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p23"/>
            <p:cNvSpPr/>
            <p:nvPr/>
          </p:nvSpPr>
          <p:spPr>
            <a:xfrm rot="-5400000">
              <a:off x="5618399" y="1236468"/>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23"/>
            <p:cNvSpPr/>
            <p:nvPr/>
          </p:nvSpPr>
          <p:spPr>
            <a:xfrm flipH="1">
              <a:off x="5849857" y="1443956"/>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23"/>
            <p:cNvSpPr/>
            <p:nvPr/>
          </p:nvSpPr>
          <p:spPr>
            <a:xfrm rot="-5400000">
              <a:off x="5987081" y="2469465"/>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p23"/>
            <p:cNvSpPr/>
            <p:nvPr/>
          </p:nvSpPr>
          <p:spPr>
            <a:xfrm flipH="1">
              <a:off x="6222115" y="2676953"/>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23"/>
            <p:cNvSpPr/>
            <p:nvPr/>
          </p:nvSpPr>
          <p:spPr>
            <a:xfrm rot="-5400000">
              <a:off x="6675341" y="1862018"/>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2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23"/>
            <p:cNvSpPr/>
            <p:nvPr/>
          </p:nvSpPr>
          <p:spPr>
            <a:xfrm rot="-5400000">
              <a:off x="6861141" y="2477810"/>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23"/>
            <p:cNvSpPr/>
            <p:nvPr/>
          </p:nvSpPr>
          <p:spPr>
            <a:xfrm flipH="1">
              <a:off x="7965266" y="2692963"/>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23"/>
            <p:cNvSpPr/>
            <p:nvPr/>
          </p:nvSpPr>
          <p:spPr>
            <a:xfrm flipH="1">
              <a:off x="8145082" y="3308755"/>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23"/>
            <p:cNvSpPr/>
            <p:nvPr/>
          </p:nvSpPr>
          <p:spPr>
            <a:xfrm rot="-5400000">
              <a:off x="7047599" y="3095015"/>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23"/>
            <p:cNvSpPr/>
            <p:nvPr/>
          </p:nvSpPr>
          <p:spPr>
            <a:xfrm flipH="1">
              <a:off x="7276649" y="3302502"/>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2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23"/>
            <p:cNvSpPr/>
            <p:nvPr/>
          </p:nvSpPr>
          <p:spPr>
            <a:xfrm flipH="1">
              <a:off x="7462448" y="3918294"/>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23"/>
            <p:cNvSpPr/>
            <p:nvPr/>
          </p:nvSpPr>
          <p:spPr>
            <a:xfrm rot="-5400000">
              <a:off x="8102491" y="3718473"/>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23"/>
            <p:cNvSpPr/>
            <p:nvPr/>
          </p:nvSpPr>
          <p:spPr>
            <a:xfrm flipH="1">
              <a:off x="8334533" y="3925960"/>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23"/>
            <p:cNvSpPr/>
            <p:nvPr/>
          </p:nvSpPr>
          <p:spPr>
            <a:xfrm rot="-5400000">
              <a:off x="8288290" y="4334265"/>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70" name="Google Shape;170;p23"/>
          <p:cNvSpPr txBox="1"/>
          <p:nvPr>
            <p:ph hasCustomPrompt="1" type="title"/>
          </p:nvPr>
        </p:nvSpPr>
        <p:spPr>
          <a:xfrm>
            <a:off x="823850" y="1284675"/>
            <a:ext cx="4776000" cy="13008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8000"/>
              <a:buNone/>
              <a:defRPr sz="8000"/>
            </a:lvl1pPr>
            <a:lvl2pPr lvl="1" algn="l">
              <a:lnSpc>
                <a:spcPct val="100000"/>
              </a:lnSpc>
              <a:spcBef>
                <a:spcPts val="0"/>
              </a:spcBef>
              <a:spcAft>
                <a:spcPts val="0"/>
              </a:spcAft>
              <a:buSzPts val="8000"/>
              <a:buNone/>
              <a:defRPr sz="8000"/>
            </a:lvl2pPr>
            <a:lvl3pPr lvl="2" algn="l">
              <a:lnSpc>
                <a:spcPct val="100000"/>
              </a:lnSpc>
              <a:spcBef>
                <a:spcPts val="0"/>
              </a:spcBef>
              <a:spcAft>
                <a:spcPts val="0"/>
              </a:spcAft>
              <a:buSzPts val="8000"/>
              <a:buNone/>
              <a:defRPr sz="8000"/>
            </a:lvl3pPr>
            <a:lvl4pPr lvl="3" algn="l">
              <a:lnSpc>
                <a:spcPct val="100000"/>
              </a:lnSpc>
              <a:spcBef>
                <a:spcPts val="0"/>
              </a:spcBef>
              <a:spcAft>
                <a:spcPts val="0"/>
              </a:spcAft>
              <a:buSzPts val="8000"/>
              <a:buNone/>
              <a:defRPr sz="8000"/>
            </a:lvl4pPr>
            <a:lvl5pPr lvl="4" algn="l">
              <a:lnSpc>
                <a:spcPct val="100000"/>
              </a:lnSpc>
              <a:spcBef>
                <a:spcPts val="0"/>
              </a:spcBef>
              <a:spcAft>
                <a:spcPts val="0"/>
              </a:spcAft>
              <a:buSzPts val="8000"/>
              <a:buNone/>
              <a:defRPr sz="8000"/>
            </a:lvl5pPr>
            <a:lvl6pPr lvl="5" algn="l">
              <a:lnSpc>
                <a:spcPct val="100000"/>
              </a:lnSpc>
              <a:spcBef>
                <a:spcPts val="0"/>
              </a:spcBef>
              <a:spcAft>
                <a:spcPts val="0"/>
              </a:spcAft>
              <a:buSzPts val="8000"/>
              <a:buNone/>
              <a:defRPr sz="8000"/>
            </a:lvl6pPr>
            <a:lvl7pPr lvl="6" algn="l">
              <a:lnSpc>
                <a:spcPct val="100000"/>
              </a:lnSpc>
              <a:spcBef>
                <a:spcPts val="0"/>
              </a:spcBef>
              <a:spcAft>
                <a:spcPts val="0"/>
              </a:spcAft>
              <a:buSzPts val="8000"/>
              <a:buNone/>
              <a:defRPr sz="8000"/>
            </a:lvl7pPr>
            <a:lvl8pPr lvl="7" algn="l">
              <a:lnSpc>
                <a:spcPct val="100000"/>
              </a:lnSpc>
              <a:spcBef>
                <a:spcPts val="0"/>
              </a:spcBef>
              <a:spcAft>
                <a:spcPts val="0"/>
              </a:spcAft>
              <a:buSzPts val="8000"/>
              <a:buNone/>
              <a:defRPr sz="8000"/>
            </a:lvl8pPr>
            <a:lvl9pPr lvl="8" algn="l">
              <a:lnSpc>
                <a:spcPct val="100000"/>
              </a:lnSpc>
              <a:spcBef>
                <a:spcPts val="0"/>
              </a:spcBef>
              <a:spcAft>
                <a:spcPts val="0"/>
              </a:spcAft>
              <a:buSzPts val="8000"/>
              <a:buNone/>
              <a:defRPr sz="8000"/>
            </a:lvl9pPr>
          </a:lstStyle>
          <a:p>
            <a:r>
              <a:t>xx%</a:t>
            </a:r>
          </a:p>
        </p:txBody>
      </p:sp>
      <p:sp>
        <p:nvSpPr>
          <p:cNvPr id="171" name="Google Shape;171;p23"/>
          <p:cNvSpPr txBox="1"/>
          <p:nvPr>
            <p:ph idx="1" type="body"/>
          </p:nvPr>
        </p:nvSpPr>
        <p:spPr>
          <a:xfrm>
            <a:off x="823850" y="2643124"/>
            <a:ext cx="4776000" cy="12189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172" name="Google Shape;172;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3" name="Shape 173"/>
        <p:cNvGrpSpPr/>
        <p:nvPr/>
      </p:nvGrpSpPr>
      <p:grpSpPr>
        <a:xfrm>
          <a:off x="0" y="0"/>
          <a:ext cx="0" cy="0"/>
          <a:chOff x="0" y="0"/>
          <a:chExt cx="0" cy="0"/>
        </a:xfrm>
      </p:grpSpPr>
      <p:sp>
        <p:nvSpPr>
          <p:cNvPr id="174" name="Google Shape;174;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f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1pPr>
            <a:lvl2pPr lvl="1"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2pPr>
            <a:lvl3pPr lvl="2"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3pPr>
            <a:lvl4pPr lvl="3"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4pPr>
            <a:lvl5pPr lvl="4"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5pPr>
            <a:lvl6pPr lvl="5"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6pPr>
            <a:lvl7pPr lvl="6"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7pPr>
            <a:lvl8pPr lvl="7"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8pPr>
            <a:lvl9pPr lvl="8"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marR="0" rtl="0" algn="l">
              <a:lnSpc>
                <a:spcPct val="115000"/>
              </a:lnSpc>
              <a:spcBef>
                <a:spcPts val="0"/>
              </a:spcBef>
              <a:spcAft>
                <a:spcPts val="0"/>
              </a:spcAft>
              <a:buClr>
                <a:schemeClr val="lt1"/>
              </a:buClr>
              <a:buSzPts val="1300"/>
              <a:buFont typeface="Lato"/>
              <a:buChar char="●"/>
              <a:defRPr b="0" i="0" sz="1300" u="none" cap="none" strike="noStrike">
                <a:solidFill>
                  <a:schemeClr val="lt1"/>
                </a:solidFill>
                <a:latin typeface="Lato"/>
                <a:ea typeface="Lato"/>
                <a:cs typeface="Lato"/>
                <a:sym typeface="Lato"/>
              </a:defRPr>
            </a:lvl1pPr>
            <a:lvl2pPr indent="-298450" lvl="1" marL="9144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2pPr>
            <a:lvl3pPr indent="-298450" lvl="2" marL="13716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3pPr>
            <a:lvl4pPr indent="-298450" lvl="3" marL="18288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4pPr>
            <a:lvl5pPr indent="-298450" lvl="4" marL="22860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5pPr>
            <a:lvl6pPr indent="-298450" lvl="5" marL="27432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6pPr>
            <a:lvl7pPr indent="-298450" lvl="6" marL="32004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7pPr>
            <a:lvl8pPr indent="-298450" lvl="7" marL="36576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8pPr>
            <a:lvl9pPr indent="-298450" lvl="8" marL="41148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fr"/>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2.pn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4.png"/><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5"/>
          <p:cNvSpPr txBox="1"/>
          <p:nvPr>
            <p:ph type="ctrTitle"/>
          </p:nvPr>
        </p:nvSpPr>
        <p:spPr>
          <a:xfrm>
            <a:off x="3537150" y="1578400"/>
            <a:ext cx="5017500" cy="15789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fr"/>
              <a:t>AUDIT : </a:t>
            </a:r>
            <a:br>
              <a:rPr b="1" lang="fr"/>
            </a:br>
            <a:r>
              <a:rPr b="1" lang="fr"/>
              <a:t>Erreur sur le Cube OLAP </a:t>
            </a:r>
            <a:endParaRPr b="1"/>
          </a:p>
        </p:txBody>
      </p:sp>
      <p:pic>
        <p:nvPicPr>
          <p:cNvPr id="180" name="Google Shape;180;p25"/>
          <p:cNvPicPr preferRelativeResize="0"/>
          <p:nvPr/>
        </p:nvPicPr>
        <p:blipFill rotWithShape="1">
          <a:blip r:embed="rId3">
            <a:alphaModFix/>
          </a:blip>
          <a:srcRect b="0" l="0" r="0" t="0"/>
          <a:stretch/>
        </p:blipFill>
        <p:spPr>
          <a:xfrm>
            <a:off x="7196750" y="3514725"/>
            <a:ext cx="1733550" cy="1381125"/>
          </a:xfrm>
          <a:prstGeom prst="rect">
            <a:avLst/>
          </a:prstGeom>
          <a:noFill/>
          <a:ln>
            <a:noFill/>
          </a:ln>
        </p:spPr>
      </p:pic>
      <p:sp>
        <p:nvSpPr>
          <p:cNvPr id="181" name="Google Shape;181;p25"/>
          <p:cNvSpPr txBox="1"/>
          <p:nvPr>
            <p:ph type="ctrTitle"/>
          </p:nvPr>
        </p:nvSpPr>
        <p:spPr>
          <a:xfrm>
            <a:off x="150450" y="4301550"/>
            <a:ext cx="2468400" cy="594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4444"/>
              <a:buNone/>
            </a:pPr>
            <a:r>
              <a:rPr b="1" lang="fr" sz="1300"/>
              <a:t>Wassim EL BOULAHFATI</a:t>
            </a:r>
            <a:endParaRPr b="1" sz="1300"/>
          </a:p>
          <a:p>
            <a:pPr indent="0" lvl="0" marL="0" rtl="0" algn="l">
              <a:lnSpc>
                <a:spcPct val="100000"/>
              </a:lnSpc>
              <a:spcBef>
                <a:spcPts val="0"/>
              </a:spcBef>
              <a:spcAft>
                <a:spcPts val="0"/>
              </a:spcAft>
              <a:buSzPts val="4444"/>
              <a:buNone/>
            </a:pPr>
            <a:r>
              <a:rPr b="1" lang="fr" sz="1300"/>
              <a:t>DATA ENGINEER</a:t>
            </a:r>
            <a:endParaRPr b="1" sz="13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6"/>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00"/>
              <a:buNone/>
            </a:pPr>
            <a:r>
              <a:rPr lang="fr"/>
              <a:t>Sommaire</a:t>
            </a:r>
            <a:endParaRPr sz="1850"/>
          </a:p>
        </p:txBody>
      </p:sp>
      <p:sp>
        <p:nvSpPr>
          <p:cNvPr id="187" name="Google Shape;187;p26"/>
          <p:cNvSpPr txBox="1"/>
          <p:nvPr>
            <p:ph idx="1" type="body"/>
          </p:nvPr>
        </p:nvSpPr>
        <p:spPr>
          <a:xfrm>
            <a:off x="1234550" y="1368504"/>
            <a:ext cx="7038900" cy="35940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15000"/>
              </a:lnSpc>
              <a:spcBef>
                <a:spcPts val="0"/>
              </a:spcBef>
              <a:spcAft>
                <a:spcPts val="0"/>
              </a:spcAft>
              <a:buSzPts val="1300"/>
              <a:buNone/>
            </a:pPr>
            <a:r>
              <a:rPr lang="fr">
                <a:highlight>
                  <a:schemeClr val="dk1"/>
                </a:highlight>
                <a:latin typeface="Montserrat"/>
                <a:ea typeface="Montserrat"/>
                <a:cs typeface="Montserrat"/>
                <a:sym typeface="Montserrat"/>
              </a:rPr>
              <a:t>INTRODUCTION</a:t>
            </a:r>
            <a:endParaRPr>
              <a:highlight>
                <a:schemeClr val="dk1"/>
              </a:highlight>
              <a:latin typeface="Montserrat"/>
              <a:ea typeface="Montserrat"/>
              <a:cs typeface="Montserrat"/>
              <a:sym typeface="Montserrat"/>
            </a:endParaRPr>
          </a:p>
          <a:p>
            <a:pPr indent="0" lvl="0" marL="0" rtl="0" algn="l">
              <a:lnSpc>
                <a:spcPct val="115000"/>
              </a:lnSpc>
              <a:spcBef>
                <a:spcPts val="0"/>
              </a:spcBef>
              <a:spcAft>
                <a:spcPts val="0"/>
              </a:spcAft>
              <a:buSzPts val="1300"/>
              <a:buNone/>
            </a:pPr>
            <a:r>
              <a:rPr lang="fr" sz="100">
                <a:highlight>
                  <a:schemeClr val="dk1"/>
                </a:highlight>
                <a:latin typeface="Montserrat"/>
                <a:ea typeface="Montserrat"/>
                <a:cs typeface="Montserrat"/>
                <a:sym typeface="Montserrat"/>
              </a:rPr>
              <a:t>	</a:t>
            </a:r>
            <a:r>
              <a:rPr lang="fr" sz="1100">
                <a:latin typeface="Montserrat"/>
                <a:ea typeface="Montserrat"/>
                <a:cs typeface="Montserrat"/>
                <a:sym typeface="Montserrat"/>
              </a:rPr>
              <a:t>Présentation de la mission									p4</a:t>
            </a:r>
            <a:endParaRPr sz="1100">
              <a:latin typeface="Montserrat"/>
              <a:ea typeface="Montserrat"/>
              <a:cs typeface="Montserrat"/>
              <a:sym typeface="Montserrat"/>
            </a:endParaRPr>
          </a:p>
          <a:p>
            <a:pPr indent="0" lvl="0" marL="0" rtl="0" algn="l">
              <a:lnSpc>
                <a:spcPct val="115000"/>
              </a:lnSpc>
              <a:spcBef>
                <a:spcPts val="0"/>
              </a:spcBef>
              <a:spcAft>
                <a:spcPts val="0"/>
              </a:spcAft>
              <a:buSzPts val="1300"/>
              <a:buNone/>
            </a:pPr>
            <a:r>
              <a:t/>
            </a:r>
            <a:endParaRPr sz="1100">
              <a:latin typeface="Montserrat"/>
              <a:ea typeface="Montserrat"/>
              <a:cs typeface="Montserrat"/>
              <a:sym typeface="Montserrat"/>
            </a:endParaRPr>
          </a:p>
          <a:p>
            <a:pPr indent="0" lvl="0" marL="0" rtl="0" algn="l">
              <a:spcBef>
                <a:spcPts val="0"/>
              </a:spcBef>
              <a:spcAft>
                <a:spcPts val="0"/>
              </a:spcAft>
              <a:buSzPts val="1300"/>
              <a:buNone/>
            </a:pPr>
            <a:r>
              <a:rPr lang="fr">
                <a:highlight>
                  <a:schemeClr val="dk1"/>
                </a:highlight>
                <a:latin typeface="Montserrat"/>
                <a:ea typeface="Montserrat"/>
                <a:cs typeface="Montserrat"/>
                <a:sym typeface="Montserrat"/>
              </a:rPr>
              <a:t>BDD ACTUELLE</a:t>
            </a:r>
            <a:endParaRPr sz="1100">
              <a:latin typeface="Montserrat"/>
              <a:ea typeface="Montserrat"/>
              <a:cs typeface="Montserrat"/>
              <a:sym typeface="Montserrat"/>
            </a:endParaRPr>
          </a:p>
          <a:p>
            <a:pPr indent="457200" lvl="0" marL="0" rtl="0" algn="l">
              <a:lnSpc>
                <a:spcPct val="100000"/>
              </a:lnSpc>
              <a:spcBef>
                <a:spcPts val="0"/>
              </a:spcBef>
              <a:spcAft>
                <a:spcPts val="0"/>
              </a:spcAft>
              <a:buSzPts val="2400"/>
              <a:buNone/>
            </a:pPr>
            <a:r>
              <a:rPr lang="fr" sz="1100">
                <a:latin typeface="Montserrat"/>
                <a:ea typeface="Montserrat"/>
                <a:cs typeface="Montserrat"/>
                <a:sym typeface="Montserrat"/>
              </a:rPr>
              <a:t>Architecture de l’entreprise									p6</a:t>
            </a:r>
            <a:endParaRPr sz="1100">
              <a:latin typeface="Montserrat"/>
              <a:ea typeface="Montserrat"/>
              <a:cs typeface="Montserrat"/>
              <a:sym typeface="Montserrat"/>
            </a:endParaRPr>
          </a:p>
          <a:p>
            <a:pPr indent="457200" lvl="0" marL="0" rtl="0" algn="l">
              <a:lnSpc>
                <a:spcPct val="100000"/>
              </a:lnSpc>
              <a:spcBef>
                <a:spcPts val="0"/>
              </a:spcBef>
              <a:spcAft>
                <a:spcPts val="0"/>
              </a:spcAft>
              <a:buSzPts val="2667"/>
              <a:buNone/>
            </a:pPr>
            <a:r>
              <a:rPr lang="fr" sz="1100">
                <a:latin typeface="Montserrat"/>
                <a:ea typeface="Montserrat"/>
                <a:cs typeface="Montserrat"/>
                <a:sym typeface="Montserrat"/>
              </a:rPr>
              <a:t>Extrait du dictionnaire des données (table vente détails)					p7</a:t>
            </a:r>
            <a:endParaRPr sz="1100">
              <a:latin typeface="Montserrat"/>
              <a:ea typeface="Montserrat"/>
              <a:cs typeface="Montserrat"/>
              <a:sym typeface="Montserrat"/>
            </a:endParaRPr>
          </a:p>
          <a:p>
            <a:pPr indent="457200" lvl="0" marL="0" rtl="0" algn="l">
              <a:lnSpc>
                <a:spcPct val="100000"/>
              </a:lnSpc>
              <a:spcBef>
                <a:spcPts val="0"/>
              </a:spcBef>
              <a:spcAft>
                <a:spcPts val="0"/>
              </a:spcAft>
              <a:buSzPts val="2667"/>
              <a:buNone/>
            </a:pPr>
            <a:r>
              <a:rPr lang="fr" sz="1100">
                <a:latin typeface="Montserrat"/>
                <a:ea typeface="Montserrat"/>
                <a:cs typeface="Montserrat"/>
                <a:sym typeface="Montserrat"/>
              </a:rPr>
              <a:t>Schéma relationnel											p8</a:t>
            </a:r>
            <a:endParaRPr sz="1100">
              <a:latin typeface="Montserrat"/>
              <a:ea typeface="Montserrat"/>
              <a:cs typeface="Montserrat"/>
              <a:sym typeface="Montserrat"/>
            </a:endParaRPr>
          </a:p>
          <a:p>
            <a:pPr indent="0" lvl="0" marL="0" rtl="0" algn="l">
              <a:lnSpc>
                <a:spcPct val="100000"/>
              </a:lnSpc>
              <a:spcBef>
                <a:spcPts val="0"/>
              </a:spcBef>
              <a:spcAft>
                <a:spcPts val="0"/>
              </a:spcAft>
              <a:buSzPts val="2667"/>
              <a:buNone/>
            </a:pPr>
            <a:r>
              <a:t/>
            </a:r>
            <a:endParaRPr sz="1100">
              <a:latin typeface="Montserrat"/>
              <a:ea typeface="Montserrat"/>
              <a:cs typeface="Montserrat"/>
              <a:sym typeface="Montserrat"/>
            </a:endParaRPr>
          </a:p>
          <a:p>
            <a:pPr indent="0" lvl="0" marL="0" rtl="0" algn="l">
              <a:spcBef>
                <a:spcPts val="0"/>
              </a:spcBef>
              <a:spcAft>
                <a:spcPts val="0"/>
              </a:spcAft>
              <a:buClr>
                <a:srgbClr val="000000"/>
              </a:buClr>
              <a:buSzPts val="1300"/>
              <a:buFont typeface="Arial"/>
              <a:buNone/>
            </a:pPr>
            <a:r>
              <a:rPr lang="fr">
                <a:highlight>
                  <a:schemeClr val="dk1"/>
                </a:highlight>
                <a:latin typeface="Montserrat"/>
                <a:ea typeface="Montserrat"/>
                <a:cs typeface="Montserrat"/>
                <a:sym typeface="Montserrat"/>
              </a:rPr>
              <a:t>PROTOTYPE</a:t>
            </a:r>
            <a:endParaRPr sz="1100">
              <a:latin typeface="Montserrat"/>
              <a:ea typeface="Montserrat"/>
              <a:cs typeface="Montserrat"/>
              <a:sym typeface="Montserrat"/>
            </a:endParaRPr>
          </a:p>
          <a:p>
            <a:pPr indent="457200" lvl="0" marL="0" rtl="0" algn="l">
              <a:lnSpc>
                <a:spcPct val="100000"/>
              </a:lnSpc>
              <a:spcBef>
                <a:spcPts val="0"/>
              </a:spcBef>
              <a:spcAft>
                <a:spcPts val="0"/>
              </a:spcAft>
              <a:buSzPts val="2400"/>
              <a:buNone/>
            </a:pPr>
            <a:r>
              <a:rPr lang="fr" sz="1150">
                <a:latin typeface="Montserrat"/>
                <a:ea typeface="Montserrat"/>
                <a:cs typeface="Montserrat"/>
                <a:sym typeface="Montserrat"/>
              </a:rPr>
              <a:t>Explication de la base de données								p10</a:t>
            </a:r>
            <a:endParaRPr sz="1150">
              <a:latin typeface="Montserrat"/>
              <a:ea typeface="Montserrat"/>
              <a:cs typeface="Montserrat"/>
              <a:sym typeface="Montserrat"/>
            </a:endParaRPr>
          </a:p>
          <a:p>
            <a:pPr indent="457200" lvl="0" marL="0" rtl="0" algn="l">
              <a:lnSpc>
                <a:spcPct val="100000"/>
              </a:lnSpc>
              <a:spcBef>
                <a:spcPts val="0"/>
              </a:spcBef>
              <a:spcAft>
                <a:spcPts val="0"/>
              </a:spcAft>
              <a:buSzPts val="2400"/>
              <a:buNone/>
            </a:pPr>
            <a:r>
              <a:rPr lang="fr" sz="1150">
                <a:latin typeface="Montserrat"/>
                <a:ea typeface="Montserrat"/>
                <a:cs typeface="Montserrat"/>
                <a:sym typeface="Montserrat"/>
              </a:rPr>
              <a:t>Résultat des requêtes SQL									p13</a:t>
            </a:r>
            <a:endParaRPr sz="1150">
              <a:latin typeface="Montserrat"/>
              <a:ea typeface="Montserrat"/>
              <a:cs typeface="Montserrat"/>
              <a:sym typeface="Montserrat"/>
            </a:endParaRPr>
          </a:p>
          <a:p>
            <a:pPr indent="457200" lvl="0" marL="0" rtl="0" algn="l">
              <a:lnSpc>
                <a:spcPct val="100000"/>
              </a:lnSpc>
              <a:spcBef>
                <a:spcPts val="0"/>
              </a:spcBef>
              <a:spcAft>
                <a:spcPts val="0"/>
              </a:spcAft>
              <a:buClr>
                <a:srgbClr val="000000"/>
              </a:buClr>
              <a:buSzPts val="2667"/>
              <a:buFont typeface="Arial"/>
              <a:buNone/>
            </a:pPr>
            <a:r>
              <a:rPr lang="fr" sz="1150">
                <a:latin typeface="Montserrat"/>
                <a:ea typeface="Montserrat"/>
                <a:cs typeface="Montserrat"/>
                <a:sym typeface="Montserrat"/>
              </a:rPr>
              <a:t>Compréhension des problèmes sur la base des logs					p16</a:t>
            </a:r>
            <a:endParaRPr sz="1150">
              <a:latin typeface="Montserrat"/>
              <a:ea typeface="Montserrat"/>
              <a:cs typeface="Montserrat"/>
              <a:sym typeface="Montserrat"/>
            </a:endParaRPr>
          </a:p>
          <a:p>
            <a:pPr indent="457200" lvl="0" marL="0" rtl="0" algn="l">
              <a:lnSpc>
                <a:spcPct val="100000"/>
              </a:lnSpc>
              <a:spcBef>
                <a:spcPts val="0"/>
              </a:spcBef>
              <a:spcAft>
                <a:spcPts val="0"/>
              </a:spcAft>
              <a:buSzPts val="2400"/>
              <a:buNone/>
            </a:pPr>
            <a:r>
              <a:rPr lang="fr" sz="1100">
                <a:latin typeface="Montserrat"/>
                <a:ea typeface="Montserrat"/>
                <a:cs typeface="Montserrat"/>
                <a:sym typeface="Montserrat"/>
              </a:rPr>
              <a:t>Recommandations pour l’entreprise								p18</a:t>
            </a:r>
            <a:endParaRPr sz="1100">
              <a:latin typeface="Montserrat"/>
              <a:ea typeface="Montserrat"/>
              <a:cs typeface="Montserrat"/>
              <a:sym typeface="Montserrat"/>
            </a:endParaRPr>
          </a:p>
          <a:p>
            <a:pPr indent="0" lvl="0" marL="0" rtl="0" algn="l">
              <a:spcBef>
                <a:spcPts val="0"/>
              </a:spcBef>
              <a:spcAft>
                <a:spcPts val="0"/>
              </a:spcAft>
              <a:buSzPts val="1300"/>
              <a:buNone/>
            </a:pPr>
            <a:r>
              <a:t/>
            </a:r>
            <a:endParaRPr>
              <a:highlight>
                <a:schemeClr val="dk1"/>
              </a:highlight>
              <a:latin typeface="Montserrat"/>
              <a:ea typeface="Montserrat"/>
              <a:cs typeface="Montserrat"/>
              <a:sym typeface="Montserrat"/>
            </a:endParaRPr>
          </a:p>
          <a:p>
            <a:pPr indent="0" lvl="0" marL="0" rtl="0" algn="l">
              <a:spcBef>
                <a:spcPts val="0"/>
              </a:spcBef>
              <a:spcAft>
                <a:spcPts val="0"/>
              </a:spcAft>
              <a:buClr>
                <a:srgbClr val="000000"/>
              </a:buClr>
              <a:buSzPts val="1300"/>
              <a:buFont typeface="Arial"/>
              <a:buNone/>
            </a:pPr>
            <a:r>
              <a:rPr lang="fr">
                <a:highlight>
                  <a:schemeClr val="dk1"/>
                </a:highlight>
                <a:latin typeface="Montserrat"/>
                <a:ea typeface="Montserrat"/>
                <a:cs typeface="Montserrat"/>
                <a:sym typeface="Montserrat"/>
              </a:rPr>
              <a:t>CONCLUSION</a:t>
            </a:r>
            <a:endParaRPr sz="2400">
              <a:latin typeface="Montserrat"/>
              <a:ea typeface="Montserrat"/>
              <a:cs typeface="Montserrat"/>
              <a:sym typeface="Montserrat"/>
            </a:endParaRPr>
          </a:p>
          <a:p>
            <a:pPr indent="0" lvl="0" marL="457200" rtl="0" algn="l">
              <a:lnSpc>
                <a:spcPct val="100000"/>
              </a:lnSpc>
              <a:spcBef>
                <a:spcPts val="0"/>
              </a:spcBef>
              <a:spcAft>
                <a:spcPts val="0"/>
              </a:spcAft>
              <a:buSzPts val="2400"/>
              <a:buNone/>
            </a:pPr>
            <a:r>
              <a:rPr lang="fr" sz="1150">
                <a:latin typeface="Montserrat"/>
                <a:ea typeface="Montserrat"/>
                <a:cs typeface="Montserrat"/>
                <a:sym typeface="Montserrat"/>
              </a:rPr>
              <a:t>Conclusion et perspectives									p21</a:t>
            </a:r>
            <a:endParaRPr sz="1150">
              <a:latin typeface="Montserrat"/>
              <a:ea typeface="Montserrat"/>
              <a:cs typeface="Montserrat"/>
              <a:sym typeface="Montserrat"/>
            </a:endParaRPr>
          </a:p>
          <a:p>
            <a:pPr indent="0" lvl="0" marL="0" rtl="0" algn="l">
              <a:lnSpc>
                <a:spcPct val="100000"/>
              </a:lnSpc>
              <a:spcBef>
                <a:spcPts val="0"/>
              </a:spcBef>
              <a:spcAft>
                <a:spcPts val="0"/>
              </a:spcAft>
              <a:buClr>
                <a:srgbClr val="000000"/>
              </a:buClr>
              <a:buSzPts val="2400"/>
              <a:buFont typeface="Arial"/>
              <a:buNone/>
            </a:pPr>
            <a:r>
              <a:t/>
            </a:r>
            <a:endParaRPr sz="1887">
              <a:latin typeface="Montserrat"/>
              <a:ea typeface="Montserrat"/>
              <a:cs typeface="Montserrat"/>
              <a:sym typeface="Montserrat"/>
            </a:endParaRPr>
          </a:p>
          <a:p>
            <a:pPr indent="0" lvl="0" marL="0" rtl="0" algn="l">
              <a:lnSpc>
                <a:spcPct val="100000"/>
              </a:lnSpc>
              <a:spcBef>
                <a:spcPts val="0"/>
              </a:spcBef>
              <a:spcAft>
                <a:spcPts val="0"/>
              </a:spcAft>
              <a:buClr>
                <a:srgbClr val="000000"/>
              </a:buClr>
              <a:buSzPts val="2400"/>
              <a:buFont typeface="Arial"/>
              <a:buNone/>
            </a:pPr>
            <a:r>
              <a:t/>
            </a:r>
            <a:endParaRPr sz="1887">
              <a:latin typeface="Montserrat"/>
              <a:ea typeface="Montserrat"/>
              <a:cs typeface="Montserrat"/>
              <a:sym typeface="Montserrat"/>
            </a:endParaRPr>
          </a:p>
          <a:p>
            <a:pPr indent="0" lvl="0" marL="0" rtl="0" algn="l">
              <a:lnSpc>
                <a:spcPct val="115000"/>
              </a:lnSpc>
              <a:spcBef>
                <a:spcPts val="1200"/>
              </a:spcBef>
              <a:spcAft>
                <a:spcPts val="1200"/>
              </a:spcAft>
              <a:buSzPts val="1300"/>
              <a:buNone/>
            </a:pPr>
            <a:r>
              <a:t/>
            </a:r>
            <a:endParaRPr b="1">
              <a:solidFill>
                <a:schemeClr val="dk1"/>
              </a:solidFill>
              <a:highlight>
                <a:schemeClr val="lt1"/>
              </a:highlight>
              <a:latin typeface="Montserrat"/>
              <a:ea typeface="Montserrat"/>
              <a:cs typeface="Montserrat"/>
              <a:sym typeface="Montserrat"/>
            </a:endParaRPr>
          </a:p>
        </p:txBody>
      </p:sp>
      <p:sp>
        <p:nvSpPr>
          <p:cNvPr id="188" name="Google Shape;188;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7"/>
          <p:cNvSpPr txBox="1"/>
          <p:nvPr>
            <p:ph type="title"/>
          </p:nvPr>
        </p:nvSpPr>
        <p:spPr>
          <a:xfrm>
            <a:off x="280250" y="2150850"/>
            <a:ext cx="5645400" cy="841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800"/>
              <a:buNone/>
            </a:pPr>
            <a:r>
              <a:rPr b="1" lang="fr" sz="6000"/>
              <a:t>Introduction</a:t>
            </a:r>
            <a:endParaRPr b="1" sz="6000"/>
          </a:p>
        </p:txBody>
      </p:sp>
      <p:sp>
        <p:nvSpPr>
          <p:cNvPr id="194" name="Google Shape;194;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8"/>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lang="fr"/>
              <a:t>Présentation de la mission</a:t>
            </a:r>
            <a:endParaRPr/>
          </a:p>
        </p:txBody>
      </p:sp>
      <p:sp>
        <p:nvSpPr>
          <p:cNvPr id="200" name="Google Shape;200;p28"/>
          <p:cNvSpPr txBox="1"/>
          <p:nvPr>
            <p:ph idx="1" type="body"/>
          </p:nvPr>
        </p:nvSpPr>
        <p:spPr>
          <a:xfrm>
            <a:off x="1297500" y="1567550"/>
            <a:ext cx="7038900" cy="2911200"/>
          </a:xfrm>
          <a:prstGeom prst="rect">
            <a:avLst/>
          </a:prstGeom>
          <a:noFill/>
          <a:ln>
            <a:noFill/>
          </a:ln>
        </p:spPr>
        <p:txBody>
          <a:bodyPr anchorCtr="0" anchor="t" bIns="91425" lIns="91425" spcFirstLastPara="1" rIns="91425" wrap="square" tIns="91425">
            <a:normAutofit/>
          </a:bodyPr>
          <a:lstStyle/>
          <a:p>
            <a:pPr indent="0" lvl="0" marL="0" rtl="0" algn="l">
              <a:spcBef>
                <a:spcPts val="1200"/>
              </a:spcBef>
              <a:spcAft>
                <a:spcPts val="0"/>
              </a:spcAft>
              <a:buNone/>
            </a:pPr>
            <a:r>
              <a:rPr lang="fr" sz="1100">
                <a:latin typeface="Calibri"/>
                <a:ea typeface="Calibri"/>
                <a:cs typeface="Calibri"/>
                <a:sym typeface="Calibri"/>
              </a:rPr>
              <a:t>SuperSmartMarket, en pleine croissance, souhaite placer la donnée au cœur de sa stratégie pour offrir une expérience client hyper-personnalisée. Cependant, l’entreprise rencontre aujourd’hui un problème critique : ses chiffres d’affaires sont instables et varient dans le temps, ce qui fragilise la fiabilité des analyses. En tant que Data Engineer, ma mission est de comprendre l’architecture de données existante, d’identifier les incohérences et de proposer un modèle robuste permettant de restaurer la confiance dans les indicateurs financiers. Ce travail constitue une étape essentielle pour sécuriser les données et soutenir la stratégie data-driven de l’entreprise.</a:t>
            </a:r>
            <a:endParaRPr sz="1100">
              <a:latin typeface="Calibri"/>
              <a:ea typeface="Calibri"/>
              <a:cs typeface="Calibri"/>
              <a:sym typeface="Calibri"/>
            </a:endParaRPr>
          </a:p>
          <a:p>
            <a:pPr indent="0" lvl="0" marL="0" rtl="0" algn="l">
              <a:spcBef>
                <a:spcPts val="1400"/>
              </a:spcBef>
              <a:spcAft>
                <a:spcPts val="0"/>
              </a:spcAft>
              <a:buNone/>
            </a:pPr>
            <a:r>
              <a:rPr b="1" lang="fr">
                <a:solidFill>
                  <a:schemeClr val="dk1"/>
                </a:solidFill>
                <a:highlight>
                  <a:schemeClr val="lt1"/>
                </a:highlight>
                <a:latin typeface="Calibri"/>
                <a:ea typeface="Calibri"/>
                <a:cs typeface="Calibri"/>
                <a:sym typeface="Calibri"/>
              </a:rPr>
              <a:t>Objectifs de la mission :</a:t>
            </a:r>
            <a:endParaRPr b="1">
              <a:solidFill>
                <a:schemeClr val="dk1"/>
              </a:solidFill>
              <a:highlight>
                <a:schemeClr val="lt1"/>
              </a:highlight>
              <a:latin typeface="Calibri"/>
              <a:ea typeface="Calibri"/>
              <a:cs typeface="Calibri"/>
              <a:sym typeface="Calibri"/>
            </a:endParaRPr>
          </a:p>
          <a:p>
            <a:pPr indent="-298450" lvl="0" marL="457200" rtl="0" algn="l">
              <a:spcBef>
                <a:spcPts val="1200"/>
              </a:spcBef>
              <a:spcAft>
                <a:spcPts val="0"/>
              </a:spcAft>
              <a:buClr>
                <a:schemeClr val="lt1"/>
              </a:buClr>
              <a:buSzPts val="1100"/>
              <a:buFont typeface="Calibri"/>
              <a:buChar char="●"/>
            </a:pPr>
            <a:r>
              <a:rPr lang="fr" sz="1100">
                <a:latin typeface="Calibri"/>
                <a:ea typeface="Calibri"/>
                <a:cs typeface="Calibri"/>
                <a:sym typeface="Calibri"/>
              </a:rPr>
              <a:t>Auditer l’architecture et les flux de données existants</a:t>
            </a:r>
            <a:endParaRPr sz="1100">
              <a:latin typeface="Calibri"/>
              <a:ea typeface="Calibri"/>
              <a:cs typeface="Calibri"/>
              <a:sym typeface="Calibri"/>
            </a:endParaRPr>
          </a:p>
          <a:p>
            <a:pPr indent="-298450" lvl="0" marL="457200" rtl="0" algn="l">
              <a:spcBef>
                <a:spcPts val="0"/>
              </a:spcBef>
              <a:spcAft>
                <a:spcPts val="0"/>
              </a:spcAft>
              <a:buClr>
                <a:schemeClr val="lt1"/>
              </a:buClr>
              <a:buSzPts val="1100"/>
              <a:buFont typeface="Calibri"/>
              <a:buChar char="●"/>
            </a:pPr>
            <a:r>
              <a:rPr lang="fr" sz="1100">
                <a:latin typeface="Calibri"/>
                <a:ea typeface="Calibri"/>
                <a:cs typeface="Calibri"/>
                <a:sym typeface="Calibri"/>
              </a:rPr>
              <a:t>Identifier les incohérences dans le chiffre d’affaires</a:t>
            </a:r>
            <a:endParaRPr sz="1100">
              <a:latin typeface="Calibri"/>
              <a:ea typeface="Calibri"/>
              <a:cs typeface="Calibri"/>
              <a:sym typeface="Calibri"/>
            </a:endParaRPr>
          </a:p>
          <a:p>
            <a:pPr indent="-298450" lvl="0" marL="457200" rtl="0" algn="l">
              <a:spcBef>
                <a:spcPts val="0"/>
              </a:spcBef>
              <a:spcAft>
                <a:spcPts val="0"/>
              </a:spcAft>
              <a:buClr>
                <a:schemeClr val="lt1"/>
              </a:buClr>
              <a:buSzPts val="1100"/>
              <a:buFont typeface="Calibri"/>
              <a:buChar char="●"/>
            </a:pPr>
            <a:r>
              <a:rPr lang="fr" sz="1100">
                <a:latin typeface="Calibri"/>
                <a:ea typeface="Calibri"/>
                <a:cs typeface="Calibri"/>
                <a:sym typeface="Calibri"/>
              </a:rPr>
              <a:t>Construire un dictionnaire des données et un schéma relationnel cohérent</a:t>
            </a:r>
            <a:endParaRPr sz="1100">
              <a:latin typeface="Calibri"/>
              <a:ea typeface="Calibri"/>
              <a:cs typeface="Calibri"/>
              <a:sym typeface="Calibri"/>
            </a:endParaRPr>
          </a:p>
          <a:p>
            <a:pPr indent="-298450" lvl="0" marL="457200" rtl="0" algn="l">
              <a:spcBef>
                <a:spcPts val="0"/>
              </a:spcBef>
              <a:spcAft>
                <a:spcPts val="0"/>
              </a:spcAft>
              <a:buClr>
                <a:schemeClr val="lt1"/>
              </a:buClr>
              <a:buSzPts val="1100"/>
              <a:buFont typeface="Calibri"/>
              <a:buChar char="●"/>
            </a:pPr>
            <a:r>
              <a:rPr lang="fr" sz="1100">
                <a:latin typeface="Calibri"/>
                <a:ea typeface="Calibri"/>
                <a:cs typeface="Calibri"/>
                <a:sym typeface="Calibri"/>
              </a:rPr>
              <a:t>Vérifier les chiffres clés via un prototype de base de données</a:t>
            </a:r>
            <a:endParaRPr sz="1100">
              <a:latin typeface="Calibri"/>
              <a:ea typeface="Calibri"/>
              <a:cs typeface="Calibri"/>
              <a:sym typeface="Calibri"/>
            </a:endParaRPr>
          </a:p>
          <a:p>
            <a:pPr indent="-298450" lvl="0" marL="457200" rtl="0" algn="l">
              <a:spcBef>
                <a:spcPts val="0"/>
              </a:spcBef>
              <a:spcAft>
                <a:spcPts val="0"/>
              </a:spcAft>
              <a:buClr>
                <a:schemeClr val="lt1"/>
              </a:buClr>
              <a:buSzPts val="1100"/>
              <a:buFont typeface="Calibri"/>
              <a:buChar char="●"/>
            </a:pPr>
            <a:r>
              <a:rPr lang="fr" sz="1100">
                <a:latin typeface="Calibri"/>
                <a:ea typeface="Calibri"/>
                <a:cs typeface="Calibri"/>
                <a:sym typeface="Calibri"/>
              </a:rPr>
              <a:t>Restaurer la confiance dans les indicateurs financiers pour soutenir la stratégie data-driven</a:t>
            </a:r>
            <a:endParaRPr/>
          </a:p>
        </p:txBody>
      </p:sp>
      <p:sp>
        <p:nvSpPr>
          <p:cNvPr id="201" name="Google Shape;201;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fr"/>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9"/>
          <p:cNvSpPr txBox="1"/>
          <p:nvPr>
            <p:ph type="title"/>
          </p:nvPr>
        </p:nvSpPr>
        <p:spPr>
          <a:xfrm>
            <a:off x="280250" y="2150850"/>
            <a:ext cx="6339000" cy="841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800"/>
              <a:buNone/>
            </a:pPr>
            <a:r>
              <a:rPr b="1" lang="fr" sz="6000"/>
              <a:t>BDD ACTUELLE</a:t>
            </a:r>
            <a:endParaRPr b="1" sz="6000"/>
          </a:p>
        </p:txBody>
      </p:sp>
      <p:sp>
        <p:nvSpPr>
          <p:cNvPr id="207" name="Google Shape;207;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0"/>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lang="fr"/>
              <a:t>Analyse de la base de données</a:t>
            </a:r>
            <a:endParaRPr/>
          </a:p>
          <a:p>
            <a:pPr indent="0" lvl="0" marL="0" rtl="0" algn="l">
              <a:lnSpc>
                <a:spcPct val="100000"/>
              </a:lnSpc>
              <a:spcBef>
                <a:spcPts val="0"/>
              </a:spcBef>
              <a:spcAft>
                <a:spcPts val="0"/>
              </a:spcAft>
              <a:buSzPts val="2400"/>
              <a:buNone/>
            </a:pPr>
            <a:r>
              <a:rPr lang="fr" sz="1887"/>
              <a:t>Architecture de l’entreprise</a:t>
            </a:r>
            <a:endParaRPr sz="1887"/>
          </a:p>
        </p:txBody>
      </p:sp>
      <p:sp>
        <p:nvSpPr>
          <p:cNvPr id="213" name="Google Shape;213;p30"/>
          <p:cNvSpPr txBox="1"/>
          <p:nvPr>
            <p:ph idx="1" type="body"/>
          </p:nvPr>
        </p:nvSpPr>
        <p:spPr>
          <a:xfrm>
            <a:off x="1297500" y="1567550"/>
            <a:ext cx="7038900" cy="29112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1200"/>
              </a:spcBef>
              <a:spcAft>
                <a:spcPts val="0"/>
              </a:spcAft>
              <a:buNone/>
            </a:pPr>
            <a:r>
              <a:rPr lang="fr" sz="1100">
                <a:latin typeface="Calibri"/>
                <a:ea typeface="Calibri"/>
                <a:cs typeface="Calibri"/>
                <a:sym typeface="Calibri"/>
              </a:rPr>
              <a:t>L’environnement de données repose sur une chaîne d’outils Microsoft permettant de collecter, transformer et visualiser les informations.</a:t>
            </a:r>
            <a:endParaRPr sz="1100">
              <a:latin typeface="Calibri"/>
              <a:ea typeface="Calibri"/>
              <a:cs typeface="Calibri"/>
              <a:sym typeface="Calibri"/>
            </a:endParaRPr>
          </a:p>
          <a:p>
            <a:pPr indent="-298450" lvl="0" marL="457200" rtl="0" algn="l">
              <a:spcBef>
                <a:spcPts val="1200"/>
              </a:spcBef>
              <a:spcAft>
                <a:spcPts val="0"/>
              </a:spcAft>
              <a:buClr>
                <a:schemeClr val="dk1"/>
              </a:buClr>
              <a:buSzPts val="1100"/>
              <a:buFont typeface="Calibri"/>
              <a:buChar char="●"/>
            </a:pPr>
            <a:r>
              <a:rPr b="1" lang="fr" sz="1100">
                <a:solidFill>
                  <a:schemeClr val="dk1"/>
                </a:solidFill>
                <a:highlight>
                  <a:schemeClr val="lt1"/>
                </a:highlight>
                <a:latin typeface="Calibri"/>
                <a:ea typeface="Calibri"/>
                <a:cs typeface="Calibri"/>
                <a:sym typeface="Calibri"/>
              </a:rPr>
              <a:t>Base de données en live (SQL Server)</a:t>
            </a:r>
            <a:endParaRPr b="1" sz="1100">
              <a:solidFill>
                <a:schemeClr val="dk1"/>
              </a:solidFill>
              <a:highlight>
                <a:schemeClr val="lt1"/>
              </a:highlight>
              <a:latin typeface="Calibri"/>
              <a:ea typeface="Calibri"/>
              <a:cs typeface="Calibri"/>
              <a:sym typeface="Calibri"/>
            </a:endParaRPr>
          </a:p>
          <a:p>
            <a:pPr indent="-298450" lvl="1" marL="914400" rtl="0" algn="l">
              <a:spcBef>
                <a:spcPts val="0"/>
              </a:spcBef>
              <a:spcAft>
                <a:spcPts val="0"/>
              </a:spcAft>
              <a:buClr>
                <a:schemeClr val="lt1"/>
              </a:buClr>
              <a:buSzPts val="1100"/>
              <a:buFont typeface="Calibri"/>
              <a:buChar char="○"/>
            </a:pPr>
            <a:r>
              <a:rPr lang="fr">
                <a:latin typeface="Calibri"/>
                <a:ea typeface="Calibri"/>
                <a:cs typeface="Calibri"/>
                <a:sym typeface="Calibri"/>
              </a:rPr>
              <a:t>Stocke les données opérationnelles issues des magasins, du site web et de l’ERP.</a:t>
            </a:r>
            <a:endParaRPr>
              <a:latin typeface="Calibri"/>
              <a:ea typeface="Calibri"/>
              <a:cs typeface="Calibri"/>
              <a:sym typeface="Calibri"/>
            </a:endParaRPr>
          </a:p>
          <a:p>
            <a:pPr indent="-298450" lvl="1" marL="914400" rtl="0" algn="l">
              <a:spcBef>
                <a:spcPts val="0"/>
              </a:spcBef>
              <a:spcAft>
                <a:spcPts val="0"/>
              </a:spcAft>
              <a:buClr>
                <a:schemeClr val="lt1"/>
              </a:buClr>
              <a:buSzPts val="1100"/>
              <a:buFont typeface="Calibri"/>
              <a:buChar char="○"/>
            </a:pPr>
            <a:r>
              <a:rPr lang="fr">
                <a:latin typeface="Calibri"/>
                <a:ea typeface="Calibri"/>
                <a:cs typeface="Calibri"/>
                <a:sym typeface="Calibri"/>
              </a:rPr>
              <a:t>Sert de référentiel central pour les transactions et les informations métiers.</a:t>
            </a:r>
            <a:endParaRPr>
              <a:latin typeface="Calibri"/>
              <a:ea typeface="Calibri"/>
              <a:cs typeface="Calibri"/>
              <a:sym typeface="Calibri"/>
            </a:endParaRPr>
          </a:p>
          <a:p>
            <a:pPr indent="-298450" lvl="0" marL="457200" rtl="0" algn="l">
              <a:spcBef>
                <a:spcPts val="0"/>
              </a:spcBef>
              <a:spcAft>
                <a:spcPts val="0"/>
              </a:spcAft>
              <a:buClr>
                <a:schemeClr val="dk1"/>
              </a:buClr>
              <a:buSzPts val="1100"/>
              <a:buFont typeface="Calibri"/>
              <a:buChar char="●"/>
            </a:pPr>
            <a:r>
              <a:rPr b="1" lang="fr" sz="1100">
                <a:solidFill>
                  <a:schemeClr val="dk1"/>
                </a:solidFill>
                <a:highlight>
                  <a:schemeClr val="lt1"/>
                </a:highlight>
                <a:latin typeface="Calibri"/>
                <a:ea typeface="Calibri"/>
                <a:cs typeface="Calibri"/>
                <a:sym typeface="Calibri"/>
              </a:rPr>
              <a:t>Site internet &amp; ERP</a:t>
            </a:r>
            <a:endParaRPr b="1" sz="1100">
              <a:solidFill>
                <a:schemeClr val="dk1"/>
              </a:solidFill>
              <a:highlight>
                <a:schemeClr val="lt1"/>
              </a:highlight>
              <a:latin typeface="Calibri"/>
              <a:ea typeface="Calibri"/>
              <a:cs typeface="Calibri"/>
              <a:sym typeface="Calibri"/>
            </a:endParaRPr>
          </a:p>
          <a:p>
            <a:pPr indent="-298450" lvl="1" marL="914400" rtl="0" algn="l">
              <a:spcBef>
                <a:spcPts val="0"/>
              </a:spcBef>
              <a:spcAft>
                <a:spcPts val="0"/>
              </a:spcAft>
              <a:buClr>
                <a:schemeClr val="lt1"/>
              </a:buClr>
              <a:buSzPts val="1100"/>
              <a:buFont typeface="Calibri"/>
              <a:buChar char="○"/>
            </a:pPr>
            <a:r>
              <a:rPr lang="fr">
                <a:latin typeface="Calibri"/>
                <a:ea typeface="Calibri"/>
                <a:cs typeface="Calibri"/>
                <a:sym typeface="Calibri"/>
              </a:rPr>
              <a:t>Génèrent et consomment des données liées aux clients, aux ventes et aux processus internes.</a:t>
            </a:r>
            <a:endParaRPr>
              <a:latin typeface="Calibri"/>
              <a:ea typeface="Calibri"/>
              <a:cs typeface="Calibri"/>
              <a:sym typeface="Calibri"/>
            </a:endParaRPr>
          </a:p>
          <a:p>
            <a:pPr indent="-298450" lvl="1" marL="914400" rtl="0" algn="l">
              <a:spcBef>
                <a:spcPts val="0"/>
              </a:spcBef>
              <a:spcAft>
                <a:spcPts val="0"/>
              </a:spcAft>
              <a:buClr>
                <a:schemeClr val="lt1"/>
              </a:buClr>
              <a:buSzPts val="1100"/>
              <a:buFont typeface="Calibri"/>
              <a:buChar char="○"/>
            </a:pPr>
            <a:r>
              <a:rPr lang="fr">
                <a:latin typeface="Calibri"/>
                <a:ea typeface="Calibri"/>
                <a:cs typeface="Calibri"/>
                <a:sym typeface="Calibri"/>
              </a:rPr>
              <a:t>Interagissent directement avec la base SQL pour mise à jour et consultation.</a:t>
            </a:r>
            <a:endParaRPr>
              <a:latin typeface="Calibri"/>
              <a:ea typeface="Calibri"/>
              <a:cs typeface="Calibri"/>
              <a:sym typeface="Calibri"/>
            </a:endParaRPr>
          </a:p>
          <a:p>
            <a:pPr indent="-298450" lvl="0" marL="457200" rtl="0" algn="l">
              <a:spcBef>
                <a:spcPts val="0"/>
              </a:spcBef>
              <a:spcAft>
                <a:spcPts val="0"/>
              </a:spcAft>
              <a:buClr>
                <a:schemeClr val="dk1"/>
              </a:buClr>
              <a:buSzPts val="1100"/>
              <a:buFont typeface="Calibri"/>
              <a:buChar char="●"/>
            </a:pPr>
            <a:r>
              <a:rPr b="1" lang="fr" sz="1100">
                <a:solidFill>
                  <a:schemeClr val="dk1"/>
                </a:solidFill>
                <a:highlight>
                  <a:schemeClr val="lt1"/>
                </a:highlight>
                <a:latin typeface="Calibri"/>
                <a:ea typeface="Calibri"/>
                <a:cs typeface="Calibri"/>
                <a:sym typeface="Calibri"/>
              </a:rPr>
              <a:t>Cube OLAP (Azure Analysis Services)</a:t>
            </a:r>
            <a:endParaRPr b="1" sz="1100">
              <a:solidFill>
                <a:schemeClr val="dk1"/>
              </a:solidFill>
              <a:highlight>
                <a:schemeClr val="lt1"/>
              </a:highlight>
              <a:latin typeface="Calibri"/>
              <a:ea typeface="Calibri"/>
              <a:cs typeface="Calibri"/>
              <a:sym typeface="Calibri"/>
            </a:endParaRPr>
          </a:p>
          <a:p>
            <a:pPr indent="-298450" lvl="1" marL="914400" rtl="0" algn="l">
              <a:spcBef>
                <a:spcPts val="0"/>
              </a:spcBef>
              <a:spcAft>
                <a:spcPts val="0"/>
              </a:spcAft>
              <a:buClr>
                <a:schemeClr val="lt1"/>
              </a:buClr>
              <a:buSzPts val="1100"/>
              <a:buFont typeface="Calibri"/>
              <a:buChar char="○"/>
            </a:pPr>
            <a:r>
              <a:rPr lang="fr">
                <a:latin typeface="Calibri"/>
                <a:ea typeface="Calibri"/>
                <a:cs typeface="Calibri"/>
                <a:sym typeface="Calibri"/>
              </a:rPr>
              <a:t>Structure les données en dimensions (temps, client, produit, employé…) et mesures (CA, quantités).</a:t>
            </a:r>
            <a:endParaRPr>
              <a:latin typeface="Calibri"/>
              <a:ea typeface="Calibri"/>
              <a:cs typeface="Calibri"/>
              <a:sym typeface="Calibri"/>
            </a:endParaRPr>
          </a:p>
          <a:p>
            <a:pPr indent="-298450" lvl="1" marL="914400" rtl="0" algn="l">
              <a:spcBef>
                <a:spcPts val="0"/>
              </a:spcBef>
              <a:spcAft>
                <a:spcPts val="0"/>
              </a:spcAft>
              <a:buClr>
                <a:schemeClr val="lt1"/>
              </a:buClr>
              <a:buSzPts val="1100"/>
              <a:buFont typeface="Calibri"/>
              <a:buChar char="○"/>
            </a:pPr>
            <a:r>
              <a:rPr lang="fr">
                <a:latin typeface="Calibri"/>
                <a:ea typeface="Calibri"/>
                <a:cs typeface="Calibri"/>
                <a:sym typeface="Calibri"/>
              </a:rPr>
              <a:t>Permet des calculs rapides et des agrégations complexes pour l’analyse.</a:t>
            </a:r>
            <a:endParaRPr>
              <a:latin typeface="Calibri"/>
              <a:ea typeface="Calibri"/>
              <a:cs typeface="Calibri"/>
              <a:sym typeface="Calibri"/>
            </a:endParaRPr>
          </a:p>
          <a:p>
            <a:pPr indent="-298450" lvl="0" marL="457200" rtl="0" algn="l">
              <a:spcBef>
                <a:spcPts val="0"/>
              </a:spcBef>
              <a:spcAft>
                <a:spcPts val="0"/>
              </a:spcAft>
              <a:buClr>
                <a:schemeClr val="dk1"/>
              </a:buClr>
              <a:buSzPts val="1100"/>
              <a:buFont typeface="Calibri"/>
              <a:buChar char="●"/>
            </a:pPr>
            <a:r>
              <a:rPr b="1" lang="fr" sz="1100">
                <a:solidFill>
                  <a:schemeClr val="dk1"/>
                </a:solidFill>
                <a:highlight>
                  <a:schemeClr val="lt1"/>
                </a:highlight>
                <a:latin typeface="Calibri"/>
                <a:ea typeface="Calibri"/>
                <a:cs typeface="Calibri"/>
                <a:sym typeface="Calibri"/>
              </a:rPr>
              <a:t>Serveur PowerBI (Dalaviz)</a:t>
            </a:r>
            <a:endParaRPr b="1" sz="1100">
              <a:solidFill>
                <a:schemeClr val="dk1"/>
              </a:solidFill>
              <a:highlight>
                <a:schemeClr val="lt1"/>
              </a:highlight>
              <a:latin typeface="Calibri"/>
              <a:ea typeface="Calibri"/>
              <a:cs typeface="Calibri"/>
              <a:sym typeface="Calibri"/>
            </a:endParaRPr>
          </a:p>
          <a:p>
            <a:pPr indent="-298450" lvl="1" marL="914400" rtl="0" algn="l">
              <a:spcBef>
                <a:spcPts val="0"/>
              </a:spcBef>
              <a:spcAft>
                <a:spcPts val="0"/>
              </a:spcAft>
              <a:buClr>
                <a:schemeClr val="lt1"/>
              </a:buClr>
              <a:buSzPts val="1100"/>
              <a:buFont typeface="Calibri"/>
              <a:buChar char="○"/>
            </a:pPr>
            <a:r>
              <a:rPr lang="fr">
                <a:latin typeface="Calibri"/>
                <a:ea typeface="Calibri"/>
                <a:cs typeface="Calibri"/>
                <a:sym typeface="Calibri"/>
              </a:rPr>
              <a:t>Interface de visualisation et de reporting pour les équipes métier.</a:t>
            </a:r>
            <a:endParaRPr>
              <a:latin typeface="Calibri"/>
              <a:ea typeface="Calibri"/>
              <a:cs typeface="Calibri"/>
              <a:sym typeface="Calibri"/>
            </a:endParaRPr>
          </a:p>
          <a:p>
            <a:pPr indent="-298450" lvl="1" marL="914400" rtl="0" algn="l">
              <a:spcBef>
                <a:spcPts val="0"/>
              </a:spcBef>
              <a:spcAft>
                <a:spcPts val="0"/>
              </a:spcAft>
              <a:buClr>
                <a:schemeClr val="lt1"/>
              </a:buClr>
              <a:buSzPts val="1100"/>
              <a:buFont typeface="Calibri"/>
              <a:buChar char="○"/>
            </a:pPr>
            <a:r>
              <a:rPr lang="fr">
                <a:latin typeface="Calibri"/>
                <a:ea typeface="Calibri"/>
                <a:cs typeface="Calibri"/>
                <a:sym typeface="Calibri"/>
              </a:rPr>
              <a:t>Exploite les données du cube OLAP pour produire des tableaux de bord interactifs.</a:t>
            </a:r>
            <a:endParaRPr>
              <a:latin typeface="Calibri"/>
              <a:ea typeface="Calibri"/>
              <a:cs typeface="Calibri"/>
              <a:sym typeface="Calibri"/>
            </a:endParaRPr>
          </a:p>
        </p:txBody>
      </p:sp>
      <p:sp>
        <p:nvSpPr>
          <p:cNvPr id="214" name="Google Shape;214;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fr"/>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1"/>
          <p:cNvSpPr txBox="1"/>
          <p:nvPr>
            <p:ph idx="1" type="body"/>
          </p:nvPr>
        </p:nvSpPr>
        <p:spPr>
          <a:xfrm>
            <a:off x="1297500" y="1567550"/>
            <a:ext cx="7038900" cy="2911200"/>
          </a:xfrm>
          <a:prstGeom prst="rect">
            <a:avLst/>
          </a:prstGeom>
          <a:noFill/>
          <a:ln>
            <a:noFill/>
          </a:ln>
        </p:spPr>
        <p:txBody>
          <a:bodyPr anchorCtr="0" anchor="t" bIns="91425" lIns="91425" spcFirstLastPara="1" rIns="91425" wrap="square" tIns="91425">
            <a:normAutofit/>
          </a:bodyPr>
          <a:lstStyle/>
          <a:p>
            <a:pPr indent="0" lvl="0" marL="0" rtl="0" algn="l">
              <a:spcBef>
                <a:spcPts val="1200"/>
              </a:spcBef>
              <a:spcAft>
                <a:spcPts val="1200"/>
              </a:spcAft>
              <a:buNone/>
            </a:pPr>
            <a:r>
              <a:t/>
            </a:r>
            <a:endParaRPr sz="991"/>
          </a:p>
        </p:txBody>
      </p:sp>
      <p:sp>
        <p:nvSpPr>
          <p:cNvPr id="220" name="Google Shape;220;p31"/>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667"/>
              <a:buNone/>
            </a:pPr>
            <a:r>
              <a:rPr lang="fr"/>
              <a:t>Analyse de la base de données</a:t>
            </a:r>
            <a:endParaRPr/>
          </a:p>
          <a:p>
            <a:pPr indent="0" lvl="0" marL="0" rtl="0" algn="l">
              <a:lnSpc>
                <a:spcPct val="100000"/>
              </a:lnSpc>
              <a:spcBef>
                <a:spcPts val="0"/>
              </a:spcBef>
              <a:spcAft>
                <a:spcPts val="0"/>
              </a:spcAft>
              <a:buSzPts val="2667"/>
              <a:buNone/>
            </a:pPr>
            <a:r>
              <a:rPr lang="fr" sz="1887"/>
              <a:t>Extrait du d</a:t>
            </a:r>
            <a:r>
              <a:rPr lang="fr" sz="1887"/>
              <a:t>ictionnaire des données (table vente détails)</a:t>
            </a:r>
            <a:endParaRPr sz="1887"/>
          </a:p>
        </p:txBody>
      </p:sp>
      <p:graphicFrame>
        <p:nvGraphicFramePr>
          <p:cNvPr id="221" name="Google Shape;221;p31"/>
          <p:cNvGraphicFramePr/>
          <p:nvPr/>
        </p:nvGraphicFramePr>
        <p:xfrm>
          <a:off x="1031158" y="1449586"/>
          <a:ext cx="3000000" cy="3000000"/>
        </p:xfrm>
        <a:graphic>
          <a:graphicData uri="http://schemas.openxmlformats.org/drawingml/2006/table">
            <a:tbl>
              <a:tblPr>
                <a:noFill/>
                <a:tableStyleId>{0186E8C4-DA42-4DD2-99DC-74003DBC02EA}</a:tableStyleId>
              </a:tblPr>
              <a:tblGrid>
                <a:gridCol w="1831375"/>
                <a:gridCol w="2303275"/>
                <a:gridCol w="1359475"/>
                <a:gridCol w="1831375"/>
              </a:tblGrid>
              <a:tr h="380950">
                <a:tc>
                  <a:txBody>
                    <a:bodyPr/>
                    <a:lstStyle/>
                    <a:p>
                      <a:pPr indent="0" lvl="0" marL="0" rtl="0" algn="ctr">
                        <a:lnSpc>
                          <a:spcPct val="115000"/>
                        </a:lnSpc>
                        <a:spcBef>
                          <a:spcPts val="0"/>
                        </a:spcBef>
                        <a:spcAft>
                          <a:spcPts val="0"/>
                        </a:spcAft>
                        <a:buNone/>
                      </a:pPr>
                      <a:r>
                        <a:rPr b="1" lang="fr" sz="1000">
                          <a:solidFill>
                            <a:srgbClr val="FFFFFF"/>
                          </a:solidFill>
                          <a:latin typeface="Calibri"/>
                          <a:ea typeface="Calibri"/>
                          <a:cs typeface="Calibri"/>
                          <a:sym typeface="Calibri"/>
                        </a:rPr>
                        <a:t>CODE</a:t>
                      </a:r>
                      <a:endParaRPr b="1" sz="1000">
                        <a:solidFill>
                          <a:srgbClr val="FFFFFF"/>
                        </a:solidFill>
                        <a:latin typeface="Calibri"/>
                        <a:ea typeface="Calibri"/>
                        <a:cs typeface="Calibri"/>
                        <a:sym typeface="Calibri"/>
                      </a:endParaRPr>
                    </a:p>
                  </a:txBody>
                  <a:tcPr marT="91425" marB="91425"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b="1" lang="fr" sz="1000">
                          <a:solidFill>
                            <a:srgbClr val="FFFFFF"/>
                          </a:solidFill>
                          <a:latin typeface="Calibri"/>
                          <a:ea typeface="Calibri"/>
                          <a:cs typeface="Calibri"/>
                          <a:sym typeface="Calibri"/>
                        </a:rPr>
                        <a:t>SIGNIFICATION</a:t>
                      </a:r>
                      <a:endParaRPr b="1" sz="1000">
                        <a:solidFill>
                          <a:srgbClr val="FFFFFF"/>
                        </a:solidFill>
                        <a:latin typeface="Calibri"/>
                        <a:ea typeface="Calibri"/>
                        <a:cs typeface="Calibri"/>
                        <a:sym typeface="Calibri"/>
                      </a:endParaRPr>
                    </a:p>
                  </a:txBody>
                  <a:tcPr marT="91425" marB="91425"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b="1" lang="fr" sz="1000">
                          <a:solidFill>
                            <a:srgbClr val="FFFFFF"/>
                          </a:solidFill>
                          <a:latin typeface="Calibri"/>
                          <a:ea typeface="Calibri"/>
                          <a:cs typeface="Calibri"/>
                          <a:sym typeface="Calibri"/>
                        </a:rPr>
                        <a:t>TYPE</a:t>
                      </a:r>
                      <a:endParaRPr b="1" sz="1000">
                        <a:solidFill>
                          <a:srgbClr val="FFFFFF"/>
                        </a:solidFill>
                        <a:latin typeface="Calibri"/>
                        <a:ea typeface="Calibri"/>
                        <a:cs typeface="Calibri"/>
                        <a:sym typeface="Calibri"/>
                      </a:endParaRPr>
                    </a:p>
                  </a:txBody>
                  <a:tcPr marT="91425" marB="91425"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b="1" lang="fr" sz="1000">
                          <a:solidFill>
                            <a:srgbClr val="FFFFFF"/>
                          </a:solidFill>
                          <a:latin typeface="Calibri"/>
                          <a:ea typeface="Calibri"/>
                          <a:cs typeface="Calibri"/>
                          <a:sym typeface="Calibri"/>
                        </a:rPr>
                        <a:t>LONGUEUR</a:t>
                      </a:r>
                      <a:endParaRPr b="1" sz="1000">
                        <a:solidFill>
                          <a:srgbClr val="FFFFFF"/>
                        </a:solidFill>
                        <a:latin typeface="Calibri"/>
                        <a:ea typeface="Calibri"/>
                        <a:cs typeface="Calibri"/>
                        <a:sym typeface="Calibri"/>
                      </a:endParaRPr>
                    </a:p>
                  </a:txBody>
                  <a:tcPr marT="91425" marB="91425"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2"/>
                    </a:solidFill>
                  </a:tcPr>
                </a:tc>
              </a:tr>
              <a:tr h="563675">
                <a:tc>
                  <a:txBody>
                    <a:bodyPr/>
                    <a:lstStyle/>
                    <a:p>
                      <a:pPr indent="0" lvl="0" marL="0" rtl="0" algn="ctr">
                        <a:lnSpc>
                          <a:spcPct val="115000"/>
                        </a:lnSpc>
                        <a:spcBef>
                          <a:spcPts val="0"/>
                        </a:spcBef>
                        <a:spcAft>
                          <a:spcPts val="0"/>
                        </a:spcAft>
                        <a:buNone/>
                      </a:pPr>
                      <a:r>
                        <a:rPr lang="fr" sz="1100">
                          <a:latin typeface="Calibri"/>
                          <a:ea typeface="Calibri"/>
                          <a:cs typeface="Calibri"/>
                          <a:sym typeface="Calibri"/>
                        </a:rPr>
                        <a:t>ID_BDD</a:t>
                      </a:r>
                      <a:endParaRPr b="1" sz="1100">
                        <a:solidFill>
                          <a:srgbClr val="FFFFFF"/>
                        </a:solidFill>
                        <a:latin typeface="Calibri"/>
                        <a:ea typeface="Calibri"/>
                        <a:cs typeface="Calibri"/>
                        <a:sym typeface="Calibri"/>
                      </a:endParaRPr>
                    </a:p>
                  </a:txBody>
                  <a:tcPr marT="91425" marB="91425"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9E2F3"/>
                    </a:solidFill>
                  </a:tcPr>
                </a:tc>
                <a:tc>
                  <a:txBody>
                    <a:bodyPr/>
                    <a:lstStyle/>
                    <a:p>
                      <a:pPr indent="0" lvl="0" marL="0" rtl="0" algn="l">
                        <a:lnSpc>
                          <a:spcPct val="115000"/>
                        </a:lnSpc>
                        <a:spcBef>
                          <a:spcPts val="0"/>
                        </a:spcBef>
                        <a:spcAft>
                          <a:spcPts val="0"/>
                        </a:spcAft>
                        <a:buNone/>
                      </a:pPr>
                      <a:r>
                        <a:rPr lang="fr" sz="1100">
                          <a:latin typeface="Calibri"/>
                          <a:ea typeface="Calibri"/>
                          <a:cs typeface="Calibri"/>
                          <a:sym typeface="Calibri"/>
                        </a:rPr>
                        <a:t>identifiant unique de la transaction</a:t>
                      </a:r>
                      <a:endParaRPr sz="1100">
                        <a:latin typeface="Calibri"/>
                        <a:ea typeface="Calibri"/>
                        <a:cs typeface="Calibri"/>
                        <a:sym typeface="Calibri"/>
                      </a:endParaRPr>
                    </a:p>
                  </a:txBody>
                  <a:tcPr marT="91425" marB="91425"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9E2F3"/>
                    </a:solidFill>
                  </a:tcPr>
                </a:tc>
                <a:tc>
                  <a:txBody>
                    <a:bodyPr/>
                    <a:lstStyle/>
                    <a:p>
                      <a:pPr indent="0" lvl="0" marL="0" rtl="0" algn="ctr">
                        <a:lnSpc>
                          <a:spcPct val="115000"/>
                        </a:lnSpc>
                        <a:spcBef>
                          <a:spcPts val="0"/>
                        </a:spcBef>
                        <a:spcAft>
                          <a:spcPts val="0"/>
                        </a:spcAft>
                        <a:buNone/>
                      </a:pPr>
                      <a:r>
                        <a:rPr lang="fr" sz="1100">
                          <a:latin typeface="Calibri"/>
                          <a:ea typeface="Calibri"/>
                          <a:cs typeface="Calibri"/>
                          <a:sym typeface="Calibri"/>
                        </a:rPr>
                        <a:t>varchar</a:t>
                      </a:r>
                      <a:endParaRPr sz="1100">
                        <a:latin typeface="Calibri"/>
                        <a:ea typeface="Calibri"/>
                        <a:cs typeface="Calibri"/>
                        <a:sym typeface="Calibri"/>
                      </a:endParaRPr>
                    </a:p>
                  </a:txBody>
                  <a:tcPr marT="91425" marB="91425"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9E2F3"/>
                    </a:solidFill>
                  </a:tcPr>
                </a:tc>
                <a:tc>
                  <a:txBody>
                    <a:bodyPr/>
                    <a:lstStyle/>
                    <a:p>
                      <a:pPr indent="0" lvl="0" marL="0" rtl="0" algn="ctr">
                        <a:lnSpc>
                          <a:spcPct val="115000"/>
                        </a:lnSpc>
                        <a:spcBef>
                          <a:spcPts val="0"/>
                        </a:spcBef>
                        <a:spcAft>
                          <a:spcPts val="0"/>
                        </a:spcAft>
                        <a:buNone/>
                      </a:pPr>
                      <a:r>
                        <a:rPr lang="fr" sz="1100">
                          <a:latin typeface="Calibri"/>
                          <a:ea typeface="Calibri"/>
                          <a:cs typeface="Calibri"/>
                          <a:sym typeface="Calibri"/>
                        </a:rPr>
                        <a:t>20</a:t>
                      </a:r>
                      <a:endParaRPr sz="1100">
                        <a:latin typeface="Calibri"/>
                        <a:ea typeface="Calibri"/>
                        <a:cs typeface="Calibri"/>
                        <a:sym typeface="Calibri"/>
                      </a:endParaRPr>
                    </a:p>
                  </a:txBody>
                  <a:tcPr marT="91425" marB="91425"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9E2F3"/>
                    </a:solidFill>
                  </a:tcPr>
                </a:tc>
              </a:tr>
              <a:tr h="395325">
                <a:tc>
                  <a:txBody>
                    <a:bodyPr/>
                    <a:lstStyle/>
                    <a:p>
                      <a:pPr indent="0" lvl="0" marL="0" rtl="0" algn="ctr">
                        <a:lnSpc>
                          <a:spcPct val="115000"/>
                        </a:lnSpc>
                        <a:spcBef>
                          <a:spcPts val="0"/>
                        </a:spcBef>
                        <a:spcAft>
                          <a:spcPts val="0"/>
                        </a:spcAft>
                        <a:buNone/>
                      </a:pPr>
                      <a:r>
                        <a:rPr lang="fr" sz="1000">
                          <a:latin typeface="Calibri"/>
                          <a:ea typeface="Calibri"/>
                          <a:cs typeface="Calibri"/>
                          <a:sym typeface="Calibri"/>
                        </a:rPr>
                        <a:t>CUSTOMER_ID</a:t>
                      </a:r>
                      <a:endParaRPr b="1" sz="1000">
                        <a:solidFill>
                          <a:srgbClr val="FFFFFF"/>
                        </a:solidFill>
                        <a:latin typeface="Calibri"/>
                        <a:ea typeface="Calibri"/>
                        <a:cs typeface="Calibri"/>
                        <a:sym typeface="Calibri"/>
                      </a:endParaRPr>
                    </a:p>
                  </a:txBody>
                  <a:tcPr marT="91425" marB="91425"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9E2F3"/>
                    </a:solidFill>
                  </a:tcPr>
                </a:tc>
                <a:tc>
                  <a:txBody>
                    <a:bodyPr/>
                    <a:lstStyle/>
                    <a:p>
                      <a:pPr indent="0" lvl="0" marL="0" rtl="0" algn="l">
                        <a:lnSpc>
                          <a:spcPct val="115000"/>
                        </a:lnSpc>
                        <a:spcBef>
                          <a:spcPts val="0"/>
                        </a:spcBef>
                        <a:spcAft>
                          <a:spcPts val="0"/>
                        </a:spcAft>
                        <a:buNone/>
                      </a:pPr>
                      <a:r>
                        <a:rPr lang="fr" sz="1100">
                          <a:latin typeface="Calibri"/>
                          <a:ea typeface="Calibri"/>
                          <a:cs typeface="Calibri"/>
                          <a:sym typeface="Calibri"/>
                        </a:rPr>
                        <a:t>identifiant unique du client</a:t>
                      </a:r>
                      <a:endParaRPr sz="1100">
                        <a:latin typeface="Calibri"/>
                        <a:ea typeface="Calibri"/>
                        <a:cs typeface="Calibri"/>
                        <a:sym typeface="Calibri"/>
                      </a:endParaRPr>
                    </a:p>
                  </a:txBody>
                  <a:tcPr marT="91425" marB="91425"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9E2F3"/>
                    </a:solidFill>
                  </a:tcPr>
                </a:tc>
                <a:tc>
                  <a:txBody>
                    <a:bodyPr/>
                    <a:lstStyle/>
                    <a:p>
                      <a:pPr indent="0" lvl="0" marL="0" rtl="0" algn="ctr">
                        <a:lnSpc>
                          <a:spcPct val="115000"/>
                        </a:lnSpc>
                        <a:spcBef>
                          <a:spcPts val="0"/>
                        </a:spcBef>
                        <a:spcAft>
                          <a:spcPts val="0"/>
                        </a:spcAft>
                        <a:buNone/>
                      </a:pPr>
                      <a:r>
                        <a:rPr lang="fr" sz="1100">
                          <a:latin typeface="Calibri"/>
                          <a:ea typeface="Calibri"/>
                          <a:cs typeface="Calibri"/>
                          <a:sym typeface="Calibri"/>
                        </a:rPr>
                        <a:t>varchar</a:t>
                      </a:r>
                      <a:endParaRPr sz="1100">
                        <a:latin typeface="Calibri"/>
                        <a:ea typeface="Calibri"/>
                        <a:cs typeface="Calibri"/>
                        <a:sym typeface="Calibri"/>
                      </a:endParaRPr>
                    </a:p>
                  </a:txBody>
                  <a:tcPr marT="91425" marB="91425"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9E2F3"/>
                    </a:solidFill>
                  </a:tcPr>
                </a:tc>
                <a:tc>
                  <a:txBody>
                    <a:bodyPr/>
                    <a:lstStyle/>
                    <a:p>
                      <a:pPr indent="0" lvl="0" marL="0" rtl="0" algn="ctr">
                        <a:lnSpc>
                          <a:spcPct val="115000"/>
                        </a:lnSpc>
                        <a:spcBef>
                          <a:spcPts val="0"/>
                        </a:spcBef>
                        <a:spcAft>
                          <a:spcPts val="0"/>
                        </a:spcAft>
                        <a:buNone/>
                      </a:pPr>
                      <a:r>
                        <a:rPr lang="fr" sz="1100">
                          <a:latin typeface="Calibri"/>
                          <a:ea typeface="Calibri"/>
                          <a:cs typeface="Calibri"/>
                          <a:sym typeface="Calibri"/>
                        </a:rPr>
                        <a:t>50</a:t>
                      </a:r>
                      <a:endParaRPr sz="1100">
                        <a:latin typeface="Calibri"/>
                        <a:ea typeface="Calibri"/>
                        <a:cs typeface="Calibri"/>
                        <a:sym typeface="Calibri"/>
                      </a:endParaRPr>
                    </a:p>
                  </a:txBody>
                  <a:tcPr marT="91425" marB="91425"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9E2F3"/>
                    </a:solidFill>
                  </a:tcPr>
                </a:tc>
              </a:tr>
              <a:tr h="563675">
                <a:tc>
                  <a:txBody>
                    <a:bodyPr/>
                    <a:lstStyle/>
                    <a:p>
                      <a:pPr indent="0" lvl="0" marL="0" rtl="0" algn="ctr">
                        <a:lnSpc>
                          <a:spcPct val="115000"/>
                        </a:lnSpc>
                        <a:spcBef>
                          <a:spcPts val="0"/>
                        </a:spcBef>
                        <a:spcAft>
                          <a:spcPts val="0"/>
                        </a:spcAft>
                        <a:buNone/>
                      </a:pPr>
                      <a:r>
                        <a:rPr lang="fr" sz="1000">
                          <a:latin typeface="Calibri"/>
                          <a:ea typeface="Calibri"/>
                          <a:cs typeface="Calibri"/>
                          <a:sym typeface="Calibri"/>
                        </a:rPr>
                        <a:t>id_employe</a:t>
                      </a:r>
                      <a:endParaRPr b="1" sz="1000">
                        <a:solidFill>
                          <a:srgbClr val="FFFFFF"/>
                        </a:solidFill>
                        <a:latin typeface="Calibri"/>
                        <a:ea typeface="Calibri"/>
                        <a:cs typeface="Calibri"/>
                        <a:sym typeface="Calibri"/>
                      </a:endParaRPr>
                    </a:p>
                  </a:txBody>
                  <a:tcPr marT="91425" marB="91425"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9E2F3"/>
                    </a:solidFill>
                  </a:tcPr>
                </a:tc>
                <a:tc>
                  <a:txBody>
                    <a:bodyPr/>
                    <a:lstStyle/>
                    <a:p>
                      <a:pPr indent="0" lvl="0" marL="0" rtl="0" algn="l">
                        <a:lnSpc>
                          <a:spcPct val="115000"/>
                        </a:lnSpc>
                        <a:spcBef>
                          <a:spcPts val="0"/>
                        </a:spcBef>
                        <a:spcAft>
                          <a:spcPts val="0"/>
                        </a:spcAft>
                        <a:buNone/>
                      </a:pPr>
                      <a:r>
                        <a:rPr lang="fr" sz="1100">
                          <a:latin typeface="Calibri"/>
                          <a:ea typeface="Calibri"/>
                          <a:cs typeface="Calibri"/>
                          <a:sym typeface="Calibri"/>
                        </a:rPr>
                        <a:t>identifiant unique de l'employé</a:t>
                      </a:r>
                      <a:endParaRPr sz="1100">
                        <a:latin typeface="Calibri"/>
                        <a:ea typeface="Calibri"/>
                        <a:cs typeface="Calibri"/>
                        <a:sym typeface="Calibri"/>
                      </a:endParaRPr>
                    </a:p>
                  </a:txBody>
                  <a:tcPr marT="91425" marB="91425"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9E2F3"/>
                    </a:solidFill>
                  </a:tcPr>
                </a:tc>
                <a:tc>
                  <a:txBody>
                    <a:bodyPr/>
                    <a:lstStyle/>
                    <a:p>
                      <a:pPr indent="0" lvl="0" marL="0" rtl="0" algn="ctr">
                        <a:lnSpc>
                          <a:spcPct val="115000"/>
                        </a:lnSpc>
                        <a:spcBef>
                          <a:spcPts val="0"/>
                        </a:spcBef>
                        <a:spcAft>
                          <a:spcPts val="0"/>
                        </a:spcAft>
                        <a:buNone/>
                      </a:pPr>
                      <a:r>
                        <a:rPr lang="fr" sz="1100">
                          <a:latin typeface="Calibri"/>
                          <a:ea typeface="Calibri"/>
                          <a:cs typeface="Calibri"/>
                          <a:sym typeface="Calibri"/>
                        </a:rPr>
                        <a:t>varchar</a:t>
                      </a:r>
                      <a:endParaRPr sz="1100">
                        <a:latin typeface="Calibri"/>
                        <a:ea typeface="Calibri"/>
                        <a:cs typeface="Calibri"/>
                        <a:sym typeface="Calibri"/>
                      </a:endParaRPr>
                    </a:p>
                  </a:txBody>
                  <a:tcPr marT="91425" marB="91425"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9E2F3"/>
                    </a:solidFill>
                  </a:tcPr>
                </a:tc>
                <a:tc>
                  <a:txBody>
                    <a:bodyPr/>
                    <a:lstStyle/>
                    <a:p>
                      <a:pPr indent="0" lvl="0" marL="0" rtl="0" algn="ctr">
                        <a:lnSpc>
                          <a:spcPct val="115000"/>
                        </a:lnSpc>
                        <a:spcBef>
                          <a:spcPts val="0"/>
                        </a:spcBef>
                        <a:spcAft>
                          <a:spcPts val="0"/>
                        </a:spcAft>
                        <a:buNone/>
                      </a:pPr>
                      <a:r>
                        <a:rPr lang="fr" sz="1100">
                          <a:latin typeface="Calibri"/>
                          <a:ea typeface="Calibri"/>
                          <a:cs typeface="Calibri"/>
                          <a:sym typeface="Calibri"/>
                        </a:rPr>
                        <a:t>50</a:t>
                      </a:r>
                      <a:endParaRPr sz="1100">
                        <a:latin typeface="Calibri"/>
                        <a:ea typeface="Calibri"/>
                        <a:cs typeface="Calibri"/>
                        <a:sym typeface="Calibri"/>
                      </a:endParaRPr>
                    </a:p>
                  </a:txBody>
                  <a:tcPr marT="91425" marB="91425"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9E2F3"/>
                    </a:solidFill>
                  </a:tcPr>
                </a:tc>
              </a:tr>
              <a:tr h="395325">
                <a:tc>
                  <a:txBody>
                    <a:bodyPr/>
                    <a:lstStyle/>
                    <a:p>
                      <a:pPr indent="0" lvl="0" marL="0" rtl="0" algn="ctr">
                        <a:lnSpc>
                          <a:spcPct val="115000"/>
                        </a:lnSpc>
                        <a:spcBef>
                          <a:spcPts val="0"/>
                        </a:spcBef>
                        <a:spcAft>
                          <a:spcPts val="0"/>
                        </a:spcAft>
                        <a:buNone/>
                      </a:pPr>
                      <a:r>
                        <a:rPr lang="fr" sz="1100">
                          <a:latin typeface="Calibri"/>
                          <a:ea typeface="Calibri"/>
                          <a:cs typeface="Calibri"/>
                          <a:sym typeface="Calibri"/>
                        </a:rPr>
                        <a:t>EAN</a:t>
                      </a:r>
                      <a:endParaRPr b="1" sz="1100">
                        <a:solidFill>
                          <a:srgbClr val="FFFFFF"/>
                        </a:solidFill>
                        <a:latin typeface="Calibri"/>
                        <a:ea typeface="Calibri"/>
                        <a:cs typeface="Calibri"/>
                        <a:sym typeface="Calibri"/>
                      </a:endParaRPr>
                    </a:p>
                  </a:txBody>
                  <a:tcPr marT="91425" marB="91425"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9E2F3"/>
                    </a:solidFill>
                  </a:tcPr>
                </a:tc>
                <a:tc>
                  <a:txBody>
                    <a:bodyPr/>
                    <a:lstStyle/>
                    <a:p>
                      <a:pPr indent="0" lvl="0" marL="0" rtl="0" algn="l">
                        <a:lnSpc>
                          <a:spcPct val="115000"/>
                        </a:lnSpc>
                        <a:spcBef>
                          <a:spcPts val="0"/>
                        </a:spcBef>
                        <a:spcAft>
                          <a:spcPts val="0"/>
                        </a:spcAft>
                        <a:buNone/>
                      </a:pPr>
                      <a:r>
                        <a:rPr lang="fr" sz="1100">
                          <a:latin typeface="Calibri"/>
                          <a:ea typeface="Calibri"/>
                          <a:cs typeface="Calibri"/>
                          <a:sym typeface="Calibri"/>
                        </a:rPr>
                        <a:t>identifiant unique du produit</a:t>
                      </a:r>
                      <a:endParaRPr sz="1100">
                        <a:latin typeface="Calibri"/>
                        <a:ea typeface="Calibri"/>
                        <a:cs typeface="Calibri"/>
                        <a:sym typeface="Calibri"/>
                      </a:endParaRPr>
                    </a:p>
                  </a:txBody>
                  <a:tcPr marT="91425" marB="91425"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9E2F3"/>
                    </a:solidFill>
                  </a:tcPr>
                </a:tc>
                <a:tc>
                  <a:txBody>
                    <a:bodyPr/>
                    <a:lstStyle/>
                    <a:p>
                      <a:pPr indent="0" lvl="0" marL="0" rtl="0" algn="ctr">
                        <a:lnSpc>
                          <a:spcPct val="115000"/>
                        </a:lnSpc>
                        <a:spcBef>
                          <a:spcPts val="0"/>
                        </a:spcBef>
                        <a:spcAft>
                          <a:spcPts val="0"/>
                        </a:spcAft>
                        <a:buNone/>
                      </a:pPr>
                      <a:r>
                        <a:rPr lang="fr" sz="1100">
                          <a:latin typeface="Calibri"/>
                          <a:ea typeface="Calibri"/>
                          <a:cs typeface="Calibri"/>
                          <a:sym typeface="Calibri"/>
                        </a:rPr>
                        <a:t>varchar</a:t>
                      </a:r>
                      <a:endParaRPr sz="1100">
                        <a:latin typeface="Calibri"/>
                        <a:ea typeface="Calibri"/>
                        <a:cs typeface="Calibri"/>
                        <a:sym typeface="Calibri"/>
                      </a:endParaRPr>
                    </a:p>
                  </a:txBody>
                  <a:tcPr marT="91425" marB="91425"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9E2F3"/>
                    </a:solidFill>
                  </a:tcPr>
                </a:tc>
                <a:tc>
                  <a:txBody>
                    <a:bodyPr/>
                    <a:lstStyle/>
                    <a:p>
                      <a:pPr indent="0" lvl="0" marL="0" rtl="0" algn="ctr">
                        <a:lnSpc>
                          <a:spcPct val="115000"/>
                        </a:lnSpc>
                        <a:spcBef>
                          <a:spcPts val="0"/>
                        </a:spcBef>
                        <a:spcAft>
                          <a:spcPts val="0"/>
                        </a:spcAft>
                        <a:buNone/>
                      </a:pPr>
                      <a:r>
                        <a:rPr lang="fr" sz="1100">
                          <a:latin typeface="Calibri"/>
                          <a:ea typeface="Calibri"/>
                          <a:cs typeface="Calibri"/>
                          <a:sym typeface="Calibri"/>
                        </a:rPr>
                        <a:t>100</a:t>
                      </a:r>
                      <a:endParaRPr sz="1100">
                        <a:latin typeface="Calibri"/>
                        <a:ea typeface="Calibri"/>
                        <a:cs typeface="Calibri"/>
                        <a:sym typeface="Calibri"/>
                      </a:endParaRPr>
                    </a:p>
                  </a:txBody>
                  <a:tcPr marT="91425" marB="91425"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9E2F3"/>
                    </a:solidFill>
                  </a:tcPr>
                </a:tc>
              </a:tr>
              <a:tr h="563675">
                <a:tc>
                  <a:txBody>
                    <a:bodyPr/>
                    <a:lstStyle/>
                    <a:p>
                      <a:pPr indent="0" lvl="0" marL="0" rtl="0" algn="ctr">
                        <a:lnSpc>
                          <a:spcPct val="115000"/>
                        </a:lnSpc>
                        <a:spcBef>
                          <a:spcPts val="0"/>
                        </a:spcBef>
                        <a:spcAft>
                          <a:spcPts val="0"/>
                        </a:spcAft>
                        <a:buNone/>
                      </a:pPr>
                      <a:r>
                        <a:rPr lang="fr" sz="1000">
                          <a:latin typeface="Calibri"/>
                          <a:ea typeface="Calibri"/>
                          <a:cs typeface="Calibri"/>
                          <a:sym typeface="Calibri"/>
                        </a:rPr>
                        <a:t>Date achat</a:t>
                      </a:r>
                      <a:endParaRPr b="1" sz="1000">
                        <a:solidFill>
                          <a:srgbClr val="FFFFFF"/>
                        </a:solidFill>
                        <a:latin typeface="Calibri"/>
                        <a:ea typeface="Calibri"/>
                        <a:cs typeface="Calibri"/>
                        <a:sym typeface="Calibri"/>
                      </a:endParaRPr>
                    </a:p>
                  </a:txBody>
                  <a:tcPr marT="91425" marB="91425"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9E2F3"/>
                    </a:solidFill>
                  </a:tcPr>
                </a:tc>
                <a:tc>
                  <a:txBody>
                    <a:bodyPr/>
                    <a:lstStyle/>
                    <a:p>
                      <a:pPr indent="0" lvl="0" marL="0" rtl="0" algn="l">
                        <a:lnSpc>
                          <a:spcPct val="115000"/>
                        </a:lnSpc>
                        <a:spcBef>
                          <a:spcPts val="0"/>
                        </a:spcBef>
                        <a:spcAft>
                          <a:spcPts val="0"/>
                        </a:spcAft>
                        <a:buNone/>
                      </a:pPr>
                      <a:r>
                        <a:rPr lang="fr" sz="1100">
                          <a:latin typeface="Calibri"/>
                          <a:ea typeface="Calibri"/>
                          <a:cs typeface="Calibri"/>
                          <a:sym typeface="Calibri"/>
                        </a:rPr>
                        <a:t>code date au format standard excel</a:t>
                      </a:r>
                      <a:endParaRPr sz="1100">
                        <a:latin typeface="Calibri"/>
                        <a:ea typeface="Calibri"/>
                        <a:cs typeface="Calibri"/>
                        <a:sym typeface="Calibri"/>
                      </a:endParaRPr>
                    </a:p>
                  </a:txBody>
                  <a:tcPr marT="91425" marB="91425"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9E2F3"/>
                    </a:solidFill>
                  </a:tcPr>
                </a:tc>
                <a:tc>
                  <a:txBody>
                    <a:bodyPr/>
                    <a:lstStyle/>
                    <a:p>
                      <a:pPr indent="0" lvl="0" marL="0" rtl="0" algn="ctr">
                        <a:lnSpc>
                          <a:spcPct val="115000"/>
                        </a:lnSpc>
                        <a:spcBef>
                          <a:spcPts val="0"/>
                        </a:spcBef>
                        <a:spcAft>
                          <a:spcPts val="0"/>
                        </a:spcAft>
                        <a:buNone/>
                      </a:pPr>
                      <a:r>
                        <a:rPr lang="fr" sz="1100">
                          <a:latin typeface="Calibri"/>
                          <a:ea typeface="Calibri"/>
                          <a:cs typeface="Calibri"/>
                          <a:sym typeface="Calibri"/>
                        </a:rPr>
                        <a:t>float</a:t>
                      </a:r>
                      <a:endParaRPr sz="1100">
                        <a:latin typeface="Calibri"/>
                        <a:ea typeface="Calibri"/>
                        <a:cs typeface="Calibri"/>
                        <a:sym typeface="Calibri"/>
                      </a:endParaRPr>
                    </a:p>
                  </a:txBody>
                  <a:tcPr marT="91425" marB="91425"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9E2F3"/>
                    </a:solidFill>
                  </a:tcPr>
                </a:tc>
                <a:tc>
                  <a:txBody>
                    <a:bodyPr/>
                    <a:lstStyle/>
                    <a:p>
                      <a:pPr indent="0" lvl="0" marL="0" rtl="0" algn="ctr">
                        <a:lnSpc>
                          <a:spcPct val="115000"/>
                        </a:lnSpc>
                        <a:spcBef>
                          <a:spcPts val="0"/>
                        </a:spcBef>
                        <a:spcAft>
                          <a:spcPts val="0"/>
                        </a:spcAft>
                        <a:buNone/>
                      </a:pPr>
                      <a:r>
                        <a:rPr lang="fr" sz="1100">
                          <a:latin typeface="Calibri"/>
                          <a:ea typeface="Calibri"/>
                          <a:cs typeface="Calibri"/>
                          <a:sym typeface="Calibri"/>
                        </a:rPr>
                        <a:t>NC</a:t>
                      </a:r>
                      <a:endParaRPr sz="1100">
                        <a:latin typeface="Calibri"/>
                        <a:ea typeface="Calibri"/>
                        <a:cs typeface="Calibri"/>
                        <a:sym typeface="Calibri"/>
                      </a:endParaRPr>
                    </a:p>
                  </a:txBody>
                  <a:tcPr marT="91425" marB="91425"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9E2F3"/>
                    </a:solidFill>
                  </a:tcPr>
                </a:tc>
              </a:tr>
              <a:tr h="395325">
                <a:tc>
                  <a:txBody>
                    <a:bodyPr/>
                    <a:lstStyle/>
                    <a:p>
                      <a:pPr indent="0" lvl="0" marL="0" rtl="0" algn="ctr">
                        <a:lnSpc>
                          <a:spcPct val="115000"/>
                        </a:lnSpc>
                        <a:spcBef>
                          <a:spcPts val="0"/>
                        </a:spcBef>
                        <a:spcAft>
                          <a:spcPts val="0"/>
                        </a:spcAft>
                        <a:buNone/>
                      </a:pPr>
                      <a:r>
                        <a:rPr lang="fr" sz="1000">
                          <a:latin typeface="Calibri"/>
                          <a:ea typeface="Calibri"/>
                          <a:cs typeface="Calibri"/>
                          <a:sym typeface="Calibri"/>
                        </a:rPr>
                        <a:t>ID ticket</a:t>
                      </a:r>
                      <a:endParaRPr b="1" sz="1000">
                        <a:solidFill>
                          <a:srgbClr val="FFFFFF"/>
                        </a:solidFill>
                        <a:latin typeface="Calibri"/>
                        <a:ea typeface="Calibri"/>
                        <a:cs typeface="Calibri"/>
                        <a:sym typeface="Calibri"/>
                      </a:endParaRPr>
                    </a:p>
                  </a:txBody>
                  <a:tcPr marT="91425" marB="91425"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9E2F3"/>
                    </a:solidFill>
                  </a:tcPr>
                </a:tc>
                <a:tc>
                  <a:txBody>
                    <a:bodyPr/>
                    <a:lstStyle/>
                    <a:p>
                      <a:pPr indent="0" lvl="0" marL="0" rtl="0" algn="l">
                        <a:lnSpc>
                          <a:spcPct val="115000"/>
                        </a:lnSpc>
                        <a:spcBef>
                          <a:spcPts val="0"/>
                        </a:spcBef>
                        <a:spcAft>
                          <a:spcPts val="0"/>
                        </a:spcAft>
                        <a:buNone/>
                      </a:pPr>
                      <a:r>
                        <a:rPr lang="fr" sz="1100">
                          <a:latin typeface="Calibri"/>
                          <a:ea typeface="Calibri"/>
                          <a:cs typeface="Calibri"/>
                          <a:sym typeface="Calibri"/>
                        </a:rPr>
                        <a:t>identifiant unique du ticket</a:t>
                      </a:r>
                      <a:endParaRPr sz="1100">
                        <a:latin typeface="Calibri"/>
                        <a:ea typeface="Calibri"/>
                        <a:cs typeface="Calibri"/>
                        <a:sym typeface="Calibri"/>
                      </a:endParaRPr>
                    </a:p>
                  </a:txBody>
                  <a:tcPr marT="91425" marB="91425"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9E2F3"/>
                    </a:solidFill>
                  </a:tcPr>
                </a:tc>
                <a:tc>
                  <a:txBody>
                    <a:bodyPr/>
                    <a:lstStyle/>
                    <a:p>
                      <a:pPr indent="0" lvl="0" marL="0" rtl="0" algn="ctr">
                        <a:lnSpc>
                          <a:spcPct val="115000"/>
                        </a:lnSpc>
                        <a:spcBef>
                          <a:spcPts val="0"/>
                        </a:spcBef>
                        <a:spcAft>
                          <a:spcPts val="0"/>
                        </a:spcAft>
                        <a:buNone/>
                      </a:pPr>
                      <a:r>
                        <a:rPr lang="fr" sz="1100">
                          <a:latin typeface="Calibri"/>
                          <a:ea typeface="Calibri"/>
                          <a:cs typeface="Calibri"/>
                          <a:sym typeface="Calibri"/>
                        </a:rPr>
                        <a:t>varchar</a:t>
                      </a:r>
                      <a:endParaRPr sz="1100">
                        <a:latin typeface="Calibri"/>
                        <a:ea typeface="Calibri"/>
                        <a:cs typeface="Calibri"/>
                        <a:sym typeface="Calibri"/>
                      </a:endParaRPr>
                    </a:p>
                  </a:txBody>
                  <a:tcPr marT="91425" marB="91425"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9E2F3"/>
                    </a:solidFill>
                  </a:tcPr>
                </a:tc>
                <a:tc>
                  <a:txBody>
                    <a:bodyPr/>
                    <a:lstStyle/>
                    <a:p>
                      <a:pPr indent="0" lvl="0" marL="0" rtl="0" algn="ctr">
                        <a:lnSpc>
                          <a:spcPct val="115000"/>
                        </a:lnSpc>
                        <a:spcBef>
                          <a:spcPts val="0"/>
                        </a:spcBef>
                        <a:spcAft>
                          <a:spcPts val="0"/>
                        </a:spcAft>
                        <a:buNone/>
                      </a:pPr>
                      <a:r>
                        <a:rPr lang="fr" sz="1100">
                          <a:latin typeface="Calibri"/>
                          <a:ea typeface="Calibri"/>
                          <a:cs typeface="Calibri"/>
                          <a:sym typeface="Calibri"/>
                        </a:rPr>
                        <a:t>50</a:t>
                      </a:r>
                      <a:endParaRPr sz="1100">
                        <a:latin typeface="Calibri"/>
                        <a:ea typeface="Calibri"/>
                        <a:cs typeface="Calibri"/>
                        <a:sym typeface="Calibri"/>
                      </a:endParaRPr>
                    </a:p>
                  </a:txBody>
                  <a:tcPr marT="91425" marB="91425"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9E2F3"/>
                    </a:solidFill>
                  </a:tcPr>
                </a:tc>
              </a:tr>
            </a:tbl>
          </a:graphicData>
        </a:graphic>
      </p:graphicFrame>
      <p:sp>
        <p:nvSpPr>
          <p:cNvPr id="222" name="Google Shape;222;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fr"/>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2"/>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667"/>
              <a:buNone/>
            </a:pPr>
            <a:r>
              <a:rPr lang="fr"/>
              <a:t>Analyse de la base de données</a:t>
            </a:r>
            <a:endParaRPr/>
          </a:p>
          <a:p>
            <a:pPr indent="0" lvl="0" marL="0" rtl="0" algn="l">
              <a:lnSpc>
                <a:spcPct val="100000"/>
              </a:lnSpc>
              <a:spcBef>
                <a:spcPts val="0"/>
              </a:spcBef>
              <a:spcAft>
                <a:spcPts val="0"/>
              </a:spcAft>
              <a:buSzPts val="2667"/>
              <a:buNone/>
            </a:pPr>
            <a:r>
              <a:rPr lang="fr" sz="1887"/>
              <a:t>S</a:t>
            </a:r>
            <a:r>
              <a:rPr lang="fr" sz="1887"/>
              <a:t>chéma relationnel</a:t>
            </a:r>
            <a:endParaRPr sz="1887"/>
          </a:p>
        </p:txBody>
      </p:sp>
      <p:pic>
        <p:nvPicPr>
          <p:cNvPr id="228" name="Google Shape;228;p32" title="MDD audit.drawio.png"/>
          <p:cNvPicPr preferRelativeResize="0"/>
          <p:nvPr/>
        </p:nvPicPr>
        <p:blipFill>
          <a:blip r:embed="rId3">
            <a:alphaModFix/>
          </a:blip>
          <a:stretch>
            <a:fillRect/>
          </a:stretch>
        </p:blipFill>
        <p:spPr>
          <a:xfrm>
            <a:off x="2625000" y="1181988"/>
            <a:ext cx="3525174" cy="3809875"/>
          </a:xfrm>
          <a:prstGeom prst="rect">
            <a:avLst/>
          </a:prstGeom>
          <a:noFill/>
          <a:ln>
            <a:noFill/>
          </a:ln>
        </p:spPr>
      </p:pic>
      <p:sp>
        <p:nvSpPr>
          <p:cNvPr id="229" name="Google Shape;229;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fr"/>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3"/>
          <p:cNvSpPr txBox="1"/>
          <p:nvPr>
            <p:ph type="title"/>
          </p:nvPr>
        </p:nvSpPr>
        <p:spPr>
          <a:xfrm>
            <a:off x="280250" y="2150850"/>
            <a:ext cx="5645400" cy="841800"/>
          </a:xfrm>
          <a:prstGeom prst="rect">
            <a:avLst/>
          </a:prstGeom>
          <a:noFill/>
          <a:ln>
            <a:noFill/>
          </a:ln>
        </p:spPr>
        <p:txBody>
          <a:bodyPr anchorCtr="0" anchor="ctr" bIns="91425" lIns="91425" spcFirstLastPara="1" rIns="91425" wrap="square" tIns="91425">
            <a:noAutofit/>
          </a:bodyPr>
          <a:lstStyle/>
          <a:p>
            <a:pPr indent="457200" lvl="0" marL="0" rtl="0" algn="l">
              <a:lnSpc>
                <a:spcPct val="100000"/>
              </a:lnSpc>
              <a:spcBef>
                <a:spcPts val="0"/>
              </a:spcBef>
              <a:spcAft>
                <a:spcPts val="0"/>
              </a:spcAft>
              <a:buSzPts val="2800"/>
              <a:buNone/>
            </a:pPr>
            <a:r>
              <a:rPr b="1" lang="fr" sz="6000"/>
              <a:t>PROTOTYPE</a:t>
            </a:r>
            <a:endParaRPr b="1" sz="6000"/>
          </a:p>
        </p:txBody>
      </p:sp>
      <p:sp>
        <p:nvSpPr>
          <p:cNvPr id="235" name="Google Shape;235;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4"/>
          <p:cNvSpPr txBox="1"/>
          <p:nvPr>
            <p:ph idx="1" type="body"/>
          </p:nvPr>
        </p:nvSpPr>
        <p:spPr>
          <a:xfrm>
            <a:off x="1297500" y="1567550"/>
            <a:ext cx="7038900" cy="2911200"/>
          </a:xfrm>
          <a:prstGeom prst="rect">
            <a:avLst/>
          </a:prstGeom>
          <a:noFill/>
          <a:ln>
            <a:noFill/>
          </a:ln>
        </p:spPr>
        <p:txBody>
          <a:bodyPr anchorCtr="0" anchor="t" bIns="91425" lIns="91425" spcFirstLastPara="1" rIns="91425" wrap="square" tIns="91425">
            <a:normAutofit lnSpcReduction="20000"/>
          </a:bodyPr>
          <a:lstStyle/>
          <a:p>
            <a:pPr indent="0" lvl="0" marL="0" rtl="0" algn="l">
              <a:spcBef>
                <a:spcPts val="1200"/>
              </a:spcBef>
              <a:spcAft>
                <a:spcPts val="0"/>
              </a:spcAft>
              <a:buNone/>
            </a:pPr>
            <a:r>
              <a:rPr b="1" lang="fr" sz="1100">
                <a:latin typeface="Calibri"/>
                <a:ea typeface="Calibri"/>
                <a:cs typeface="Calibri"/>
                <a:sym typeface="Calibri"/>
              </a:rPr>
              <a:t>Objectif :</a:t>
            </a:r>
            <a:r>
              <a:rPr lang="fr" sz="1100">
                <a:latin typeface="Calibri"/>
                <a:ea typeface="Calibri"/>
                <a:cs typeface="Calibri"/>
                <a:sym typeface="Calibri"/>
              </a:rPr>
              <a:t> Recréer une base de données fiable en local pour tester les calculs de chiffre d’affaires et valider les incohérences identifiées.</a:t>
            </a:r>
            <a:endParaRPr sz="1100">
              <a:latin typeface="Calibri"/>
              <a:ea typeface="Calibri"/>
              <a:cs typeface="Calibri"/>
              <a:sym typeface="Calibri"/>
            </a:endParaRPr>
          </a:p>
          <a:p>
            <a:pPr indent="0" lvl="0" marL="0" rtl="0" algn="l">
              <a:spcBef>
                <a:spcPts val="1200"/>
              </a:spcBef>
              <a:spcAft>
                <a:spcPts val="0"/>
              </a:spcAft>
              <a:buNone/>
            </a:pPr>
            <a:r>
              <a:rPr b="1" lang="fr">
                <a:solidFill>
                  <a:schemeClr val="dk1"/>
                </a:solidFill>
                <a:highlight>
                  <a:schemeClr val="lt1"/>
                </a:highlight>
                <a:latin typeface="Calibri"/>
                <a:ea typeface="Calibri"/>
                <a:cs typeface="Calibri"/>
                <a:sym typeface="Calibri"/>
              </a:rPr>
              <a:t>Mise en place sur BigQuery</a:t>
            </a:r>
            <a:endParaRPr b="1">
              <a:solidFill>
                <a:schemeClr val="dk1"/>
              </a:solidFill>
              <a:highlight>
                <a:schemeClr val="lt1"/>
              </a:highlight>
              <a:latin typeface="Calibri"/>
              <a:ea typeface="Calibri"/>
              <a:cs typeface="Calibri"/>
              <a:sym typeface="Calibri"/>
            </a:endParaRPr>
          </a:p>
          <a:p>
            <a:pPr indent="-298450" lvl="0" marL="457200" rtl="0" algn="l">
              <a:spcBef>
                <a:spcPts val="1200"/>
              </a:spcBef>
              <a:spcAft>
                <a:spcPts val="0"/>
              </a:spcAft>
              <a:buClr>
                <a:schemeClr val="lt1"/>
              </a:buClr>
              <a:buSzPts val="1100"/>
              <a:buFont typeface="Calibri"/>
              <a:buChar char="●"/>
            </a:pPr>
            <a:r>
              <a:rPr lang="fr" sz="1100">
                <a:latin typeface="Calibri"/>
                <a:ea typeface="Calibri"/>
                <a:cs typeface="Calibri"/>
                <a:sym typeface="Calibri"/>
              </a:rPr>
              <a:t>Création des tables principales à partir du dictionnaire de données :</a:t>
            </a:r>
            <a:endParaRPr sz="1100">
              <a:latin typeface="Calibri"/>
              <a:ea typeface="Calibri"/>
              <a:cs typeface="Calibri"/>
              <a:sym typeface="Calibri"/>
            </a:endParaRPr>
          </a:p>
          <a:p>
            <a:pPr indent="-298450" lvl="1" marL="914400" rtl="0" algn="l">
              <a:spcBef>
                <a:spcPts val="0"/>
              </a:spcBef>
              <a:spcAft>
                <a:spcPts val="0"/>
              </a:spcAft>
              <a:buClr>
                <a:schemeClr val="lt1"/>
              </a:buClr>
              <a:buSzPts val="1100"/>
              <a:buFont typeface="Arial"/>
              <a:buChar char="○"/>
            </a:pPr>
            <a:r>
              <a:rPr b="1" lang="fr">
                <a:latin typeface="Calibri"/>
                <a:ea typeface="Calibri"/>
                <a:cs typeface="Calibri"/>
                <a:sym typeface="Calibri"/>
              </a:rPr>
              <a:t>CLIENT</a:t>
            </a:r>
            <a:r>
              <a:rPr lang="fr">
                <a:latin typeface="Calibri"/>
                <a:ea typeface="Calibri"/>
                <a:cs typeface="Calibri"/>
                <a:sym typeface="Calibri"/>
              </a:rPr>
              <a:t> (clé primaire : CUSTOMER_ID)</a:t>
            </a:r>
            <a:endParaRPr>
              <a:latin typeface="Calibri"/>
              <a:ea typeface="Calibri"/>
              <a:cs typeface="Calibri"/>
              <a:sym typeface="Calibri"/>
            </a:endParaRPr>
          </a:p>
          <a:p>
            <a:pPr indent="-298450" lvl="1" marL="914400" rtl="0" algn="l">
              <a:spcBef>
                <a:spcPts val="0"/>
              </a:spcBef>
              <a:spcAft>
                <a:spcPts val="0"/>
              </a:spcAft>
              <a:buClr>
                <a:schemeClr val="lt1"/>
              </a:buClr>
              <a:buSzPts val="1100"/>
              <a:buFont typeface="Arial"/>
              <a:buChar char="○"/>
            </a:pPr>
            <a:r>
              <a:rPr b="1" lang="fr">
                <a:latin typeface="Calibri"/>
                <a:ea typeface="Calibri"/>
                <a:cs typeface="Calibri"/>
                <a:sym typeface="Calibri"/>
              </a:rPr>
              <a:t>PRODUIT</a:t>
            </a:r>
            <a:r>
              <a:rPr lang="fr">
                <a:latin typeface="Calibri"/>
                <a:ea typeface="Calibri"/>
                <a:cs typeface="Calibri"/>
                <a:sym typeface="Calibri"/>
              </a:rPr>
              <a:t> (clé primaire : EAN)</a:t>
            </a:r>
            <a:endParaRPr>
              <a:latin typeface="Calibri"/>
              <a:ea typeface="Calibri"/>
              <a:cs typeface="Calibri"/>
              <a:sym typeface="Calibri"/>
            </a:endParaRPr>
          </a:p>
          <a:p>
            <a:pPr indent="-298450" lvl="1" marL="914400" rtl="0" algn="l">
              <a:spcBef>
                <a:spcPts val="0"/>
              </a:spcBef>
              <a:spcAft>
                <a:spcPts val="0"/>
              </a:spcAft>
              <a:buClr>
                <a:schemeClr val="lt1"/>
              </a:buClr>
              <a:buSzPts val="1100"/>
              <a:buFont typeface="Arial"/>
              <a:buChar char="○"/>
            </a:pPr>
            <a:r>
              <a:rPr b="1" lang="fr">
                <a:latin typeface="Calibri"/>
                <a:ea typeface="Calibri"/>
                <a:cs typeface="Calibri"/>
                <a:sym typeface="Calibri"/>
              </a:rPr>
              <a:t>EMPLOYE</a:t>
            </a:r>
            <a:r>
              <a:rPr lang="fr">
                <a:latin typeface="Calibri"/>
                <a:ea typeface="Calibri"/>
                <a:cs typeface="Calibri"/>
                <a:sym typeface="Calibri"/>
              </a:rPr>
              <a:t> (clé primaire : id_employe)</a:t>
            </a:r>
            <a:endParaRPr>
              <a:latin typeface="Calibri"/>
              <a:ea typeface="Calibri"/>
              <a:cs typeface="Calibri"/>
              <a:sym typeface="Calibri"/>
            </a:endParaRPr>
          </a:p>
          <a:p>
            <a:pPr indent="-298450" lvl="1" marL="914400" rtl="0" algn="l">
              <a:spcBef>
                <a:spcPts val="0"/>
              </a:spcBef>
              <a:spcAft>
                <a:spcPts val="0"/>
              </a:spcAft>
              <a:buClr>
                <a:schemeClr val="lt1"/>
              </a:buClr>
              <a:buSzPts val="1100"/>
              <a:buFont typeface="Arial"/>
              <a:buChar char="○"/>
            </a:pPr>
            <a:r>
              <a:rPr b="1" lang="fr">
                <a:latin typeface="Calibri"/>
                <a:ea typeface="Calibri"/>
                <a:cs typeface="Calibri"/>
                <a:sym typeface="Calibri"/>
              </a:rPr>
              <a:t>CALENDRIER</a:t>
            </a:r>
            <a:r>
              <a:rPr lang="fr">
                <a:latin typeface="Calibri"/>
                <a:ea typeface="Calibri"/>
                <a:cs typeface="Calibri"/>
                <a:sym typeface="Calibri"/>
              </a:rPr>
              <a:t> (clé primaire : date)</a:t>
            </a:r>
            <a:endParaRPr>
              <a:latin typeface="Calibri"/>
              <a:ea typeface="Calibri"/>
              <a:cs typeface="Calibri"/>
              <a:sym typeface="Calibri"/>
            </a:endParaRPr>
          </a:p>
          <a:p>
            <a:pPr indent="-298450" lvl="1" marL="914400" rtl="0" algn="l">
              <a:spcBef>
                <a:spcPts val="0"/>
              </a:spcBef>
              <a:spcAft>
                <a:spcPts val="0"/>
              </a:spcAft>
              <a:buClr>
                <a:schemeClr val="lt1"/>
              </a:buClr>
              <a:buSzPts val="1100"/>
              <a:buFont typeface="Arial"/>
              <a:buChar char="○"/>
            </a:pPr>
            <a:r>
              <a:rPr b="1" lang="fr">
                <a:latin typeface="Calibri"/>
                <a:ea typeface="Calibri"/>
                <a:cs typeface="Calibri"/>
                <a:sym typeface="Calibri"/>
              </a:rPr>
              <a:t>VENTE_DETAIL</a:t>
            </a:r>
            <a:r>
              <a:rPr lang="fr">
                <a:latin typeface="Calibri"/>
                <a:ea typeface="Calibri"/>
                <a:cs typeface="Calibri"/>
                <a:sym typeface="Calibri"/>
              </a:rPr>
              <a:t> (clé primaire : ID_BDD, clés étrangères : CUSTOMER_ID, EAN, id_employe, date)</a:t>
            </a:r>
            <a:endParaRPr>
              <a:latin typeface="Calibri"/>
              <a:ea typeface="Calibri"/>
              <a:cs typeface="Calibri"/>
              <a:sym typeface="Calibri"/>
            </a:endParaRPr>
          </a:p>
          <a:p>
            <a:pPr indent="-298450" lvl="0" marL="457200" rtl="0" algn="l">
              <a:spcBef>
                <a:spcPts val="0"/>
              </a:spcBef>
              <a:spcAft>
                <a:spcPts val="0"/>
              </a:spcAft>
              <a:buClr>
                <a:schemeClr val="lt1"/>
              </a:buClr>
              <a:buSzPts val="1100"/>
              <a:buFont typeface="Arial"/>
              <a:buChar char="●"/>
            </a:pPr>
            <a:r>
              <a:rPr lang="fr" sz="1100">
                <a:latin typeface="Calibri"/>
                <a:ea typeface="Calibri"/>
                <a:cs typeface="Calibri"/>
                <a:sym typeface="Calibri"/>
              </a:rPr>
              <a:t>Définition des </a:t>
            </a:r>
            <a:r>
              <a:rPr b="1" lang="fr" sz="1100">
                <a:latin typeface="Calibri"/>
                <a:ea typeface="Calibri"/>
                <a:cs typeface="Calibri"/>
                <a:sym typeface="Calibri"/>
              </a:rPr>
              <a:t>clés primaires et secondaires</a:t>
            </a:r>
            <a:r>
              <a:rPr lang="fr" sz="1100">
                <a:latin typeface="Calibri"/>
                <a:ea typeface="Calibri"/>
                <a:cs typeface="Calibri"/>
                <a:sym typeface="Calibri"/>
              </a:rPr>
              <a:t> pour assurer l’intégrité des données et permettre des jointures fiables.</a:t>
            </a:r>
            <a:endParaRPr sz="1100">
              <a:latin typeface="Calibri"/>
              <a:ea typeface="Calibri"/>
              <a:cs typeface="Calibri"/>
              <a:sym typeface="Calibri"/>
            </a:endParaRPr>
          </a:p>
          <a:p>
            <a:pPr indent="-298450" lvl="0" marL="457200" rtl="0" algn="l">
              <a:spcBef>
                <a:spcPts val="0"/>
              </a:spcBef>
              <a:spcAft>
                <a:spcPts val="0"/>
              </a:spcAft>
              <a:buClr>
                <a:schemeClr val="lt1"/>
              </a:buClr>
              <a:buSzPts val="1100"/>
              <a:buFont typeface="Calibri"/>
              <a:buChar char="●"/>
            </a:pPr>
            <a:r>
              <a:rPr lang="fr" sz="1100">
                <a:latin typeface="Calibri"/>
                <a:ea typeface="Calibri"/>
                <a:cs typeface="Calibri"/>
                <a:sym typeface="Calibri"/>
              </a:rPr>
              <a:t>Requêtes SQL construites sur la base du schéma relationnel pour :</a:t>
            </a:r>
            <a:endParaRPr sz="1100">
              <a:latin typeface="Calibri"/>
              <a:ea typeface="Calibri"/>
              <a:cs typeface="Calibri"/>
              <a:sym typeface="Calibri"/>
            </a:endParaRPr>
          </a:p>
          <a:p>
            <a:pPr indent="-298450" lvl="1" marL="914400" rtl="0" algn="l">
              <a:spcBef>
                <a:spcPts val="0"/>
              </a:spcBef>
              <a:spcAft>
                <a:spcPts val="0"/>
              </a:spcAft>
              <a:buClr>
                <a:schemeClr val="lt1"/>
              </a:buClr>
              <a:buSzPts val="1100"/>
              <a:buFont typeface="Calibri"/>
              <a:buChar char="○"/>
            </a:pPr>
            <a:r>
              <a:rPr lang="fr">
                <a:latin typeface="Calibri"/>
                <a:ea typeface="Calibri"/>
                <a:cs typeface="Calibri"/>
                <a:sym typeface="Calibri"/>
              </a:rPr>
              <a:t>Calculer le chiffre d’affaires total par jour</a:t>
            </a:r>
            <a:endParaRPr>
              <a:latin typeface="Calibri"/>
              <a:ea typeface="Calibri"/>
              <a:cs typeface="Calibri"/>
              <a:sym typeface="Calibri"/>
            </a:endParaRPr>
          </a:p>
          <a:p>
            <a:pPr indent="-298450" lvl="1" marL="914400" rtl="0" algn="l">
              <a:spcBef>
                <a:spcPts val="0"/>
              </a:spcBef>
              <a:spcAft>
                <a:spcPts val="0"/>
              </a:spcAft>
              <a:buClr>
                <a:schemeClr val="lt1"/>
              </a:buClr>
              <a:buSzPts val="1100"/>
              <a:buFont typeface="Calibri"/>
              <a:buChar char="○"/>
            </a:pPr>
            <a:r>
              <a:rPr lang="fr">
                <a:latin typeface="Calibri"/>
                <a:ea typeface="Calibri"/>
                <a:cs typeface="Calibri"/>
                <a:sym typeface="Calibri"/>
              </a:rPr>
              <a:t>Identifier le top 10 clients par CA</a:t>
            </a:r>
            <a:endParaRPr>
              <a:latin typeface="Calibri"/>
              <a:ea typeface="Calibri"/>
              <a:cs typeface="Calibri"/>
              <a:sym typeface="Calibri"/>
            </a:endParaRPr>
          </a:p>
          <a:p>
            <a:pPr indent="-298450" lvl="1" marL="914400" rtl="0" algn="l">
              <a:spcBef>
                <a:spcPts val="0"/>
              </a:spcBef>
              <a:spcAft>
                <a:spcPts val="0"/>
              </a:spcAft>
              <a:buClr>
                <a:schemeClr val="lt1"/>
              </a:buClr>
              <a:buSzPts val="1100"/>
              <a:buFont typeface="Calibri"/>
              <a:buChar char="○"/>
            </a:pPr>
            <a:r>
              <a:rPr lang="fr">
                <a:latin typeface="Calibri"/>
                <a:ea typeface="Calibri"/>
                <a:cs typeface="Calibri"/>
                <a:sym typeface="Calibri"/>
              </a:rPr>
              <a:t>Ventiler le CA par employé</a:t>
            </a:r>
            <a:endParaRPr/>
          </a:p>
        </p:txBody>
      </p:sp>
      <p:sp>
        <p:nvSpPr>
          <p:cNvPr id="241" name="Google Shape;241;p34"/>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Clr>
                <a:srgbClr val="000000"/>
              </a:buClr>
              <a:buSzPts val="2400"/>
              <a:buFont typeface="Arial"/>
              <a:buNone/>
            </a:pPr>
            <a:r>
              <a:rPr lang="fr"/>
              <a:t>Présentation du prototype de BDD</a:t>
            </a:r>
            <a:endParaRPr/>
          </a:p>
          <a:p>
            <a:pPr indent="0" lvl="0" marL="0" rtl="0" algn="l">
              <a:spcBef>
                <a:spcPts val="0"/>
              </a:spcBef>
              <a:spcAft>
                <a:spcPts val="0"/>
              </a:spcAft>
              <a:buClr>
                <a:srgbClr val="000000"/>
              </a:buClr>
              <a:buSzPts val="2400"/>
              <a:buFont typeface="Arial"/>
              <a:buNone/>
            </a:pPr>
            <a:r>
              <a:rPr lang="fr" sz="1887"/>
              <a:t>Explication de la base de données</a:t>
            </a:r>
            <a:endParaRPr/>
          </a:p>
        </p:txBody>
      </p:sp>
      <p:sp>
        <p:nvSpPr>
          <p:cNvPr id="242" name="Google Shape;242;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fr"/>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5"/>
          <p:cNvSpPr txBox="1"/>
          <p:nvPr>
            <p:ph idx="1" type="body"/>
          </p:nvPr>
        </p:nvSpPr>
        <p:spPr>
          <a:xfrm>
            <a:off x="1297500" y="1536091"/>
            <a:ext cx="7038900" cy="2911200"/>
          </a:xfrm>
          <a:prstGeom prst="rect">
            <a:avLst/>
          </a:prstGeom>
          <a:noFill/>
          <a:ln>
            <a:noFill/>
          </a:ln>
        </p:spPr>
        <p:txBody>
          <a:bodyPr anchorCtr="0" anchor="t" bIns="91425" lIns="91425" spcFirstLastPara="1" rIns="91425" wrap="square" tIns="91425">
            <a:noAutofit/>
          </a:bodyPr>
          <a:lstStyle/>
          <a:p>
            <a:pPr indent="0" lvl="0" marL="0" rtl="0" algn="l">
              <a:spcBef>
                <a:spcPts val="1400"/>
              </a:spcBef>
              <a:spcAft>
                <a:spcPts val="0"/>
              </a:spcAft>
              <a:buNone/>
            </a:pPr>
            <a:r>
              <a:rPr b="1" lang="fr">
                <a:solidFill>
                  <a:schemeClr val="dk1"/>
                </a:solidFill>
                <a:highlight>
                  <a:schemeClr val="lt1"/>
                </a:highlight>
                <a:latin typeface="Calibri"/>
                <a:ea typeface="Calibri"/>
                <a:cs typeface="Calibri"/>
                <a:sym typeface="Calibri"/>
              </a:rPr>
              <a:t> Pourquoi BigQuery ?</a:t>
            </a:r>
            <a:endParaRPr b="1">
              <a:solidFill>
                <a:schemeClr val="dk1"/>
              </a:solidFill>
              <a:highlight>
                <a:schemeClr val="lt1"/>
              </a:highlight>
              <a:latin typeface="Calibri"/>
              <a:ea typeface="Calibri"/>
              <a:cs typeface="Calibri"/>
              <a:sym typeface="Calibri"/>
            </a:endParaRPr>
          </a:p>
          <a:p>
            <a:pPr indent="-298450" lvl="0" marL="457200" rtl="0" algn="l">
              <a:spcBef>
                <a:spcPts val="1200"/>
              </a:spcBef>
              <a:spcAft>
                <a:spcPts val="0"/>
              </a:spcAft>
              <a:buClr>
                <a:schemeClr val="lt1"/>
              </a:buClr>
              <a:buSzPts val="1100"/>
              <a:buFont typeface="Arial"/>
              <a:buChar char="●"/>
            </a:pPr>
            <a:r>
              <a:rPr b="1" lang="fr" sz="1100">
                <a:latin typeface="Calibri"/>
                <a:ea typeface="Calibri"/>
                <a:cs typeface="Calibri"/>
                <a:sym typeface="Calibri"/>
              </a:rPr>
              <a:t>Scalabilité</a:t>
            </a:r>
            <a:r>
              <a:rPr lang="fr" sz="1100">
                <a:latin typeface="Calibri"/>
                <a:ea typeface="Calibri"/>
                <a:cs typeface="Calibri"/>
                <a:sym typeface="Calibri"/>
              </a:rPr>
              <a:t> : BigQuery est conçu pour traiter de très grands volumes de données sans contrainte de stockage ou de performance.</a:t>
            </a:r>
            <a:endParaRPr sz="1100">
              <a:latin typeface="Calibri"/>
              <a:ea typeface="Calibri"/>
              <a:cs typeface="Calibri"/>
              <a:sym typeface="Calibri"/>
            </a:endParaRPr>
          </a:p>
          <a:p>
            <a:pPr indent="-298450" lvl="0" marL="457200" rtl="0" algn="l">
              <a:spcBef>
                <a:spcPts val="0"/>
              </a:spcBef>
              <a:spcAft>
                <a:spcPts val="0"/>
              </a:spcAft>
              <a:buClr>
                <a:schemeClr val="lt1"/>
              </a:buClr>
              <a:buSzPts val="1100"/>
              <a:buFont typeface="Arial"/>
              <a:buChar char="●"/>
            </a:pPr>
            <a:r>
              <a:rPr b="1" lang="fr" sz="1100">
                <a:latin typeface="Calibri"/>
                <a:ea typeface="Calibri"/>
                <a:cs typeface="Calibri"/>
                <a:sym typeface="Calibri"/>
              </a:rPr>
              <a:t>Flexibilité</a:t>
            </a:r>
            <a:r>
              <a:rPr lang="fr" sz="1100">
                <a:latin typeface="Calibri"/>
                <a:ea typeface="Calibri"/>
                <a:cs typeface="Calibri"/>
                <a:sym typeface="Calibri"/>
              </a:rPr>
              <a:t> : permet de créer rapidement des tables, des clés et de tester des requêtes complexes sans gestion lourde d’infrastructure.</a:t>
            </a:r>
            <a:endParaRPr sz="1100">
              <a:latin typeface="Calibri"/>
              <a:ea typeface="Calibri"/>
              <a:cs typeface="Calibri"/>
              <a:sym typeface="Calibri"/>
            </a:endParaRPr>
          </a:p>
          <a:p>
            <a:pPr indent="-298450" lvl="0" marL="457200" rtl="0" algn="l">
              <a:spcBef>
                <a:spcPts val="0"/>
              </a:spcBef>
              <a:spcAft>
                <a:spcPts val="0"/>
              </a:spcAft>
              <a:buClr>
                <a:schemeClr val="lt1"/>
              </a:buClr>
              <a:buSzPts val="1100"/>
              <a:buFont typeface="Arial"/>
              <a:buChar char="●"/>
            </a:pPr>
            <a:r>
              <a:rPr b="1" lang="fr" sz="1100">
                <a:latin typeface="Calibri"/>
                <a:ea typeface="Calibri"/>
                <a:cs typeface="Calibri"/>
                <a:sym typeface="Calibri"/>
              </a:rPr>
              <a:t>Rapidité</a:t>
            </a:r>
            <a:r>
              <a:rPr lang="fr" sz="1100">
                <a:latin typeface="Calibri"/>
                <a:ea typeface="Calibri"/>
                <a:cs typeface="Calibri"/>
                <a:sym typeface="Calibri"/>
              </a:rPr>
              <a:t> : moteur d’exécution optimisé pour les requêtes analytiques, idéal pour un POC (Proof of Concept).</a:t>
            </a:r>
            <a:endParaRPr sz="1100">
              <a:latin typeface="Calibri"/>
              <a:ea typeface="Calibri"/>
              <a:cs typeface="Calibri"/>
              <a:sym typeface="Calibri"/>
            </a:endParaRPr>
          </a:p>
          <a:p>
            <a:pPr indent="-298450" lvl="0" marL="457200" rtl="0" algn="l">
              <a:spcBef>
                <a:spcPts val="0"/>
              </a:spcBef>
              <a:spcAft>
                <a:spcPts val="0"/>
              </a:spcAft>
              <a:buClr>
                <a:schemeClr val="lt1"/>
              </a:buClr>
              <a:buSzPts val="1100"/>
              <a:buFont typeface="Arial"/>
              <a:buChar char="●"/>
            </a:pPr>
            <a:r>
              <a:rPr b="1" lang="fr" sz="1100">
                <a:latin typeface="Calibri"/>
                <a:ea typeface="Calibri"/>
                <a:cs typeface="Calibri"/>
                <a:sym typeface="Calibri"/>
              </a:rPr>
              <a:t>Compatibilité</a:t>
            </a:r>
            <a:r>
              <a:rPr lang="fr" sz="1100">
                <a:latin typeface="Calibri"/>
                <a:ea typeface="Calibri"/>
                <a:cs typeface="Calibri"/>
                <a:sym typeface="Calibri"/>
              </a:rPr>
              <a:t>: facile à connecter avec des outils de visualisation (comme PowerBI ou Looker Studio).</a:t>
            </a:r>
            <a:endParaRPr sz="1100">
              <a:latin typeface="Calibri"/>
              <a:ea typeface="Calibri"/>
              <a:cs typeface="Calibri"/>
              <a:sym typeface="Calibri"/>
            </a:endParaRPr>
          </a:p>
          <a:p>
            <a:pPr indent="0" lvl="0" marL="0" rtl="0" algn="l">
              <a:spcBef>
                <a:spcPts val="1400"/>
              </a:spcBef>
              <a:spcAft>
                <a:spcPts val="0"/>
              </a:spcAft>
              <a:buNone/>
            </a:pPr>
            <a:r>
              <a:rPr b="1" lang="fr">
                <a:solidFill>
                  <a:schemeClr val="dk1"/>
                </a:solidFill>
                <a:highlight>
                  <a:schemeClr val="lt1"/>
                </a:highlight>
                <a:latin typeface="Calibri"/>
                <a:ea typeface="Calibri"/>
                <a:cs typeface="Calibri"/>
                <a:sym typeface="Calibri"/>
              </a:rPr>
              <a:t>Comparaison avec SQL Server</a:t>
            </a:r>
            <a:endParaRPr b="1">
              <a:solidFill>
                <a:schemeClr val="dk1"/>
              </a:solidFill>
              <a:highlight>
                <a:schemeClr val="lt1"/>
              </a:highlight>
              <a:latin typeface="Calibri"/>
              <a:ea typeface="Calibri"/>
              <a:cs typeface="Calibri"/>
              <a:sym typeface="Calibri"/>
            </a:endParaRPr>
          </a:p>
          <a:p>
            <a:pPr indent="-298450" lvl="0" marL="457200" rtl="0" algn="l">
              <a:spcBef>
                <a:spcPts val="1200"/>
              </a:spcBef>
              <a:spcAft>
                <a:spcPts val="0"/>
              </a:spcAft>
              <a:buClr>
                <a:schemeClr val="lt1"/>
              </a:buClr>
              <a:buSzPts val="1100"/>
              <a:buFont typeface="Calibri"/>
              <a:buChar char="●"/>
            </a:pPr>
            <a:r>
              <a:rPr lang="fr" sz="1100">
                <a:latin typeface="Calibri"/>
                <a:ea typeface="Calibri"/>
                <a:cs typeface="Calibri"/>
                <a:sym typeface="Calibri"/>
              </a:rPr>
              <a:t>SQL Server est robuste pour les environnements transactionnels (OLTP), mais nécessite une gestion serveur et des ressources locales.</a:t>
            </a:r>
            <a:endParaRPr sz="1100">
              <a:latin typeface="Calibri"/>
              <a:ea typeface="Calibri"/>
              <a:cs typeface="Calibri"/>
              <a:sym typeface="Calibri"/>
            </a:endParaRPr>
          </a:p>
          <a:p>
            <a:pPr indent="-298450" lvl="0" marL="457200" rtl="0" algn="l">
              <a:spcBef>
                <a:spcPts val="0"/>
              </a:spcBef>
              <a:spcAft>
                <a:spcPts val="0"/>
              </a:spcAft>
              <a:buClr>
                <a:schemeClr val="lt1"/>
              </a:buClr>
              <a:buSzPts val="1100"/>
              <a:buFont typeface="Arial"/>
              <a:buChar char="●"/>
            </a:pPr>
            <a:r>
              <a:rPr lang="fr" sz="1100">
                <a:latin typeface="Calibri"/>
                <a:ea typeface="Calibri"/>
                <a:cs typeface="Calibri"/>
                <a:sym typeface="Calibri"/>
              </a:rPr>
              <a:t>BigQuery est </a:t>
            </a:r>
            <a:r>
              <a:rPr b="1" lang="fr" sz="1100">
                <a:latin typeface="Calibri"/>
                <a:ea typeface="Calibri"/>
                <a:cs typeface="Calibri"/>
                <a:sym typeface="Calibri"/>
              </a:rPr>
              <a:t>serverless</a:t>
            </a:r>
            <a:r>
              <a:rPr lang="fr" sz="1100">
                <a:latin typeface="Calibri"/>
                <a:ea typeface="Calibri"/>
                <a:cs typeface="Calibri"/>
                <a:sym typeface="Calibri"/>
              </a:rPr>
              <a:t> : pas besoin de gérer l’infrastructure, tout est pris en charge par Google Cloud.</a:t>
            </a:r>
            <a:endParaRPr sz="1100">
              <a:latin typeface="Calibri"/>
              <a:ea typeface="Calibri"/>
              <a:cs typeface="Calibri"/>
              <a:sym typeface="Calibri"/>
            </a:endParaRPr>
          </a:p>
          <a:p>
            <a:pPr indent="-298450" lvl="0" marL="457200" rtl="0" algn="l">
              <a:spcBef>
                <a:spcPts val="0"/>
              </a:spcBef>
              <a:spcAft>
                <a:spcPts val="0"/>
              </a:spcAft>
              <a:buClr>
                <a:schemeClr val="lt1"/>
              </a:buClr>
              <a:buSzPts val="1100"/>
              <a:buFont typeface="Arial"/>
              <a:buChar char="●"/>
            </a:pPr>
            <a:r>
              <a:rPr lang="fr" sz="1100">
                <a:latin typeface="Calibri"/>
                <a:ea typeface="Calibri"/>
                <a:cs typeface="Calibri"/>
                <a:sym typeface="Calibri"/>
              </a:rPr>
              <a:t>Pour un </a:t>
            </a:r>
            <a:r>
              <a:rPr b="1" lang="fr" sz="1100">
                <a:latin typeface="Calibri"/>
                <a:ea typeface="Calibri"/>
                <a:cs typeface="Calibri"/>
                <a:sym typeface="Calibri"/>
              </a:rPr>
              <a:t>prototype rapide</a:t>
            </a:r>
            <a:r>
              <a:rPr lang="fr" sz="1100">
                <a:latin typeface="Calibri"/>
                <a:ea typeface="Calibri"/>
                <a:cs typeface="Calibri"/>
                <a:sym typeface="Calibri"/>
              </a:rPr>
              <a:t>, BigQuery est plus adapté car il permet de tester et valider les modèles sans contrainte technique lourde.</a:t>
            </a:r>
            <a:endParaRPr b="1" sz="1100">
              <a:latin typeface="Calibri"/>
              <a:ea typeface="Calibri"/>
              <a:cs typeface="Calibri"/>
              <a:sym typeface="Calibri"/>
            </a:endParaRPr>
          </a:p>
        </p:txBody>
      </p:sp>
      <p:sp>
        <p:nvSpPr>
          <p:cNvPr id="248" name="Google Shape;248;p35"/>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fontScale="90000"/>
          </a:bodyPr>
          <a:lstStyle/>
          <a:p>
            <a:pPr indent="0" lvl="0" marL="0" rtl="0" algn="l">
              <a:spcBef>
                <a:spcPts val="0"/>
              </a:spcBef>
              <a:spcAft>
                <a:spcPts val="0"/>
              </a:spcAft>
              <a:buClr>
                <a:srgbClr val="000000"/>
              </a:buClr>
              <a:buSzPct val="90566"/>
              <a:buFont typeface="Arial"/>
              <a:buNone/>
            </a:pPr>
            <a:r>
              <a:rPr lang="fr" sz="2650"/>
              <a:t>Présentation du prototype de BDD</a:t>
            </a:r>
            <a:endParaRPr sz="2650"/>
          </a:p>
          <a:p>
            <a:pPr indent="0" lvl="0" marL="0" rtl="0" algn="l">
              <a:spcBef>
                <a:spcPts val="0"/>
              </a:spcBef>
              <a:spcAft>
                <a:spcPts val="0"/>
              </a:spcAft>
              <a:buClr>
                <a:srgbClr val="000000"/>
              </a:buClr>
              <a:buSzPct val="113732"/>
              <a:buFont typeface="Arial"/>
              <a:buNone/>
            </a:pPr>
            <a:r>
              <a:rPr lang="fr" sz="2110"/>
              <a:t>Explication de la base de données</a:t>
            </a:r>
            <a:endParaRPr sz="2110"/>
          </a:p>
          <a:p>
            <a:pPr indent="0" lvl="0" marL="0" rtl="0" algn="l">
              <a:lnSpc>
                <a:spcPct val="100000"/>
              </a:lnSpc>
              <a:spcBef>
                <a:spcPts val="0"/>
              </a:spcBef>
              <a:spcAft>
                <a:spcPts val="0"/>
              </a:spcAft>
              <a:buSzPct val="111111"/>
              <a:buNone/>
            </a:pPr>
            <a:r>
              <a:t/>
            </a:r>
            <a:endParaRPr/>
          </a:p>
        </p:txBody>
      </p:sp>
      <p:sp>
        <p:nvSpPr>
          <p:cNvPr id="249" name="Google Shape;249;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fr"/>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6"/>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lang="fr"/>
              <a:t>Présentation du prototype de BDD</a:t>
            </a:r>
            <a:endParaRPr/>
          </a:p>
          <a:p>
            <a:pPr indent="0" lvl="0" marL="0" rtl="0" algn="l">
              <a:lnSpc>
                <a:spcPct val="100000"/>
              </a:lnSpc>
              <a:spcBef>
                <a:spcPts val="0"/>
              </a:spcBef>
              <a:spcAft>
                <a:spcPts val="0"/>
              </a:spcAft>
              <a:buSzPts val="2400"/>
              <a:buNone/>
            </a:pPr>
            <a:r>
              <a:rPr lang="fr" sz="1887"/>
              <a:t>Explication de la base de données</a:t>
            </a:r>
            <a:endParaRPr sz="1887"/>
          </a:p>
        </p:txBody>
      </p:sp>
      <p:sp>
        <p:nvSpPr>
          <p:cNvPr id="255" name="Google Shape;255;p36"/>
          <p:cNvSpPr txBox="1"/>
          <p:nvPr>
            <p:ph idx="1" type="body"/>
          </p:nvPr>
        </p:nvSpPr>
        <p:spPr>
          <a:xfrm>
            <a:off x="1297500" y="1394527"/>
            <a:ext cx="7038900" cy="2911200"/>
          </a:xfrm>
          <a:prstGeom prst="rect">
            <a:avLst/>
          </a:prstGeom>
          <a:noFill/>
          <a:ln>
            <a:noFill/>
          </a:ln>
        </p:spPr>
        <p:txBody>
          <a:bodyPr anchorCtr="0" anchor="t" bIns="91425" lIns="91425" spcFirstLastPara="1" rIns="91425" wrap="square" tIns="91425">
            <a:normAutofit fontScale="25000" lnSpcReduction="20000"/>
          </a:bodyPr>
          <a:lstStyle/>
          <a:p>
            <a:pPr indent="0" lvl="0" marL="0" rtl="0" algn="l">
              <a:spcBef>
                <a:spcPts val="1400"/>
              </a:spcBef>
              <a:spcAft>
                <a:spcPts val="0"/>
              </a:spcAft>
              <a:buNone/>
            </a:pPr>
            <a:r>
              <a:rPr b="1" lang="fr" sz="5200">
                <a:solidFill>
                  <a:schemeClr val="dk1"/>
                </a:solidFill>
                <a:highlight>
                  <a:schemeClr val="lt1"/>
                </a:highlight>
                <a:latin typeface="Calibri"/>
                <a:ea typeface="Calibri"/>
                <a:cs typeface="Calibri"/>
                <a:sym typeface="Calibri"/>
              </a:rPr>
              <a:t>Explication de la base de données</a:t>
            </a:r>
            <a:endParaRPr b="1" sz="5200">
              <a:solidFill>
                <a:schemeClr val="dk1"/>
              </a:solidFill>
              <a:highlight>
                <a:schemeClr val="lt1"/>
              </a:highlight>
              <a:latin typeface="Calibri"/>
              <a:ea typeface="Calibri"/>
              <a:cs typeface="Calibri"/>
              <a:sym typeface="Calibri"/>
            </a:endParaRPr>
          </a:p>
          <a:p>
            <a:pPr indent="0" lvl="0" marL="0" rtl="0" algn="l">
              <a:spcBef>
                <a:spcPts val="400"/>
              </a:spcBef>
              <a:spcAft>
                <a:spcPts val="0"/>
              </a:spcAft>
              <a:buNone/>
            </a:pPr>
            <a:r>
              <a:rPr b="1" lang="fr" sz="4400">
                <a:latin typeface="Calibri"/>
                <a:ea typeface="Calibri"/>
                <a:cs typeface="Calibri"/>
                <a:sym typeface="Calibri"/>
              </a:rPr>
              <a:t>1. Objectifs du prototype</a:t>
            </a:r>
            <a:endParaRPr b="1" sz="4400">
              <a:latin typeface="Calibri"/>
              <a:ea typeface="Calibri"/>
              <a:cs typeface="Calibri"/>
              <a:sym typeface="Calibri"/>
            </a:endParaRPr>
          </a:p>
          <a:p>
            <a:pPr indent="-298450" lvl="0" marL="457200" rtl="0" algn="l">
              <a:spcBef>
                <a:spcPts val="1200"/>
              </a:spcBef>
              <a:spcAft>
                <a:spcPts val="0"/>
              </a:spcAft>
              <a:buClr>
                <a:schemeClr val="lt1"/>
              </a:buClr>
              <a:buSzPct val="100000"/>
              <a:buFont typeface="Calibri"/>
              <a:buChar char="●"/>
            </a:pPr>
            <a:r>
              <a:rPr lang="fr" sz="4400">
                <a:latin typeface="Calibri"/>
                <a:ea typeface="Calibri"/>
                <a:cs typeface="Calibri"/>
                <a:sym typeface="Calibri"/>
              </a:rPr>
              <a:t>Centraliser les données issues des caisses et du site web.</a:t>
            </a:r>
            <a:endParaRPr sz="4400">
              <a:latin typeface="Calibri"/>
              <a:ea typeface="Calibri"/>
              <a:cs typeface="Calibri"/>
              <a:sym typeface="Calibri"/>
            </a:endParaRPr>
          </a:p>
          <a:p>
            <a:pPr indent="-298450" lvl="0" marL="457200" rtl="0" algn="l">
              <a:spcBef>
                <a:spcPts val="0"/>
              </a:spcBef>
              <a:spcAft>
                <a:spcPts val="0"/>
              </a:spcAft>
              <a:buClr>
                <a:schemeClr val="lt1"/>
              </a:buClr>
              <a:buSzPct val="100000"/>
              <a:buFont typeface="Calibri"/>
              <a:buChar char="●"/>
            </a:pPr>
            <a:r>
              <a:rPr lang="fr" sz="4400">
                <a:latin typeface="Calibri"/>
                <a:ea typeface="Calibri"/>
                <a:cs typeface="Calibri"/>
                <a:sym typeface="Calibri"/>
              </a:rPr>
              <a:t>Garantir la traçabilité des transactions (logs normalisés).</a:t>
            </a:r>
            <a:endParaRPr sz="4400">
              <a:latin typeface="Calibri"/>
              <a:ea typeface="Calibri"/>
              <a:cs typeface="Calibri"/>
              <a:sym typeface="Calibri"/>
            </a:endParaRPr>
          </a:p>
          <a:p>
            <a:pPr indent="-298450" lvl="0" marL="457200" rtl="0" algn="l">
              <a:spcBef>
                <a:spcPts val="0"/>
              </a:spcBef>
              <a:spcAft>
                <a:spcPts val="0"/>
              </a:spcAft>
              <a:buClr>
                <a:schemeClr val="lt1"/>
              </a:buClr>
              <a:buSzPct val="100000"/>
              <a:buFont typeface="Calibri"/>
              <a:buChar char="●"/>
            </a:pPr>
            <a:r>
              <a:rPr lang="fr" sz="4400">
                <a:latin typeface="Calibri"/>
                <a:ea typeface="Calibri"/>
                <a:cs typeface="Calibri"/>
                <a:sym typeface="Calibri"/>
              </a:rPr>
              <a:t>Séparer clairement les dates métier (transaction) et techniques (insertion).</a:t>
            </a:r>
            <a:endParaRPr sz="4400">
              <a:latin typeface="Calibri"/>
              <a:ea typeface="Calibri"/>
              <a:cs typeface="Calibri"/>
              <a:sym typeface="Calibri"/>
            </a:endParaRPr>
          </a:p>
          <a:p>
            <a:pPr indent="-298450" lvl="0" marL="457200" rtl="0" algn="l">
              <a:spcBef>
                <a:spcPts val="0"/>
              </a:spcBef>
              <a:spcAft>
                <a:spcPts val="0"/>
              </a:spcAft>
              <a:buClr>
                <a:schemeClr val="lt1"/>
              </a:buClr>
              <a:buSzPct val="100000"/>
              <a:buFont typeface="Calibri"/>
              <a:buChar char="●"/>
            </a:pPr>
            <a:r>
              <a:rPr lang="fr" sz="4400">
                <a:latin typeface="Calibri"/>
                <a:ea typeface="Calibri"/>
                <a:cs typeface="Calibri"/>
                <a:sym typeface="Calibri"/>
              </a:rPr>
              <a:t>Analyser et comprendre les écarts de chiffre d’affaires observés entre jours clôturés et jours suivants.</a:t>
            </a:r>
            <a:endParaRPr sz="4400">
              <a:latin typeface="Calibri"/>
              <a:ea typeface="Calibri"/>
              <a:cs typeface="Calibri"/>
              <a:sym typeface="Calibri"/>
            </a:endParaRPr>
          </a:p>
          <a:p>
            <a:pPr indent="0" lvl="0" marL="0" rtl="0" algn="l">
              <a:spcBef>
                <a:spcPts val="1200"/>
              </a:spcBef>
              <a:spcAft>
                <a:spcPts val="0"/>
              </a:spcAft>
              <a:buNone/>
            </a:pPr>
            <a:r>
              <a:rPr b="1" lang="fr" sz="4400">
                <a:latin typeface="Calibri"/>
                <a:ea typeface="Calibri"/>
                <a:cs typeface="Calibri"/>
                <a:sym typeface="Calibri"/>
              </a:rPr>
              <a:t>2. Structure principale</a:t>
            </a:r>
            <a:endParaRPr b="1" sz="4400">
              <a:latin typeface="Calibri"/>
              <a:ea typeface="Calibri"/>
              <a:cs typeface="Calibri"/>
              <a:sym typeface="Calibri"/>
            </a:endParaRPr>
          </a:p>
          <a:p>
            <a:pPr indent="-298450" lvl="0" marL="457200" rtl="0" algn="l">
              <a:spcBef>
                <a:spcPts val="1200"/>
              </a:spcBef>
              <a:spcAft>
                <a:spcPts val="0"/>
              </a:spcAft>
              <a:buClr>
                <a:schemeClr val="lt1"/>
              </a:buClr>
              <a:buSzPct val="100000"/>
              <a:buFont typeface="Arial"/>
              <a:buChar char="●"/>
            </a:pPr>
            <a:r>
              <a:rPr b="1" lang="fr" sz="4400">
                <a:latin typeface="Calibri"/>
                <a:ea typeface="Calibri"/>
                <a:cs typeface="Calibri"/>
                <a:sym typeface="Calibri"/>
              </a:rPr>
              <a:t>Tables de faits</a:t>
            </a:r>
            <a:r>
              <a:rPr lang="fr" sz="4400">
                <a:latin typeface="Calibri"/>
                <a:ea typeface="Calibri"/>
                <a:cs typeface="Calibri"/>
                <a:sym typeface="Calibri"/>
              </a:rPr>
              <a:t> : ventes.</a:t>
            </a:r>
            <a:endParaRPr sz="4400">
              <a:latin typeface="Calibri"/>
              <a:ea typeface="Calibri"/>
              <a:cs typeface="Calibri"/>
              <a:sym typeface="Calibri"/>
            </a:endParaRPr>
          </a:p>
          <a:p>
            <a:pPr indent="-298450" lvl="0" marL="457200" rtl="0" algn="l">
              <a:spcBef>
                <a:spcPts val="0"/>
              </a:spcBef>
              <a:spcAft>
                <a:spcPts val="0"/>
              </a:spcAft>
              <a:buClr>
                <a:schemeClr val="lt1"/>
              </a:buClr>
              <a:buSzPct val="100000"/>
              <a:buFont typeface="Arial"/>
              <a:buChar char="●"/>
            </a:pPr>
            <a:r>
              <a:rPr b="1" lang="fr" sz="4400">
                <a:latin typeface="Calibri"/>
                <a:ea typeface="Calibri"/>
                <a:cs typeface="Calibri"/>
                <a:sym typeface="Calibri"/>
              </a:rPr>
              <a:t>Tables de dimensions</a:t>
            </a:r>
            <a:r>
              <a:rPr lang="fr" sz="4400">
                <a:latin typeface="Calibri"/>
                <a:ea typeface="Calibri"/>
                <a:cs typeface="Calibri"/>
                <a:sym typeface="Calibri"/>
              </a:rPr>
              <a:t> : produits, clients, employés, magasins.</a:t>
            </a:r>
            <a:endParaRPr sz="4400">
              <a:latin typeface="Calibri"/>
              <a:ea typeface="Calibri"/>
              <a:cs typeface="Calibri"/>
              <a:sym typeface="Calibri"/>
            </a:endParaRPr>
          </a:p>
          <a:p>
            <a:pPr indent="-298450" lvl="0" marL="457200" rtl="0" algn="l">
              <a:spcBef>
                <a:spcPts val="0"/>
              </a:spcBef>
              <a:spcAft>
                <a:spcPts val="0"/>
              </a:spcAft>
              <a:buClr>
                <a:schemeClr val="lt1"/>
              </a:buClr>
              <a:buSzPct val="100000"/>
              <a:buFont typeface="Arial"/>
              <a:buChar char="●"/>
            </a:pPr>
            <a:r>
              <a:rPr b="1" lang="fr" sz="4400">
                <a:latin typeface="Calibri"/>
                <a:ea typeface="Calibri"/>
                <a:cs typeface="Calibri"/>
                <a:sym typeface="Calibri"/>
              </a:rPr>
              <a:t>Tables de logs</a:t>
            </a:r>
            <a:r>
              <a:rPr lang="fr" sz="4400">
                <a:latin typeface="Calibri"/>
                <a:ea typeface="Calibri"/>
                <a:cs typeface="Calibri"/>
                <a:sym typeface="Calibri"/>
              </a:rPr>
              <a:t> : événements techniques (insertions, mises à jour, suppressions).</a:t>
            </a:r>
            <a:endParaRPr sz="4400">
              <a:latin typeface="Calibri"/>
              <a:ea typeface="Calibri"/>
              <a:cs typeface="Calibri"/>
              <a:sym typeface="Calibri"/>
            </a:endParaRPr>
          </a:p>
          <a:p>
            <a:pPr indent="-298450" lvl="0" marL="457200" rtl="0" algn="l">
              <a:spcBef>
                <a:spcPts val="0"/>
              </a:spcBef>
              <a:spcAft>
                <a:spcPts val="0"/>
              </a:spcAft>
              <a:buClr>
                <a:schemeClr val="lt1"/>
              </a:buClr>
              <a:buSzPct val="100000"/>
              <a:buFont typeface="Arial"/>
              <a:buChar char="●"/>
            </a:pPr>
            <a:r>
              <a:rPr b="1" lang="fr" sz="4400">
                <a:latin typeface="Calibri"/>
                <a:ea typeface="Calibri"/>
                <a:cs typeface="Calibri"/>
                <a:sym typeface="Calibri"/>
              </a:rPr>
              <a:t>Colonnes clés ajoutées</a:t>
            </a:r>
            <a:r>
              <a:rPr lang="fr" sz="4400">
                <a:latin typeface="Calibri"/>
                <a:ea typeface="Calibri"/>
                <a:cs typeface="Calibri"/>
                <a:sym typeface="Calibri"/>
              </a:rPr>
              <a:t> : date_transaction et date_insertion pour fiabiliser les analyses temporelles.</a:t>
            </a:r>
            <a:endParaRPr sz="4400">
              <a:latin typeface="Calibri"/>
              <a:ea typeface="Calibri"/>
              <a:cs typeface="Calibri"/>
              <a:sym typeface="Calibri"/>
            </a:endParaRPr>
          </a:p>
          <a:p>
            <a:pPr indent="0" lvl="0" marL="0" rtl="0" algn="l">
              <a:spcBef>
                <a:spcPts val="1200"/>
              </a:spcBef>
              <a:spcAft>
                <a:spcPts val="0"/>
              </a:spcAft>
              <a:buNone/>
            </a:pPr>
            <a:r>
              <a:rPr b="1" lang="fr" sz="4400">
                <a:latin typeface="Calibri"/>
                <a:ea typeface="Calibri"/>
                <a:cs typeface="Calibri"/>
                <a:sym typeface="Calibri"/>
              </a:rPr>
              <a:t>3. Points forts du prototype</a:t>
            </a:r>
            <a:endParaRPr b="1" sz="4400">
              <a:latin typeface="Calibri"/>
              <a:ea typeface="Calibri"/>
              <a:cs typeface="Calibri"/>
              <a:sym typeface="Calibri"/>
            </a:endParaRPr>
          </a:p>
          <a:p>
            <a:pPr indent="-298450" lvl="0" marL="457200" rtl="0" algn="l">
              <a:spcBef>
                <a:spcPts val="1200"/>
              </a:spcBef>
              <a:spcAft>
                <a:spcPts val="0"/>
              </a:spcAft>
              <a:buClr>
                <a:schemeClr val="lt1"/>
              </a:buClr>
              <a:buSzPct val="100000"/>
              <a:buFont typeface="Calibri"/>
              <a:buChar char="●"/>
            </a:pPr>
            <a:r>
              <a:rPr lang="fr" sz="4400">
                <a:latin typeface="Calibri"/>
                <a:ea typeface="Calibri"/>
                <a:cs typeface="Calibri"/>
                <a:sym typeface="Calibri"/>
              </a:rPr>
              <a:t>Respect des bonnes pratiques de modélisation relationnelle.</a:t>
            </a:r>
            <a:endParaRPr sz="4400">
              <a:latin typeface="Calibri"/>
              <a:ea typeface="Calibri"/>
              <a:cs typeface="Calibri"/>
              <a:sym typeface="Calibri"/>
            </a:endParaRPr>
          </a:p>
          <a:p>
            <a:pPr indent="-298450" lvl="0" marL="457200" rtl="0" algn="l">
              <a:spcBef>
                <a:spcPts val="0"/>
              </a:spcBef>
              <a:spcAft>
                <a:spcPts val="0"/>
              </a:spcAft>
              <a:buClr>
                <a:schemeClr val="lt1"/>
              </a:buClr>
              <a:buSzPct val="100000"/>
              <a:buFont typeface="Arial"/>
              <a:buChar char="●"/>
            </a:pPr>
            <a:r>
              <a:rPr lang="fr" sz="4400">
                <a:latin typeface="Calibri"/>
                <a:ea typeface="Calibri"/>
                <a:cs typeface="Calibri"/>
                <a:sym typeface="Calibri"/>
              </a:rPr>
              <a:t>Alignement avec les principes </a:t>
            </a:r>
            <a:r>
              <a:rPr b="1" lang="fr" sz="4400">
                <a:latin typeface="Calibri"/>
                <a:ea typeface="Calibri"/>
                <a:cs typeface="Calibri"/>
                <a:sym typeface="Calibri"/>
              </a:rPr>
              <a:t>ACID</a:t>
            </a:r>
            <a:r>
              <a:rPr lang="fr" sz="4400">
                <a:latin typeface="Calibri"/>
                <a:ea typeface="Calibri"/>
                <a:cs typeface="Calibri"/>
                <a:sym typeface="Calibri"/>
              </a:rPr>
              <a:t> pour fiabilité des transactions.</a:t>
            </a:r>
            <a:endParaRPr sz="4400">
              <a:latin typeface="Calibri"/>
              <a:ea typeface="Calibri"/>
              <a:cs typeface="Calibri"/>
              <a:sym typeface="Calibri"/>
            </a:endParaRPr>
          </a:p>
          <a:p>
            <a:pPr indent="-298450" lvl="0" marL="457200" rtl="0" algn="l">
              <a:spcBef>
                <a:spcPts val="0"/>
              </a:spcBef>
              <a:spcAft>
                <a:spcPts val="0"/>
              </a:spcAft>
              <a:buClr>
                <a:schemeClr val="lt1"/>
              </a:buClr>
              <a:buSzPct val="100000"/>
              <a:buFont typeface="Calibri"/>
              <a:buChar char="●"/>
            </a:pPr>
            <a:r>
              <a:rPr lang="fr" sz="4400">
                <a:latin typeface="Calibri"/>
                <a:ea typeface="Calibri"/>
                <a:cs typeface="Calibri"/>
                <a:sym typeface="Calibri"/>
              </a:rPr>
              <a:t>Contrôles d’intégrité (foreign keys, typage).</a:t>
            </a:r>
            <a:endParaRPr sz="4400">
              <a:latin typeface="Calibri"/>
              <a:ea typeface="Calibri"/>
              <a:cs typeface="Calibri"/>
              <a:sym typeface="Calibri"/>
            </a:endParaRPr>
          </a:p>
          <a:p>
            <a:pPr indent="-298450" lvl="0" marL="457200" rtl="0" algn="l">
              <a:spcBef>
                <a:spcPts val="0"/>
              </a:spcBef>
              <a:spcAft>
                <a:spcPts val="0"/>
              </a:spcAft>
              <a:buClr>
                <a:schemeClr val="lt1"/>
              </a:buClr>
              <a:buSzPct val="100000"/>
              <a:buFont typeface="Calibri"/>
              <a:buChar char="●"/>
            </a:pPr>
            <a:r>
              <a:rPr lang="fr" sz="4400">
                <a:latin typeface="Calibri"/>
                <a:ea typeface="Calibri"/>
                <a:cs typeface="Calibri"/>
                <a:sym typeface="Calibri"/>
              </a:rPr>
              <a:t>Base prête à évoluer vers une architecture plus robuste.</a:t>
            </a:r>
            <a:endParaRPr sz="4400">
              <a:latin typeface="Calibri"/>
              <a:ea typeface="Calibri"/>
              <a:cs typeface="Calibri"/>
              <a:sym typeface="Calibri"/>
            </a:endParaRPr>
          </a:p>
          <a:p>
            <a:pPr indent="0" lvl="0" marL="457200" marR="152400" rtl="0" algn="l">
              <a:lnSpc>
                <a:spcPct val="115000"/>
              </a:lnSpc>
              <a:spcBef>
                <a:spcPts val="1200"/>
              </a:spcBef>
              <a:spcAft>
                <a:spcPts val="0"/>
              </a:spcAft>
              <a:buNone/>
            </a:pPr>
            <a:r>
              <a:t/>
            </a:r>
            <a:endParaRPr/>
          </a:p>
        </p:txBody>
      </p:sp>
      <p:sp>
        <p:nvSpPr>
          <p:cNvPr id="256" name="Google Shape;256;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fr"/>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7"/>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lang="fr"/>
              <a:t>Résultat des requêtes SQL</a:t>
            </a:r>
            <a:endParaRPr/>
          </a:p>
          <a:p>
            <a:pPr indent="0" lvl="0" marL="0" rtl="0" algn="l">
              <a:lnSpc>
                <a:spcPct val="100000"/>
              </a:lnSpc>
              <a:spcBef>
                <a:spcPts val="0"/>
              </a:spcBef>
              <a:spcAft>
                <a:spcPts val="0"/>
              </a:spcAft>
              <a:buSzPts val="2400"/>
              <a:buNone/>
            </a:pPr>
            <a:r>
              <a:rPr lang="fr" sz="1887"/>
              <a:t>Le chiffre d’affaires total pour le 14 Août</a:t>
            </a:r>
            <a:endParaRPr sz="1887"/>
          </a:p>
        </p:txBody>
      </p:sp>
      <p:pic>
        <p:nvPicPr>
          <p:cNvPr id="262" name="Google Shape;262;p37"/>
          <p:cNvPicPr preferRelativeResize="0"/>
          <p:nvPr/>
        </p:nvPicPr>
        <p:blipFill>
          <a:blip r:embed="rId3">
            <a:alphaModFix/>
          </a:blip>
          <a:stretch>
            <a:fillRect/>
          </a:stretch>
        </p:blipFill>
        <p:spPr>
          <a:xfrm>
            <a:off x="2862575" y="1431375"/>
            <a:ext cx="3069626" cy="3008550"/>
          </a:xfrm>
          <a:prstGeom prst="rect">
            <a:avLst/>
          </a:prstGeom>
          <a:noFill/>
          <a:ln>
            <a:noFill/>
          </a:ln>
        </p:spPr>
      </p:pic>
      <p:sp>
        <p:nvSpPr>
          <p:cNvPr id="263" name="Google Shape;263;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fr"/>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8"/>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lang="fr"/>
              <a:t>Résultat des requêtes SQL</a:t>
            </a:r>
            <a:endParaRPr/>
          </a:p>
          <a:p>
            <a:pPr indent="0" lvl="0" marL="0" rtl="0" algn="l">
              <a:lnSpc>
                <a:spcPct val="100000"/>
              </a:lnSpc>
              <a:spcBef>
                <a:spcPts val="0"/>
              </a:spcBef>
              <a:spcAft>
                <a:spcPts val="0"/>
              </a:spcAft>
              <a:buSzPts val="2400"/>
              <a:buNone/>
            </a:pPr>
            <a:r>
              <a:rPr lang="fr" sz="1887"/>
              <a:t>Le chiffre d’affaires par client pour le top 10 des clients</a:t>
            </a:r>
            <a:endParaRPr sz="1887"/>
          </a:p>
        </p:txBody>
      </p:sp>
      <p:pic>
        <p:nvPicPr>
          <p:cNvPr id="269" name="Google Shape;269;p38"/>
          <p:cNvPicPr preferRelativeResize="0"/>
          <p:nvPr/>
        </p:nvPicPr>
        <p:blipFill>
          <a:blip r:embed="rId3">
            <a:alphaModFix/>
          </a:blip>
          <a:stretch>
            <a:fillRect/>
          </a:stretch>
        </p:blipFill>
        <p:spPr>
          <a:xfrm>
            <a:off x="3007350" y="1447175"/>
            <a:ext cx="2788925" cy="3403600"/>
          </a:xfrm>
          <a:prstGeom prst="rect">
            <a:avLst/>
          </a:prstGeom>
          <a:noFill/>
          <a:ln>
            <a:noFill/>
          </a:ln>
        </p:spPr>
      </p:pic>
      <p:sp>
        <p:nvSpPr>
          <p:cNvPr id="270" name="Google Shape;270;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fr"/>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39"/>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fr"/>
              <a:t>Résultat des requêtes SQL</a:t>
            </a:r>
            <a:endParaRPr/>
          </a:p>
          <a:p>
            <a:pPr indent="0" lvl="0" marL="0" rtl="0" algn="l">
              <a:lnSpc>
                <a:spcPct val="100000"/>
              </a:lnSpc>
              <a:spcBef>
                <a:spcPts val="0"/>
              </a:spcBef>
              <a:spcAft>
                <a:spcPts val="0"/>
              </a:spcAft>
              <a:buSzPts val="990"/>
              <a:buNone/>
            </a:pPr>
            <a:r>
              <a:rPr lang="fr" sz="1850"/>
              <a:t>Le chiffre d’affaires encaissé par employé</a:t>
            </a:r>
            <a:endParaRPr sz="1850"/>
          </a:p>
          <a:p>
            <a:pPr indent="0" lvl="0" marL="0" rtl="0" algn="l">
              <a:lnSpc>
                <a:spcPct val="100000"/>
              </a:lnSpc>
              <a:spcBef>
                <a:spcPts val="0"/>
              </a:spcBef>
              <a:spcAft>
                <a:spcPts val="0"/>
              </a:spcAft>
              <a:buSzPts val="990"/>
              <a:buNone/>
            </a:pPr>
            <a:r>
              <a:t/>
            </a:r>
            <a:endParaRPr/>
          </a:p>
        </p:txBody>
      </p:sp>
      <p:pic>
        <p:nvPicPr>
          <p:cNvPr id="276" name="Google Shape;276;p39"/>
          <p:cNvPicPr preferRelativeResize="0"/>
          <p:nvPr/>
        </p:nvPicPr>
        <p:blipFill>
          <a:blip r:embed="rId3">
            <a:alphaModFix/>
          </a:blip>
          <a:stretch>
            <a:fillRect/>
          </a:stretch>
        </p:blipFill>
        <p:spPr>
          <a:xfrm>
            <a:off x="1470527" y="1303601"/>
            <a:ext cx="3197774" cy="3533474"/>
          </a:xfrm>
          <a:prstGeom prst="rect">
            <a:avLst/>
          </a:prstGeom>
          <a:noFill/>
          <a:ln>
            <a:noFill/>
          </a:ln>
        </p:spPr>
      </p:pic>
      <p:pic>
        <p:nvPicPr>
          <p:cNvPr id="277" name="Google Shape;277;p39"/>
          <p:cNvPicPr preferRelativeResize="0"/>
          <p:nvPr/>
        </p:nvPicPr>
        <p:blipFill>
          <a:blip r:embed="rId4">
            <a:alphaModFix/>
          </a:blip>
          <a:stretch>
            <a:fillRect/>
          </a:stretch>
        </p:blipFill>
        <p:spPr>
          <a:xfrm>
            <a:off x="5671290" y="1303612"/>
            <a:ext cx="2205585" cy="3533475"/>
          </a:xfrm>
          <a:prstGeom prst="rect">
            <a:avLst/>
          </a:prstGeom>
          <a:noFill/>
          <a:ln>
            <a:noFill/>
          </a:ln>
        </p:spPr>
      </p:pic>
      <p:sp>
        <p:nvSpPr>
          <p:cNvPr id="278" name="Google Shape;278;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fr"/>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0"/>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667"/>
              <a:buNone/>
            </a:pPr>
            <a:r>
              <a:rPr lang="fr"/>
              <a:t>Compréhension des problèmes sur la base des logs</a:t>
            </a:r>
            <a:endParaRPr/>
          </a:p>
        </p:txBody>
      </p:sp>
      <p:sp>
        <p:nvSpPr>
          <p:cNvPr id="284" name="Google Shape;284;p40"/>
          <p:cNvSpPr txBox="1"/>
          <p:nvPr>
            <p:ph idx="1" type="body"/>
          </p:nvPr>
        </p:nvSpPr>
        <p:spPr>
          <a:xfrm>
            <a:off x="1297500" y="1567550"/>
            <a:ext cx="7038900" cy="2911200"/>
          </a:xfrm>
          <a:prstGeom prst="rect">
            <a:avLst/>
          </a:prstGeom>
          <a:noFill/>
          <a:ln>
            <a:noFill/>
          </a:ln>
        </p:spPr>
        <p:txBody>
          <a:bodyPr anchorCtr="0" anchor="t" bIns="91425" lIns="91425" spcFirstLastPara="1" rIns="91425" wrap="square" tIns="91425">
            <a:normAutofit lnSpcReduction="20000"/>
          </a:bodyPr>
          <a:lstStyle/>
          <a:p>
            <a:pPr indent="0" lvl="0" marL="0" rtl="0" algn="l">
              <a:spcBef>
                <a:spcPts val="1200"/>
              </a:spcBef>
              <a:spcAft>
                <a:spcPts val="0"/>
              </a:spcAft>
              <a:buNone/>
            </a:pPr>
            <a:r>
              <a:rPr b="1" lang="fr">
                <a:solidFill>
                  <a:schemeClr val="dk1"/>
                </a:solidFill>
                <a:highlight>
                  <a:schemeClr val="lt1"/>
                </a:highlight>
                <a:latin typeface="Calibri"/>
                <a:ea typeface="Calibri"/>
                <a:cs typeface="Calibri"/>
                <a:sym typeface="Calibri"/>
              </a:rPr>
              <a:t>Ce que les logs nous ont montré</a:t>
            </a:r>
            <a:endParaRPr b="1">
              <a:solidFill>
                <a:schemeClr val="dk1"/>
              </a:solidFill>
              <a:highlight>
                <a:schemeClr val="lt1"/>
              </a:highlight>
              <a:latin typeface="Calibri"/>
              <a:ea typeface="Calibri"/>
              <a:cs typeface="Calibri"/>
              <a:sym typeface="Calibri"/>
            </a:endParaRPr>
          </a:p>
          <a:p>
            <a:pPr indent="-298450" lvl="0" marL="457200" rtl="0" algn="l">
              <a:spcBef>
                <a:spcPts val="1200"/>
              </a:spcBef>
              <a:spcAft>
                <a:spcPts val="0"/>
              </a:spcAft>
              <a:buClr>
                <a:schemeClr val="lt1"/>
              </a:buClr>
              <a:buSzPts val="1100"/>
              <a:buFont typeface="Arial"/>
              <a:buChar char="●"/>
            </a:pPr>
            <a:r>
              <a:rPr lang="fr" sz="1100">
                <a:latin typeface="Calibri"/>
                <a:ea typeface="Calibri"/>
                <a:cs typeface="Calibri"/>
                <a:sym typeface="Calibri"/>
              </a:rPr>
              <a:t>Les écarts de chiffre d’affaires entre jours clôturés et jours suivants.</a:t>
            </a:r>
            <a:endParaRPr sz="1100">
              <a:latin typeface="Calibri"/>
              <a:ea typeface="Calibri"/>
              <a:cs typeface="Calibri"/>
              <a:sym typeface="Calibri"/>
            </a:endParaRPr>
          </a:p>
          <a:p>
            <a:pPr indent="-298450" lvl="0" marL="457200" rtl="0" algn="l">
              <a:spcBef>
                <a:spcPts val="0"/>
              </a:spcBef>
              <a:spcAft>
                <a:spcPts val="0"/>
              </a:spcAft>
              <a:buClr>
                <a:schemeClr val="lt1"/>
              </a:buClr>
              <a:buSzPts val="1100"/>
              <a:buFont typeface="Arial"/>
              <a:buChar char="●"/>
            </a:pPr>
            <a:r>
              <a:rPr lang="fr" sz="1100">
                <a:latin typeface="Calibri"/>
                <a:ea typeface="Calibri"/>
                <a:cs typeface="Calibri"/>
                <a:sym typeface="Calibri"/>
              </a:rPr>
              <a:t>La présence de transactions insérées en décalé (ventes réalisées un jour mais intégrées le lendemain).</a:t>
            </a:r>
            <a:endParaRPr sz="1100">
              <a:latin typeface="Calibri"/>
              <a:ea typeface="Calibri"/>
              <a:cs typeface="Calibri"/>
              <a:sym typeface="Calibri"/>
            </a:endParaRPr>
          </a:p>
          <a:p>
            <a:pPr indent="-298450" lvl="0" marL="457200" rtl="0" algn="l">
              <a:spcBef>
                <a:spcPts val="0"/>
              </a:spcBef>
              <a:spcAft>
                <a:spcPts val="0"/>
              </a:spcAft>
              <a:buClr>
                <a:schemeClr val="lt1"/>
              </a:buClr>
              <a:buSzPts val="1100"/>
              <a:buFont typeface="Arial"/>
              <a:buChar char="●"/>
            </a:pPr>
            <a:r>
              <a:rPr lang="fr" sz="1100">
                <a:latin typeface="Calibri"/>
                <a:ea typeface="Calibri"/>
                <a:cs typeface="Calibri"/>
                <a:sym typeface="Calibri"/>
              </a:rPr>
              <a:t>Des modifications postérieures sur des journées déjà considérées comme closes.</a:t>
            </a:r>
            <a:endParaRPr sz="1100">
              <a:latin typeface="Calibri"/>
              <a:ea typeface="Calibri"/>
              <a:cs typeface="Calibri"/>
              <a:sym typeface="Calibri"/>
            </a:endParaRPr>
          </a:p>
          <a:p>
            <a:pPr indent="-298450" lvl="0" marL="457200" rtl="0" algn="l">
              <a:spcBef>
                <a:spcPts val="0"/>
              </a:spcBef>
              <a:spcAft>
                <a:spcPts val="0"/>
              </a:spcAft>
              <a:buClr>
                <a:schemeClr val="lt1"/>
              </a:buClr>
              <a:buSzPts val="1100"/>
              <a:buFont typeface="Arial"/>
              <a:buChar char="●"/>
            </a:pPr>
            <a:r>
              <a:rPr lang="fr" sz="1100">
                <a:latin typeface="Calibri"/>
                <a:ea typeface="Calibri"/>
                <a:cs typeface="Calibri"/>
                <a:sym typeface="Calibri"/>
              </a:rPr>
              <a:t>L’absence d’une colonne au format DATE dans la table calendrier limite la fiabilité des analyses temporelles. </a:t>
            </a:r>
            <a:endParaRPr sz="1100">
              <a:latin typeface="Calibri"/>
              <a:ea typeface="Calibri"/>
              <a:cs typeface="Calibri"/>
              <a:sym typeface="Calibri"/>
            </a:endParaRPr>
          </a:p>
          <a:p>
            <a:pPr indent="0" lvl="0" marL="0" rtl="0" algn="l">
              <a:spcBef>
                <a:spcPts val="1200"/>
              </a:spcBef>
              <a:spcAft>
                <a:spcPts val="0"/>
              </a:spcAft>
              <a:buNone/>
            </a:pPr>
            <a:r>
              <a:rPr b="1" lang="fr">
                <a:solidFill>
                  <a:schemeClr val="dk1"/>
                </a:solidFill>
                <a:highlight>
                  <a:schemeClr val="lt1"/>
                </a:highlight>
                <a:latin typeface="Calibri"/>
                <a:ea typeface="Calibri"/>
                <a:cs typeface="Calibri"/>
                <a:sym typeface="Calibri"/>
              </a:rPr>
              <a:t>Apport des logs dans l’audit </a:t>
            </a:r>
            <a:endParaRPr b="1">
              <a:solidFill>
                <a:schemeClr val="dk1"/>
              </a:solidFill>
              <a:highlight>
                <a:schemeClr val="lt1"/>
              </a:highlight>
              <a:latin typeface="Calibri"/>
              <a:ea typeface="Calibri"/>
              <a:cs typeface="Calibri"/>
              <a:sym typeface="Calibri"/>
            </a:endParaRPr>
          </a:p>
          <a:p>
            <a:pPr indent="-298450" lvl="0" marL="457200" rtl="0" algn="l">
              <a:spcBef>
                <a:spcPts val="1200"/>
              </a:spcBef>
              <a:spcAft>
                <a:spcPts val="0"/>
              </a:spcAft>
              <a:buClr>
                <a:schemeClr val="lt1"/>
              </a:buClr>
              <a:buSzPts val="1100"/>
              <a:buFont typeface="Arial"/>
              <a:buChar char="●"/>
            </a:pPr>
            <a:r>
              <a:rPr lang="fr" sz="1100">
                <a:latin typeface="Calibri"/>
                <a:ea typeface="Calibri"/>
                <a:cs typeface="Calibri"/>
                <a:sym typeface="Calibri"/>
              </a:rPr>
              <a:t>Ils ont permis de tracer les opérations et de mettre en évidence les anomalies.</a:t>
            </a:r>
            <a:endParaRPr sz="1100">
              <a:latin typeface="Calibri"/>
              <a:ea typeface="Calibri"/>
              <a:cs typeface="Calibri"/>
              <a:sym typeface="Calibri"/>
            </a:endParaRPr>
          </a:p>
          <a:p>
            <a:pPr indent="-298450" lvl="0" marL="457200" rtl="0" algn="l">
              <a:spcBef>
                <a:spcPts val="0"/>
              </a:spcBef>
              <a:spcAft>
                <a:spcPts val="0"/>
              </a:spcAft>
              <a:buClr>
                <a:schemeClr val="lt1"/>
              </a:buClr>
              <a:buSzPts val="1100"/>
              <a:buFont typeface="Arial"/>
              <a:buChar char="●"/>
            </a:pPr>
            <a:r>
              <a:rPr lang="fr" sz="1100">
                <a:latin typeface="Calibri"/>
                <a:ea typeface="Calibri"/>
                <a:cs typeface="Calibri"/>
                <a:sym typeface="Calibri"/>
              </a:rPr>
              <a:t>Ils ont servi de preuve factuelle pour confirmer que les écarts ne venaient pas des calculs mais bien du processus d’intégration.</a:t>
            </a:r>
            <a:endParaRPr sz="1100">
              <a:latin typeface="Calibri"/>
              <a:ea typeface="Calibri"/>
              <a:cs typeface="Calibri"/>
              <a:sym typeface="Calibri"/>
            </a:endParaRPr>
          </a:p>
          <a:p>
            <a:pPr indent="-298450" lvl="0" marL="457200" rtl="0" algn="l">
              <a:spcBef>
                <a:spcPts val="0"/>
              </a:spcBef>
              <a:spcAft>
                <a:spcPts val="0"/>
              </a:spcAft>
              <a:buClr>
                <a:schemeClr val="lt1"/>
              </a:buClr>
              <a:buSzPts val="1100"/>
              <a:buFont typeface="Arial"/>
              <a:buChar char="●"/>
            </a:pPr>
            <a:r>
              <a:rPr lang="fr" sz="1100">
                <a:latin typeface="Calibri"/>
                <a:ea typeface="Calibri"/>
                <a:cs typeface="Calibri"/>
                <a:sym typeface="Calibri"/>
              </a:rPr>
              <a:t>Ils ont aidé à identifier les causes profondes liées au fonctionnement du scheduler et au schéma relationnel incomplet.</a:t>
            </a:r>
            <a:endParaRPr sz="1100">
              <a:latin typeface="Calibri"/>
              <a:ea typeface="Calibri"/>
              <a:cs typeface="Calibri"/>
              <a:sym typeface="Calibri"/>
            </a:endParaRPr>
          </a:p>
          <a:p>
            <a:pPr indent="0" lvl="0" marL="0" rtl="0" algn="l">
              <a:lnSpc>
                <a:spcPct val="115000"/>
              </a:lnSpc>
              <a:spcBef>
                <a:spcPts val="1200"/>
              </a:spcBef>
              <a:spcAft>
                <a:spcPts val="1200"/>
              </a:spcAft>
              <a:buSzPts val="1300"/>
              <a:buNone/>
            </a:pPr>
            <a:r>
              <a:t/>
            </a:r>
            <a:endParaRPr/>
          </a:p>
        </p:txBody>
      </p:sp>
      <p:sp>
        <p:nvSpPr>
          <p:cNvPr id="285" name="Google Shape;285;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fr"/>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41"/>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lang="fr"/>
              <a:t>Résultat des requêtes SQL</a:t>
            </a:r>
            <a:endParaRPr/>
          </a:p>
          <a:p>
            <a:pPr indent="0" lvl="0" marL="0" rtl="0" algn="l">
              <a:lnSpc>
                <a:spcPct val="100000"/>
              </a:lnSpc>
              <a:spcBef>
                <a:spcPts val="0"/>
              </a:spcBef>
              <a:spcAft>
                <a:spcPts val="0"/>
              </a:spcAft>
              <a:buSzPts val="2400"/>
              <a:buNone/>
            </a:pPr>
            <a:r>
              <a:rPr lang="fr" sz="1887"/>
              <a:t>Le chiffre d’affaires total pour le 14 Août (avec logs)</a:t>
            </a:r>
            <a:endParaRPr sz="1887"/>
          </a:p>
        </p:txBody>
      </p:sp>
      <p:pic>
        <p:nvPicPr>
          <p:cNvPr id="291" name="Google Shape;291;p41"/>
          <p:cNvPicPr preferRelativeResize="0"/>
          <p:nvPr/>
        </p:nvPicPr>
        <p:blipFill>
          <a:blip r:embed="rId3">
            <a:alphaModFix/>
          </a:blip>
          <a:stretch>
            <a:fillRect/>
          </a:stretch>
        </p:blipFill>
        <p:spPr>
          <a:xfrm>
            <a:off x="1160250" y="1397325"/>
            <a:ext cx="3411754" cy="3530850"/>
          </a:xfrm>
          <a:prstGeom prst="rect">
            <a:avLst/>
          </a:prstGeom>
          <a:noFill/>
          <a:ln>
            <a:noFill/>
          </a:ln>
        </p:spPr>
      </p:pic>
      <p:pic>
        <p:nvPicPr>
          <p:cNvPr id="292" name="Google Shape;292;p41"/>
          <p:cNvPicPr preferRelativeResize="0"/>
          <p:nvPr/>
        </p:nvPicPr>
        <p:blipFill>
          <a:blip r:embed="rId4">
            <a:alphaModFix/>
          </a:blip>
          <a:stretch>
            <a:fillRect/>
          </a:stretch>
        </p:blipFill>
        <p:spPr>
          <a:xfrm>
            <a:off x="4572004" y="1727650"/>
            <a:ext cx="3857625" cy="1752600"/>
          </a:xfrm>
          <a:prstGeom prst="rect">
            <a:avLst/>
          </a:prstGeom>
          <a:noFill/>
          <a:ln>
            <a:noFill/>
          </a:ln>
        </p:spPr>
      </p:pic>
      <p:sp>
        <p:nvSpPr>
          <p:cNvPr id="293" name="Google Shape;293;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fr"/>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2"/>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00"/>
              <a:buNone/>
            </a:pPr>
            <a:r>
              <a:rPr lang="fr"/>
              <a:t>Recommandations pour l’entreprise</a:t>
            </a:r>
            <a:endParaRPr sz="1850"/>
          </a:p>
        </p:txBody>
      </p:sp>
      <p:sp>
        <p:nvSpPr>
          <p:cNvPr id="299" name="Google Shape;299;p42"/>
          <p:cNvSpPr txBox="1"/>
          <p:nvPr>
            <p:ph idx="1" type="body"/>
          </p:nvPr>
        </p:nvSpPr>
        <p:spPr>
          <a:xfrm>
            <a:off x="1297500" y="1567550"/>
            <a:ext cx="7038900" cy="29112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1200"/>
              </a:spcBef>
              <a:spcAft>
                <a:spcPts val="0"/>
              </a:spcAft>
              <a:buNone/>
            </a:pPr>
            <a:r>
              <a:rPr b="1" lang="fr">
                <a:solidFill>
                  <a:schemeClr val="dk1"/>
                </a:solidFill>
                <a:highlight>
                  <a:schemeClr val="lt1"/>
                </a:highlight>
                <a:latin typeface="Calibri"/>
                <a:ea typeface="Calibri"/>
                <a:cs typeface="Calibri"/>
                <a:sym typeface="Calibri"/>
              </a:rPr>
              <a:t>Actions à mettre en place</a:t>
            </a:r>
            <a:endParaRPr>
              <a:latin typeface="Calibri"/>
              <a:ea typeface="Calibri"/>
              <a:cs typeface="Calibri"/>
              <a:sym typeface="Calibri"/>
            </a:endParaRPr>
          </a:p>
          <a:p>
            <a:pPr indent="-298450" lvl="0" marL="457200" rtl="0" algn="l">
              <a:spcBef>
                <a:spcPts val="1200"/>
              </a:spcBef>
              <a:spcAft>
                <a:spcPts val="0"/>
              </a:spcAft>
              <a:buClr>
                <a:schemeClr val="lt1"/>
              </a:buClr>
              <a:buSzPts val="1100"/>
              <a:buFont typeface="Arial"/>
              <a:buChar char="●"/>
            </a:pPr>
            <a:r>
              <a:rPr b="1" lang="fr" sz="1100">
                <a:latin typeface="Calibri"/>
                <a:ea typeface="Calibri"/>
                <a:cs typeface="Calibri"/>
                <a:sym typeface="Calibri"/>
              </a:rPr>
              <a:t>Ajouter une colonne clé au format DATE dans la table calendrier :</a:t>
            </a:r>
            <a:r>
              <a:rPr lang="fr" sz="1100">
                <a:latin typeface="Calibri"/>
                <a:ea typeface="Calibri"/>
                <a:cs typeface="Calibri"/>
                <a:sym typeface="Calibri"/>
              </a:rPr>
              <a:t> créer une colonne date_complete afin de disposer d’une référence temporelle fiable et exploitable pour les analyses temporelles.</a:t>
            </a:r>
            <a:endParaRPr sz="1100">
              <a:latin typeface="Calibri"/>
              <a:ea typeface="Calibri"/>
              <a:cs typeface="Calibri"/>
              <a:sym typeface="Calibri"/>
            </a:endParaRPr>
          </a:p>
          <a:p>
            <a:pPr indent="-298450" lvl="0" marL="457200" rtl="0" algn="l">
              <a:spcBef>
                <a:spcPts val="0"/>
              </a:spcBef>
              <a:spcAft>
                <a:spcPts val="0"/>
              </a:spcAft>
              <a:buClr>
                <a:schemeClr val="lt1"/>
              </a:buClr>
              <a:buSzPts val="1100"/>
              <a:buFont typeface="Arial"/>
              <a:buChar char="●"/>
            </a:pPr>
            <a:r>
              <a:rPr b="1" lang="fr" sz="1100">
                <a:latin typeface="Calibri"/>
                <a:ea typeface="Calibri"/>
                <a:cs typeface="Calibri"/>
                <a:sym typeface="Calibri"/>
              </a:rPr>
              <a:t>Mettre en place des contrôles d’intégrité</a:t>
            </a:r>
            <a:r>
              <a:rPr lang="fr" sz="1100">
                <a:latin typeface="Calibri"/>
                <a:ea typeface="Calibri"/>
                <a:cs typeface="Calibri"/>
                <a:sym typeface="Calibri"/>
              </a:rPr>
              <a:t> : requêtes de validation des clés primaires/étrangères.</a:t>
            </a:r>
            <a:endParaRPr sz="1100">
              <a:latin typeface="Calibri"/>
              <a:ea typeface="Calibri"/>
              <a:cs typeface="Calibri"/>
              <a:sym typeface="Calibri"/>
            </a:endParaRPr>
          </a:p>
          <a:p>
            <a:pPr indent="-298450" lvl="0" marL="457200" rtl="0" algn="l">
              <a:spcBef>
                <a:spcPts val="0"/>
              </a:spcBef>
              <a:spcAft>
                <a:spcPts val="0"/>
              </a:spcAft>
              <a:buClr>
                <a:schemeClr val="lt1"/>
              </a:buClr>
              <a:buSzPts val="1100"/>
              <a:buFont typeface="Arial"/>
              <a:buChar char="●"/>
            </a:pPr>
            <a:r>
              <a:rPr b="1" lang="fr" sz="1100">
                <a:latin typeface="Calibri"/>
                <a:ea typeface="Calibri"/>
                <a:cs typeface="Calibri"/>
                <a:sym typeface="Calibri"/>
              </a:rPr>
              <a:t>Vérifier le paramétrage du scheduler :</a:t>
            </a:r>
            <a:r>
              <a:rPr lang="fr" sz="1100">
                <a:latin typeface="Calibri"/>
                <a:ea typeface="Calibri"/>
                <a:cs typeface="Calibri"/>
                <a:sym typeface="Calibri"/>
              </a:rPr>
              <a:t> afin de s’assurer qu’il n’exécute pas les traitements avant que toutes les ventes de la journée soient enregistrées. Si nécessaire, ajuster son horaire pour éviter que des transactions apparaissent le lendemain et modifient le chiffre d’affaires d’un jour déjà clôturé.</a:t>
            </a:r>
            <a:endParaRPr sz="1100">
              <a:latin typeface="Calibri"/>
              <a:ea typeface="Calibri"/>
              <a:cs typeface="Calibri"/>
              <a:sym typeface="Calibri"/>
            </a:endParaRPr>
          </a:p>
          <a:p>
            <a:pPr indent="-298450" lvl="0" marL="457200" rtl="0" algn="l">
              <a:spcBef>
                <a:spcPts val="0"/>
              </a:spcBef>
              <a:spcAft>
                <a:spcPts val="0"/>
              </a:spcAft>
              <a:buClr>
                <a:schemeClr val="lt1"/>
              </a:buClr>
              <a:buSzPts val="1100"/>
              <a:buFont typeface="Arial"/>
              <a:buChar char="●"/>
            </a:pPr>
            <a:r>
              <a:rPr b="1" lang="fr" sz="1100">
                <a:latin typeface="Calibri"/>
                <a:ea typeface="Calibri"/>
                <a:cs typeface="Calibri"/>
                <a:sym typeface="Calibri"/>
              </a:rPr>
              <a:t>Intégrer la table de logs dans le MDD</a:t>
            </a:r>
            <a:r>
              <a:rPr lang="fr" sz="1100">
                <a:latin typeface="Calibri"/>
                <a:ea typeface="Calibri"/>
                <a:cs typeface="Calibri"/>
                <a:sym typeface="Calibri"/>
              </a:rPr>
              <a:t> : la table Logs  devient une composante officielle du modèle décisionnel. Reliée aux différentes tables, elle facilite le débogage, améliore la traçabilité des opérations et renforce la gouvernance des données.</a:t>
            </a:r>
            <a:endParaRPr>
              <a:latin typeface="Calibri"/>
              <a:ea typeface="Calibri"/>
              <a:cs typeface="Calibri"/>
              <a:sym typeface="Calibri"/>
            </a:endParaRPr>
          </a:p>
          <a:p>
            <a:pPr indent="0" lvl="0" marL="457200" rtl="0" algn="l">
              <a:spcBef>
                <a:spcPts val="1200"/>
              </a:spcBef>
              <a:spcAft>
                <a:spcPts val="0"/>
              </a:spcAft>
              <a:buNone/>
            </a:pPr>
            <a:r>
              <a:t/>
            </a:r>
            <a:endParaRPr sz="1200">
              <a:solidFill>
                <a:schemeClr val="dk1"/>
              </a:solidFill>
              <a:highlight>
                <a:schemeClr val="lt1"/>
              </a:highlight>
              <a:latin typeface="Calibri"/>
              <a:ea typeface="Calibri"/>
              <a:cs typeface="Calibri"/>
              <a:sym typeface="Calibri"/>
            </a:endParaRPr>
          </a:p>
          <a:p>
            <a:pPr indent="0" lvl="0" marL="0" rtl="0" algn="l">
              <a:lnSpc>
                <a:spcPct val="115000"/>
              </a:lnSpc>
              <a:spcBef>
                <a:spcPts val="1200"/>
              </a:spcBef>
              <a:spcAft>
                <a:spcPts val="1200"/>
              </a:spcAft>
              <a:buSzPts val="1300"/>
              <a:buNone/>
            </a:pPr>
            <a:r>
              <a:t/>
            </a:r>
            <a:endParaRPr/>
          </a:p>
        </p:txBody>
      </p:sp>
      <p:sp>
        <p:nvSpPr>
          <p:cNvPr id="300" name="Google Shape;300;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fr"/>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43"/>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00"/>
              <a:buNone/>
            </a:pPr>
            <a:r>
              <a:rPr lang="fr"/>
              <a:t>Recommandations pour l’entreprise</a:t>
            </a:r>
            <a:br>
              <a:rPr lang="fr"/>
            </a:br>
            <a:r>
              <a:rPr lang="fr" sz="1850"/>
              <a:t>Avantages et inconvénients de la solution</a:t>
            </a:r>
            <a:endParaRPr sz="1850"/>
          </a:p>
        </p:txBody>
      </p:sp>
      <p:sp>
        <p:nvSpPr>
          <p:cNvPr id="306" name="Google Shape;306;p43"/>
          <p:cNvSpPr txBox="1"/>
          <p:nvPr>
            <p:ph idx="1" type="body"/>
          </p:nvPr>
        </p:nvSpPr>
        <p:spPr>
          <a:xfrm>
            <a:off x="1234550" y="1533650"/>
            <a:ext cx="7038900" cy="29112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15000"/>
              </a:lnSpc>
              <a:spcBef>
                <a:spcPts val="0"/>
              </a:spcBef>
              <a:spcAft>
                <a:spcPts val="0"/>
              </a:spcAft>
              <a:buSzPts val="1300"/>
              <a:buNone/>
            </a:pPr>
            <a:r>
              <a:rPr b="1" lang="fr">
                <a:solidFill>
                  <a:schemeClr val="dk1"/>
                </a:solidFill>
                <a:highlight>
                  <a:schemeClr val="lt1"/>
                </a:highlight>
                <a:latin typeface="Calibri"/>
                <a:ea typeface="Calibri"/>
                <a:cs typeface="Calibri"/>
                <a:sym typeface="Calibri"/>
              </a:rPr>
              <a:t>Avantages</a:t>
            </a:r>
            <a:endParaRPr b="1">
              <a:solidFill>
                <a:schemeClr val="dk1"/>
              </a:solidFill>
              <a:highlight>
                <a:schemeClr val="lt1"/>
              </a:highlight>
              <a:latin typeface="Calibri"/>
              <a:ea typeface="Calibri"/>
              <a:cs typeface="Calibri"/>
              <a:sym typeface="Calibri"/>
            </a:endParaRPr>
          </a:p>
          <a:p>
            <a:pPr indent="-298450" lvl="0" marL="457200" rtl="0" algn="l">
              <a:spcBef>
                <a:spcPts val="1200"/>
              </a:spcBef>
              <a:spcAft>
                <a:spcPts val="0"/>
              </a:spcAft>
              <a:buSzPts val="1100"/>
              <a:buFont typeface="Calibri"/>
              <a:buChar char="●"/>
            </a:pPr>
            <a:r>
              <a:rPr b="1" lang="fr" sz="1100">
                <a:latin typeface="Calibri"/>
                <a:ea typeface="Calibri"/>
                <a:cs typeface="Calibri"/>
                <a:sym typeface="Calibri"/>
              </a:rPr>
              <a:t>Fiabilité accrue</a:t>
            </a:r>
            <a:r>
              <a:rPr lang="fr" sz="1100">
                <a:latin typeface="Calibri"/>
                <a:ea typeface="Calibri"/>
                <a:cs typeface="Calibri"/>
                <a:sym typeface="Calibri"/>
              </a:rPr>
              <a:t> des calculs de chiffre d’affaires notamment.</a:t>
            </a:r>
            <a:endParaRPr sz="1100">
              <a:latin typeface="Calibri"/>
              <a:ea typeface="Calibri"/>
              <a:cs typeface="Calibri"/>
              <a:sym typeface="Calibri"/>
            </a:endParaRPr>
          </a:p>
          <a:p>
            <a:pPr indent="-298450" lvl="0" marL="457200" rtl="0" algn="l">
              <a:spcBef>
                <a:spcPts val="0"/>
              </a:spcBef>
              <a:spcAft>
                <a:spcPts val="0"/>
              </a:spcAft>
              <a:buSzPts val="1100"/>
              <a:buFont typeface="Calibri"/>
              <a:buChar char="●"/>
            </a:pPr>
            <a:r>
              <a:rPr b="1" lang="fr" sz="1100">
                <a:latin typeface="Calibri"/>
                <a:ea typeface="Calibri"/>
                <a:cs typeface="Calibri"/>
                <a:sym typeface="Calibri"/>
              </a:rPr>
              <a:t>Traçabilité renforcée</a:t>
            </a:r>
            <a:r>
              <a:rPr lang="fr" sz="1100">
                <a:latin typeface="Calibri"/>
                <a:ea typeface="Calibri"/>
                <a:cs typeface="Calibri"/>
                <a:sym typeface="Calibri"/>
              </a:rPr>
              <a:t> grâce à l’intégration des logs dans le MDD.</a:t>
            </a:r>
            <a:endParaRPr sz="1100">
              <a:latin typeface="Calibri"/>
              <a:ea typeface="Calibri"/>
              <a:cs typeface="Calibri"/>
              <a:sym typeface="Calibri"/>
            </a:endParaRPr>
          </a:p>
          <a:p>
            <a:pPr indent="-298450" lvl="0" marL="457200" rtl="0" algn="l">
              <a:spcBef>
                <a:spcPts val="0"/>
              </a:spcBef>
              <a:spcAft>
                <a:spcPts val="0"/>
              </a:spcAft>
              <a:buSzPts val="1100"/>
              <a:buFont typeface="Calibri"/>
              <a:buChar char="●"/>
            </a:pPr>
            <a:r>
              <a:rPr b="1" lang="fr" sz="1100">
                <a:latin typeface="Calibri"/>
                <a:ea typeface="Calibri"/>
                <a:cs typeface="Calibri"/>
                <a:sym typeface="Calibri"/>
              </a:rPr>
              <a:t>Meilleure gouvernance des données</a:t>
            </a:r>
            <a:r>
              <a:rPr lang="fr" sz="1100">
                <a:latin typeface="Calibri"/>
                <a:ea typeface="Calibri"/>
                <a:cs typeface="Calibri"/>
                <a:sym typeface="Calibri"/>
              </a:rPr>
              <a:t> (contrôles d’intégrité, typage correct).</a:t>
            </a:r>
            <a:endParaRPr sz="1100">
              <a:latin typeface="Calibri"/>
              <a:ea typeface="Calibri"/>
              <a:cs typeface="Calibri"/>
              <a:sym typeface="Calibri"/>
            </a:endParaRPr>
          </a:p>
          <a:p>
            <a:pPr indent="-298450" lvl="0" marL="457200" rtl="0" algn="l">
              <a:spcBef>
                <a:spcPts val="0"/>
              </a:spcBef>
              <a:spcAft>
                <a:spcPts val="0"/>
              </a:spcAft>
              <a:buSzPts val="1100"/>
              <a:buFont typeface="Calibri"/>
              <a:buChar char="●"/>
            </a:pPr>
            <a:r>
              <a:rPr b="1" lang="fr" sz="1100">
                <a:latin typeface="Calibri"/>
                <a:ea typeface="Calibri"/>
                <a:cs typeface="Calibri"/>
                <a:sym typeface="Calibri"/>
              </a:rPr>
              <a:t>Vision claire</a:t>
            </a:r>
            <a:r>
              <a:rPr lang="fr" sz="1100">
                <a:latin typeface="Calibri"/>
                <a:ea typeface="Calibri"/>
                <a:cs typeface="Calibri"/>
                <a:sym typeface="Calibri"/>
              </a:rPr>
              <a:t> entre dates métier et dates techniques.</a:t>
            </a:r>
            <a:endParaRPr sz="1100">
              <a:latin typeface="Calibri"/>
              <a:ea typeface="Calibri"/>
              <a:cs typeface="Calibri"/>
              <a:sym typeface="Calibri"/>
            </a:endParaRPr>
          </a:p>
          <a:p>
            <a:pPr indent="-298450" lvl="0" marL="457200" rtl="0" algn="l">
              <a:spcBef>
                <a:spcPts val="0"/>
              </a:spcBef>
              <a:spcAft>
                <a:spcPts val="0"/>
              </a:spcAft>
              <a:buSzPts val="1100"/>
              <a:buFont typeface="Calibri"/>
              <a:buChar char="●"/>
            </a:pPr>
            <a:r>
              <a:rPr b="1" lang="fr" sz="1100">
                <a:latin typeface="Calibri"/>
                <a:ea typeface="Calibri"/>
                <a:cs typeface="Calibri"/>
                <a:sym typeface="Calibri"/>
              </a:rPr>
              <a:t>Prototype évolutif</a:t>
            </a:r>
            <a:r>
              <a:rPr lang="fr" sz="1100">
                <a:latin typeface="Calibri"/>
                <a:ea typeface="Calibri"/>
                <a:cs typeface="Calibri"/>
                <a:sym typeface="Calibri"/>
              </a:rPr>
              <a:t> pouvant servir de base à une refonte progressive.</a:t>
            </a:r>
            <a:endParaRPr sz="1100">
              <a:latin typeface="Calibri"/>
              <a:ea typeface="Calibri"/>
              <a:cs typeface="Calibri"/>
              <a:sym typeface="Calibri"/>
            </a:endParaRPr>
          </a:p>
          <a:p>
            <a:pPr indent="0" lvl="0" marL="0" rtl="0" algn="l">
              <a:lnSpc>
                <a:spcPct val="115000"/>
              </a:lnSpc>
              <a:spcBef>
                <a:spcPts val="1200"/>
              </a:spcBef>
              <a:spcAft>
                <a:spcPts val="0"/>
              </a:spcAft>
              <a:buSzPts val="1300"/>
              <a:buNone/>
            </a:pPr>
            <a:r>
              <a:rPr b="1" lang="fr">
                <a:solidFill>
                  <a:schemeClr val="dk1"/>
                </a:solidFill>
                <a:highlight>
                  <a:schemeClr val="lt1"/>
                </a:highlight>
                <a:latin typeface="Calibri"/>
                <a:ea typeface="Calibri"/>
                <a:cs typeface="Calibri"/>
                <a:sym typeface="Calibri"/>
              </a:rPr>
              <a:t>Inconvénients</a:t>
            </a:r>
            <a:endParaRPr b="1">
              <a:solidFill>
                <a:schemeClr val="dk1"/>
              </a:solidFill>
              <a:highlight>
                <a:schemeClr val="lt1"/>
              </a:highlight>
              <a:latin typeface="Calibri"/>
              <a:ea typeface="Calibri"/>
              <a:cs typeface="Calibri"/>
              <a:sym typeface="Calibri"/>
            </a:endParaRPr>
          </a:p>
          <a:p>
            <a:pPr indent="-298450" lvl="0" marL="457200" rtl="0" algn="l">
              <a:spcBef>
                <a:spcPts val="1200"/>
              </a:spcBef>
              <a:spcAft>
                <a:spcPts val="0"/>
              </a:spcAft>
              <a:buSzPts val="1100"/>
              <a:buFont typeface="Calibri"/>
              <a:buChar char="●"/>
            </a:pPr>
            <a:r>
              <a:rPr b="1" lang="fr" sz="1100">
                <a:latin typeface="Calibri"/>
                <a:ea typeface="Calibri"/>
                <a:cs typeface="Calibri"/>
                <a:sym typeface="Calibri"/>
              </a:rPr>
              <a:t>Effort de mise en œuvre</a:t>
            </a:r>
            <a:r>
              <a:rPr lang="fr" sz="1100">
                <a:latin typeface="Calibri"/>
                <a:ea typeface="Calibri"/>
                <a:cs typeface="Calibri"/>
                <a:sym typeface="Calibri"/>
              </a:rPr>
              <a:t> : nécessite des ajustements techniques et organisationnels.</a:t>
            </a:r>
            <a:endParaRPr sz="1100">
              <a:latin typeface="Calibri"/>
              <a:ea typeface="Calibri"/>
              <a:cs typeface="Calibri"/>
              <a:sym typeface="Calibri"/>
            </a:endParaRPr>
          </a:p>
          <a:p>
            <a:pPr indent="-298450" lvl="0" marL="457200" rtl="0" algn="l">
              <a:spcBef>
                <a:spcPts val="0"/>
              </a:spcBef>
              <a:spcAft>
                <a:spcPts val="0"/>
              </a:spcAft>
              <a:buSzPts val="1100"/>
              <a:buFont typeface="Calibri"/>
              <a:buChar char="●"/>
            </a:pPr>
            <a:r>
              <a:rPr b="1" lang="fr" sz="1100">
                <a:latin typeface="Calibri"/>
                <a:ea typeface="Calibri"/>
                <a:cs typeface="Calibri"/>
                <a:sym typeface="Calibri"/>
              </a:rPr>
              <a:t>Temps de vérification</a:t>
            </a:r>
            <a:r>
              <a:rPr lang="fr" sz="1100">
                <a:latin typeface="Calibri"/>
                <a:ea typeface="Calibri"/>
                <a:cs typeface="Calibri"/>
                <a:sym typeface="Calibri"/>
              </a:rPr>
              <a:t> du scheduler et des processus batch.</a:t>
            </a:r>
            <a:endParaRPr sz="1100">
              <a:latin typeface="Calibri"/>
              <a:ea typeface="Calibri"/>
              <a:cs typeface="Calibri"/>
              <a:sym typeface="Calibri"/>
            </a:endParaRPr>
          </a:p>
          <a:p>
            <a:pPr indent="-298450" lvl="0" marL="457200" rtl="0" algn="l">
              <a:spcBef>
                <a:spcPts val="0"/>
              </a:spcBef>
              <a:spcAft>
                <a:spcPts val="0"/>
              </a:spcAft>
              <a:buSzPts val="1100"/>
              <a:buFont typeface="Calibri"/>
              <a:buChar char="●"/>
            </a:pPr>
            <a:r>
              <a:rPr b="1" lang="fr" sz="1100">
                <a:latin typeface="Calibri"/>
                <a:ea typeface="Calibri"/>
                <a:cs typeface="Calibri"/>
                <a:sym typeface="Calibri"/>
              </a:rPr>
              <a:t>Complexité accrue</a:t>
            </a:r>
            <a:r>
              <a:rPr lang="fr" sz="1100">
                <a:latin typeface="Calibri"/>
                <a:ea typeface="Calibri"/>
                <a:cs typeface="Calibri"/>
                <a:sym typeface="Calibri"/>
              </a:rPr>
              <a:t> du modèle avec l’ajout de la table de logs.</a:t>
            </a:r>
            <a:endParaRPr sz="1100">
              <a:latin typeface="Calibri"/>
              <a:ea typeface="Calibri"/>
              <a:cs typeface="Calibri"/>
              <a:sym typeface="Calibri"/>
            </a:endParaRPr>
          </a:p>
          <a:p>
            <a:pPr indent="-298450" lvl="0" marL="457200" rtl="0" algn="l">
              <a:spcBef>
                <a:spcPts val="0"/>
              </a:spcBef>
              <a:spcAft>
                <a:spcPts val="0"/>
              </a:spcAft>
              <a:buSzPts val="1100"/>
              <a:buFont typeface="Calibri"/>
              <a:buChar char="●"/>
            </a:pPr>
            <a:r>
              <a:rPr b="1" lang="fr" sz="1100">
                <a:latin typeface="Calibri"/>
                <a:ea typeface="Calibri"/>
                <a:cs typeface="Calibri"/>
                <a:sym typeface="Calibri"/>
              </a:rPr>
              <a:t>Dépendance aux systèmes existants</a:t>
            </a:r>
            <a:r>
              <a:rPr lang="fr" sz="1100">
                <a:latin typeface="Calibri"/>
                <a:ea typeface="Calibri"/>
                <a:cs typeface="Calibri"/>
                <a:sym typeface="Calibri"/>
              </a:rPr>
              <a:t> : certaines contraintes techniques peuvent limiter l’application immédiate.</a:t>
            </a:r>
            <a:endParaRPr sz="1100">
              <a:latin typeface="Calibri"/>
              <a:ea typeface="Calibri"/>
              <a:cs typeface="Calibri"/>
              <a:sym typeface="Calibri"/>
            </a:endParaRPr>
          </a:p>
          <a:p>
            <a:pPr indent="0" lvl="0" marL="0" rtl="0" algn="l">
              <a:lnSpc>
                <a:spcPct val="115000"/>
              </a:lnSpc>
              <a:spcBef>
                <a:spcPts val="1200"/>
              </a:spcBef>
              <a:spcAft>
                <a:spcPts val="1200"/>
              </a:spcAft>
              <a:buSzPts val="1300"/>
              <a:buNone/>
            </a:pPr>
            <a:r>
              <a:t/>
            </a:r>
            <a:endParaRPr/>
          </a:p>
        </p:txBody>
      </p:sp>
      <p:sp>
        <p:nvSpPr>
          <p:cNvPr id="307" name="Google Shape;307;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fr"/>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44"/>
          <p:cNvSpPr txBox="1"/>
          <p:nvPr>
            <p:ph type="title"/>
          </p:nvPr>
        </p:nvSpPr>
        <p:spPr>
          <a:xfrm>
            <a:off x="280250" y="2150850"/>
            <a:ext cx="4627200" cy="841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800"/>
              <a:buNone/>
            </a:pPr>
            <a:r>
              <a:rPr b="1" lang="fr" sz="6000"/>
              <a:t>Conclusion</a:t>
            </a:r>
            <a:endParaRPr b="1" sz="6000"/>
          </a:p>
        </p:txBody>
      </p:sp>
      <p:sp>
        <p:nvSpPr>
          <p:cNvPr id="313" name="Google Shape;313;p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fr"/>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5"/>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00"/>
              <a:buNone/>
            </a:pPr>
            <a:r>
              <a:rPr lang="fr"/>
              <a:t>Conclusion et perspectives</a:t>
            </a:r>
            <a:endParaRPr sz="1850"/>
          </a:p>
        </p:txBody>
      </p:sp>
      <p:sp>
        <p:nvSpPr>
          <p:cNvPr id="319" name="Google Shape;319;p45"/>
          <p:cNvSpPr txBox="1"/>
          <p:nvPr>
            <p:ph idx="1" type="body"/>
          </p:nvPr>
        </p:nvSpPr>
        <p:spPr>
          <a:xfrm>
            <a:off x="1234550" y="1368504"/>
            <a:ext cx="7038900" cy="3594000"/>
          </a:xfrm>
          <a:prstGeom prst="rect">
            <a:avLst/>
          </a:prstGeom>
          <a:noFill/>
          <a:ln>
            <a:noFill/>
          </a:ln>
        </p:spPr>
        <p:txBody>
          <a:bodyPr anchorCtr="0" anchor="t" bIns="91425" lIns="91425" spcFirstLastPara="1" rIns="91425" wrap="square" tIns="91425">
            <a:normAutofit lnSpcReduction="20000"/>
          </a:bodyPr>
          <a:lstStyle/>
          <a:p>
            <a:pPr indent="0" lvl="0" marL="0" rtl="0" algn="l">
              <a:spcBef>
                <a:spcPts val="1200"/>
              </a:spcBef>
              <a:spcAft>
                <a:spcPts val="0"/>
              </a:spcAft>
              <a:buNone/>
            </a:pPr>
            <a:r>
              <a:rPr b="1" lang="fr">
                <a:solidFill>
                  <a:schemeClr val="dk1"/>
                </a:solidFill>
                <a:highlight>
                  <a:schemeClr val="lt1"/>
                </a:highlight>
                <a:latin typeface="Calibri"/>
                <a:ea typeface="Calibri"/>
                <a:cs typeface="Calibri"/>
                <a:sym typeface="Calibri"/>
              </a:rPr>
              <a:t>Conclusion</a:t>
            </a:r>
            <a:r>
              <a:rPr lang="fr">
                <a:solidFill>
                  <a:schemeClr val="dk1"/>
                </a:solidFill>
                <a:highlight>
                  <a:schemeClr val="lt1"/>
                </a:highlight>
                <a:latin typeface="Calibri"/>
                <a:ea typeface="Calibri"/>
                <a:cs typeface="Calibri"/>
                <a:sym typeface="Calibri"/>
              </a:rPr>
              <a:t> </a:t>
            </a:r>
            <a:endParaRPr>
              <a:solidFill>
                <a:schemeClr val="dk1"/>
              </a:solidFill>
              <a:highlight>
                <a:schemeClr val="lt1"/>
              </a:highlight>
              <a:latin typeface="Calibri"/>
              <a:ea typeface="Calibri"/>
              <a:cs typeface="Calibri"/>
              <a:sym typeface="Calibri"/>
            </a:endParaRPr>
          </a:p>
          <a:p>
            <a:pPr indent="0" lvl="0" marL="0" rtl="0" algn="l">
              <a:spcBef>
                <a:spcPts val="1200"/>
              </a:spcBef>
              <a:spcAft>
                <a:spcPts val="0"/>
              </a:spcAft>
              <a:buNone/>
            </a:pPr>
            <a:r>
              <a:rPr lang="fr" sz="1150">
                <a:latin typeface="Calibri"/>
                <a:ea typeface="Calibri"/>
                <a:cs typeface="Calibri"/>
                <a:sym typeface="Calibri"/>
              </a:rPr>
              <a:t>Le prototype de base de données a permis de mettre en évidence les causes des écarts de chiffre d’affaires : logs non normalisés, typage incorrect, absence de distinction entre dates métier et techniques, et décalage temporel lié aux traitements des nouvelles données. Les recommandations proposées , intégration des logs dans le MDD, correction du typage, ajout des colonnes de dates, contrôles d’intégrité et vérification du scheduler. Cela constituent des actions indispensables pour fiabiliser les analyses financières et renforcer la gouvernance des données.</a:t>
            </a:r>
            <a:endParaRPr sz="1150">
              <a:latin typeface="Calibri"/>
              <a:ea typeface="Calibri"/>
              <a:cs typeface="Calibri"/>
              <a:sym typeface="Calibri"/>
            </a:endParaRPr>
          </a:p>
          <a:p>
            <a:pPr indent="0" lvl="0" marL="0" rtl="0" algn="l">
              <a:spcBef>
                <a:spcPts val="1200"/>
              </a:spcBef>
              <a:spcAft>
                <a:spcPts val="0"/>
              </a:spcAft>
              <a:buNone/>
            </a:pPr>
            <a:r>
              <a:rPr b="1" lang="fr">
                <a:solidFill>
                  <a:schemeClr val="dk1"/>
                </a:solidFill>
                <a:highlight>
                  <a:schemeClr val="lt1"/>
                </a:highlight>
                <a:latin typeface="Calibri"/>
                <a:ea typeface="Calibri"/>
                <a:cs typeface="Calibri"/>
                <a:sym typeface="Calibri"/>
              </a:rPr>
              <a:t>Perspectives </a:t>
            </a:r>
            <a:endParaRPr b="1">
              <a:solidFill>
                <a:schemeClr val="dk1"/>
              </a:solidFill>
              <a:highlight>
                <a:schemeClr val="lt1"/>
              </a:highlight>
              <a:latin typeface="Calibri"/>
              <a:ea typeface="Calibri"/>
              <a:cs typeface="Calibri"/>
              <a:sym typeface="Calibri"/>
            </a:endParaRPr>
          </a:p>
          <a:p>
            <a:pPr indent="0" lvl="0" marL="0" rtl="0" algn="l">
              <a:spcBef>
                <a:spcPts val="1200"/>
              </a:spcBef>
              <a:spcAft>
                <a:spcPts val="0"/>
              </a:spcAft>
              <a:buNone/>
            </a:pPr>
            <a:r>
              <a:rPr lang="fr" sz="1150">
                <a:latin typeface="Calibri"/>
                <a:ea typeface="Calibri"/>
                <a:cs typeface="Calibri"/>
                <a:sym typeface="Calibri"/>
              </a:rPr>
              <a:t>Au‑delà de ces premières mesures correctives, l’entreprise pourra envisager :</a:t>
            </a:r>
            <a:endParaRPr sz="1150">
              <a:latin typeface="Calibri"/>
              <a:ea typeface="Calibri"/>
              <a:cs typeface="Calibri"/>
              <a:sym typeface="Calibri"/>
            </a:endParaRPr>
          </a:p>
          <a:p>
            <a:pPr indent="-301625" lvl="0" marL="457200" rtl="0" algn="l">
              <a:spcBef>
                <a:spcPts val="1200"/>
              </a:spcBef>
              <a:spcAft>
                <a:spcPts val="0"/>
              </a:spcAft>
              <a:buClr>
                <a:schemeClr val="lt1"/>
              </a:buClr>
              <a:buSzPts val="1150"/>
              <a:buFont typeface="Arial"/>
              <a:buChar char="●"/>
            </a:pPr>
            <a:r>
              <a:rPr lang="fr" sz="1150">
                <a:latin typeface="Calibri"/>
                <a:ea typeface="Calibri"/>
                <a:cs typeface="Calibri"/>
                <a:sym typeface="Calibri"/>
              </a:rPr>
              <a:t>Une </a:t>
            </a:r>
            <a:r>
              <a:rPr b="1" lang="fr" sz="1150">
                <a:latin typeface="Calibri"/>
                <a:ea typeface="Calibri"/>
                <a:cs typeface="Calibri"/>
                <a:sym typeface="Calibri"/>
              </a:rPr>
              <a:t>refonte progressive de l’architecture décisionnelle</a:t>
            </a:r>
            <a:r>
              <a:rPr lang="fr" sz="1150">
                <a:latin typeface="Calibri"/>
                <a:ea typeface="Calibri"/>
                <a:cs typeface="Calibri"/>
                <a:sym typeface="Calibri"/>
              </a:rPr>
              <a:t>, pour gagner en robustesse et en évolutivité.</a:t>
            </a:r>
            <a:endParaRPr sz="1150">
              <a:latin typeface="Calibri"/>
              <a:ea typeface="Calibri"/>
              <a:cs typeface="Calibri"/>
              <a:sym typeface="Calibri"/>
            </a:endParaRPr>
          </a:p>
          <a:p>
            <a:pPr indent="-301625" lvl="0" marL="457200" rtl="0" algn="l">
              <a:spcBef>
                <a:spcPts val="0"/>
              </a:spcBef>
              <a:spcAft>
                <a:spcPts val="0"/>
              </a:spcAft>
              <a:buClr>
                <a:schemeClr val="lt1"/>
              </a:buClr>
              <a:buSzPts val="1150"/>
              <a:buFont typeface="Arial"/>
              <a:buChar char="●"/>
            </a:pPr>
            <a:r>
              <a:rPr lang="fr" sz="1150">
                <a:latin typeface="Calibri"/>
                <a:ea typeface="Calibri"/>
                <a:cs typeface="Calibri"/>
                <a:sym typeface="Calibri"/>
              </a:rPr>
              <a:t>L’intégration de </a:t>
            </a:r>
            <a:r>
              <a:rPr b="1" lang="fr" sz="1150">
                <a:latin typeface="Calibri"/>
                <a:ea typeface="Calibri"/>
                <a:cs typeface="Calibri"/>
                <a:sym typeface="Calibri"/>
              </a:rPr>
              <a:t>solutions de monitoring et d’alertes automatiques</a:t>
            </a:r>
            <a:r>
              <a:rPr lang="fr" sz="1150">
                <a:latin typeface="Calibri"/>
                <a:ea typeface="Calibri"/>
                <a:cs typeface="Calibri"/>
                <a:sym typeface="Calibri"/>
              </a:rPr>
              <a:t>, afin de détecter rapidement les anomalies.</a:t>
            </a:r>
            <a:endParaRPr sz="1150">
              <a:latin typeface="Calibri"/>
              <a:ea typeface="Calibri"/>
              <a:cs typeface="Calibri"/>
              <a:sym typeface="Calibri"/>
            </a:endParaRPr>
          </a:p>
          <a:p>
            <a:pPr indent="-301625" lvl="0" marL="457200" rtl="0" algn="l">
              <a:spcBef>
                <a:spcPts val="0"/>
              </a:spcBef>
              <a:spcAft>
                <a:spcPts val="0"/>
              </a:spcAft>
              <a:buClr>
                <a:schemeClr val="lt1"/>
              </a:buClr>
              <a:buSzPts val="1150"/>
              <a:buFont typeface="Arial"/>
              <a:buChar char="●"/>
            </a:pPr>
            <a:r>
              <a:rPr lang="fr" sz="1150">
                <a:highlight>
                  <a:schemeClr val="dk1"/>
                </a:highlight>
                <a:latin typeface="Calibri"/>
                <a:ea typeface="Calibri"/>
                <a:cs typeface="Calibri"/>
                <a:sym typeface="Calibri"/>
              </a:rPr>
              <a:t>Une </a:t>
            </a:r>
            <a:r>
              <a:rPr b="1" lang="fr" sz="1150">
                <a:highlight>
                  <a:schemeClr val="dk1"/>
                </a:highlight>
                <a:latin typeface="Calibri"/>
                <a:ea typeface="Calibri"/>
                <a:cs typeface="Calibri"/>
                <a:sym typeface="Calibri"/>
              </a:rPr>
              <a:t>stratégie d’évolution graduelle du modèle décisionnel</a:t>
            </a:r>
            <a:r>
              <a:rPr lang="fr" sz="1150">
                <a:highlight>
                  <a:schemeClr val="dk1"/>
                </a:highlight>
                <a:latin typeface="Calibri"/>
                <a:ea typeface="Calibri"/>
                <a:cs typeface="Calibri"/>
                <a:sym typeface="Calibri"/>
              </a:rPr>
              <a:t>, en fonction des priorités et des ressources disponibles.</a:t>
            </a:r>
            <a:endParaRPr sz="1150">
              <a:highlight>
                <a:schemeClr val="dk1"/>
              </a:highlight>
              <a:latin typeface="Calibri"/>
              <a:ea typeface="Calibri"/>
              <a:cs typeface="Calibri"/>
              <a:sym typeface="Calibri"/>
            </a:endParaRPr>
          </a:p>
          <a:p>
            <a:pPr indent="0" lvl="0" marL="0" rtl="0" algn="l">
              <a:lnSpc>
                <a:spcPct val="115000"/>
              </a:lnSpc>
              <a:spcBef>
                <a:spcPts val="1200"/>
              </a:spcBef>
              <a:spcAft>
                <a:spcPts val="1200"/>
              </a:spcAft>
              <a:buSzPts val="1300"/>
              <a:buNone/>
            </a:pPr>
            <a:r>
              <a:t/>
            </a:r>
            <a:endParaRPr/>
          </a:p>
        </p:txBody>
      </p:sp>
      <p:sp>
        <p:nvSpPr>
          <p:cNvPr id="320" name="Google Shape;320;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fr"/>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